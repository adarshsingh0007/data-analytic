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6858000" cx="12192000"/>
  <p:notesSz cx="6858000" cy="9144000"/>
  <p:embeddedFontLst>
    <p:embeddedFont>
      <p:font typeface="Play"/>
      <p:regular r:id="rId65"/>
      <p:bold r:id="rId66"/>
    </p:embeddedFont>
    <p:embeddedFont>
      <p:font typeface="Poppins Medium"/>
      <p:regular r:id="rId67"/>
      <p:bold r:id="rId68"/>
      <p:italic r:id="rId69"/>
      <p:boldItalic r:id="rId70"/>
    </p:embeddedFont>
    <p:embeddedFont>
      <p:font typeface="Poppins SemiBold"/>
      <p:regular r:id="rId71"/>
      <p:bold r:id="rId72"/>
      <p:italic r:id="rId73"/>
      <p:boldItalic r:id="rId74"/>
    </p:embeddedFont>
    <p:embeddedFont>
      <p:font typeface="Poppins ExtraBold"/>
      <p:bold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68">
          <p15:clr>
            <a:srgbClr val="A4A3A4"/>
          </p15:clr>
        </p15:guide>
        <p15:guide id="2" pos="7008">
          <p15:clr>
            <a:srgbClr val="A4A3A4"/>
          </p15:clr>
        </p15:guide>
        <p15:guide id="3" orient="horz" pos="4296">
          <p15:clr>
            <a:srgbClr val="A4A3A4"/>
          </p15:clr>
        </p15:guide>
        <p15:guide id="4" orient="horz" pos="960">
          <p15:clr>
            <a:srgbClr val="A4A3A4"/>
          </p15:clr>
        </p15:guide>
        <p15:guide id="5" orient="horz" pos="3720">
          <p15:clr>
            <a:srgbClr val="A4A3A4"/>
          </p15:clr>
        </p15:guide>
        <p15:guide id="6" pos="4296">
          <p15:clr>
            <a:srgbClr val="A4A3A4"/>
          </p15:clr>
        </p15:guide>
        <p15:guide id="7" pos="672">
          <p15:clr>
            <a:srgbClr val="A4A3A4"/>
          </p15:clr>
        </p15:guide>
        <p15:guide id="8" pos="4080">
          <p15:clr>
            <a:srgbClr val="A4A3A4"/>
          </p15:clr>
        </p15:guide>
        <p15:guide id="9" orient="horz" pos="3912">
          <p15:clr>
            <a:srgbClr val="A4A3A4"/>
          </p15:clr>
        </p15:guide>
        <p15:guide id="10" orient="horz" pos="408">
          <p15:clr>
            <a:srgbClr val="A4A3A4"/>
          </p15:clr>
        </p15:guide>
      </p15:sldGuideLst>
    </p:ext>
    <p:ext uri="GoogleSlidesCustomDataVersion2">
      <go:slidesCustomData xmlns:go="http://customooxmlschemas.google.com/" r:id="rId77" roundtripDataSignature="AMtx7mgM63IM6/VxfdeW7xrMystFvcgo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09E166-228F-4204-9806-82BCB6DFEF5D}">
  <a:tblStyle styleId="{5209E166-228F-4204-9806-82BCB6DFEF5D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68" orient="horz"/>
        <p:guide pos="7008"/>
        <p:guide pos="4296" orient="horz"/>
        <p:guide pos="960" orient="horz"/>
        <p:guide pos="3720" orient="horz"/>
        <p:guide pos="4296"/>
        <p:guide pos="672"/>
        <p:guide pos="4080"/>
        <p:guide pos="3912" orient="horz"/>
        <p:guide pos="40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PoppinsSemiBold-italic.fntdata"/><Relationship Id="rId72" Type="http://schemas.openxmlformats.org/officeDocument/2006/relationships/font" Target="fonts/PoppinsSemiBold-bold.fntdata"/><Relationship Id="rId31" Type="http://schemas.openxmlformats.org/officeDocument/2006/relationships/slide" Target="slides/slide25.xml"/><Relationship Id="rId75" Type="http://schemas.openxmlformats.org/officeDocument/2006/relationships/font" Target="fonts/PoppinsExtraBold-bold.fntdata"/><Relationship Id="rId30" Type="http://schemas.openxmlformats.org/officeDocument/2006/relationships/slide" Target="slides/slide24.xml"/><Relationship Id="rId74" Type="http://schemas.openxmlformats.org/officeDocument/2006/relationships/font" Target="fonts/PoppinsSemiBold-boldItalic.fntdata"/><Relationship Id="rId33" Type="http://schemas.openxmlformats.org/officeDocument/2006/relationships/slide" Target="slides/slide27.xml"/><Relationship Id="rId77" Type="http://customschemas.google.com/relationships/presentationmetadata" Target="metadata"/><Relationship Id="rId32" Type="http://schemas.openxmlformats.org/officeDocument/2006/relationships/slide" Target="slides/slide26.xml"/><Relationship Id="rId76" Type="http://schemas.openxmlformats.org/officeDocument/2006/relationships/font" Target="fonts/PoppinsExtraBold-bold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PoppinsSemiBold-regular.fntdata"/><Relationship Id="rId70" Type="http://schemas.openxmlformats.org/officeDocument/2006/relationships/font" Target="fonts/PoppinsMedium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Play-bold.fntdata"/><Relationship Id="rId21" Type="http://schemas.openxmlformats.org/officeDocument/2006/relationships/slide" Target="slides/slide15.xml"/><Relationship Id="rId65" Type="http://schemas.openxmlformats.org/officeDocument/2006/relationships/font" Target="fonts/Play-regular.fntdata"/><Relationship Id="rId24" Type="http://schemas.openxmlformats.org/officeDocument/2006/relationships/slide" Target="slides/slide18.xml"/><Relationship Id="rId68" Type="http://schemas.openxmlformats.org/officeDocument/2006/relationships/font" Target="fonts/PoppinsMedium-bold.fntdata"/><Relationship Id="rId23" Type="http://schemas.openxmlformats.org/officeDocument/2006/relationships/slide" Target="slides/slide17.xml"/><Relationship Id="rId67" Type="http://schemas.openxmlformats.org/officeDocument/2006/relationships/font" Target="fonts/PoppinsMedium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PoppinsMedium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orange and green circles&#10;&#10;Description automatically generated" id="20" name="Google Shape;2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38617" y="101600"/>
            <a:ext cx="1066440" cy="31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4588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6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3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85" name="Google Shape;85;p7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74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7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"/>
          <p:cNvPicPr preferRelativeResize="0"/>
          <p:nvPr/>
        </p:nvPicPr>
        <p:blipFill rotWithShape="1">
          <a:blip r:embed="rId4">
            <a:alphaModFix amt="88000"/>
          </a:blip>
          <a:srcRect b="19267" l="9184" r="9184" t="1926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2728829" y="4715518"/>
            <a:ext cx="1222222" cy="1222222"/>
          </a:xfrm>
          <a:prstGeom prst="ellipse">
            <a:avLst/>
          </a:prstGeom>
          <a:solidFill>
            <a:srgbClr val="00B0F0">
              <a:alpha val="1882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790122" y="1846163"/>
            <a:ext cx="8401878" cy="3165674"/>
          </a:xfrm>
          <a:prstGeom prst="rect">
            <a:avLst/>
          </a:prstGeom>
          <a:solidFill>
            <a:schemeClr val="dk1">
              <a:alpha val="4196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810697" y="2459522"/>
            <a:ext cx="6607580" cy="193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07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Introduction to Excel: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07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Interface, Data Entry &amp; Basic Functions </a:t>
            </a:r>
            <a:endParaRPr/>
          </a:p>
        </p:txBody>
      </p:sp>
      <p:grpSp>
        <p:nvGrpSpPr>
          <p:cNvPr id="98" name="Google Shape;98;p1"/>
          <p:cNvGrpSpPr/>
          <p:nvPr/>
        </p:nvGrpSpPr>
        <p:grpSpPr>
          <a:xfrm>
            <a:off x="560055" y="1447800"/>
            <a:ext cx="3962402" cy="3962400"/>
            <a:chOff x="495530" y="1259880"/>
            <a:chExt cx="4338240" cy="4338240"/>
          </a:xfrm>
        </p:grpSpPr>
        <p:sp>
          <p:nvSpPr>
            <p:cNvPr id="99" name="Google Shape;99;p1"/>
            <p:cNvSpPr/>
            <p:nvPr/>
          </p:nvSpPr>
          <p:spPr>
            <a:xfrm>
              <a:off x="495530" y="1259880"/>
              <a:ext cx="4338240" cy="433824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304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group of orange and green circles&#10;&#10;Description automatically generated" id="100" name="Google Shape;100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20899" y="2891272"/>
              <a:ext cx="3687502" cy="10754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"/>
          <p:cNvSpPr/>
          <p:nvPr/>
        </p:nvSpPr>
        <p:spPr>
          <a:xfrm>
            <a:off x="771228" y="1118903"/>
            <a:ext cx="1307775" cy="1307775"/>
          </a:xfrm>
          <a:prstGeom prst="ellipse">
            <a:avLst/>
          </a:prstGeom>
          <a:solidFill>
            <a:srgbClr val="00B0F0">
              <a:alpha val="1882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1062787" y="-567052"/>
            <a:ext cx="1598682" cy="1598682"/>
          </a:xfrm>
          <a:prstGeom prst="ellipse">
            <a:avLst/>
          </a:prstGeom>
          <a:solidFill>
            <a:srgbClr val="00B0F0">
              <a:alpha val="1882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 rot="5793624">
            <a:off x="10914658" y="6466669"/>
            <a:ext cx="1361396" cy="1361396"/>
          </a:xfrm>
          <a:prstGeom prst="ellipse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 rot="5793624">
            <a:off x="-368730" y="-545661"/>
            <a:ext cx="1361396" cy="1361396"/>
          </a:xfrm>
          <a:prstGeom prst="ellipse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-298460" y="6055489"/>
            <a:ext cx="1120262" cy="1120262"/>
          </a:xfrm>
          <a:prstGeom prst="ellipse">
            <a:avLst/>
          </a:prstGeom>
          <a:solidFill>
            <a:srgbClr val="00B0F0">
              <a:alpha val="1882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2733368" y="0"/>
            <a:ext cx="6725264" cy="882869"/>
            <a:chOff x="2733368" y="0"/>
            <a:chExt cx="6725264" cy="882869"/>
          </a:xfrm>
        </p:grpSpPr>
        <p:sp>
          <p:nvSpPr>
            <p:cNvPr id="111" name="Google Shape;111;p2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3349427" y="118290"/>
              <a:ext cx="5493146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Learning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Objectives</a:t>
              </a:r>
              <a:endParaRPr/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1109005" y="1840950"/>
            <a:ext cx="9973990" cy="4469036"/>
            <a:chOff x="1127794" y="1246070"/>
            <a:chExt cx="9973990" cy="4469036"/>
          </a:xfrm>
        </p:grpSpPr>
        <p:grpSp>
          <p:nvGrpSpPr>
            <p:cNvPr id="114" name="Google Shape;114;p2"/>
            <p:cNvGrpSpPr/>
            <p:nvPr/>
          </p:nvGrpSpPr>
          <p:grpSpPr>
            <a:xfrm>
              <a:off x="1127794" y="1246070"/>
              <a:ext cx="9973990" cy="634846"/>
              <a:chOff x="1127794" y="1289613"/>
              <a:chExt cx="9973990" cy="634846"/>
            </a:xfrm>
          </p:grpSpPr>
          <p:grpSp>
            <p:nvGrpSpPr>
              <p:cNvPr id="115" name="Google Shape;115;p2"/>
              <p:cNvGrpSpPr/>
              <p:nvPr/>
            </p:nvGrpSpPr>
            <p:grpSpPr>
              <a:xfrm>
                <a:off x="1127794" y="1289613"/>
                <a:ext cx="9973990" cy="634846"/>
                <a:chOff x="1127794" y="1289613"/>
                <a:chExt cx="9973990" cy="634846"/>
              </a:xfrm>
            </p:grpSpPr>
            <p:sp>
              <p:nvSpPr>
                <p:cNvPr id="116" name="Google Shape;116;p2"/>
                <p:cNvSpPr/>
                <p:nvPr/>
              </p:nvSpPr>
              <p:spPr>
                <a:xfrm>
                  <a:off x="1127794" y="1289613"/>
                  <a:ext cx="9973990" cy="6348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1176368" y="1327759"/>
                  <a:ext cx="9876843" cy="55855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25698">
                    <a:alpha val="5098"/>
                  </a:srgbClr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8" name="Google Shape;118;p2"/>
              <p:cNvGrpSpPr/>
              <p:nvPr/>
            </p:nvGrpSpPr>
            <p:grpSpPr>
              <a:xfrm>
                <a:off x="1212934" y="1367896"/>
                <a:ext cx="485084" cy="478279"/>
                <a:chOff x="897675" y="1699312"/>
                <a:chExt cx="542600" cy="570850"/>
              </a:xfrm>
            </p:grpSpPr>
            <p:sp>
              <p:nvSpPr>
                <p:cNvPr id="119" name="Google Shape;119;p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" name="Google Shape;120;p2"/>
                <p:cNvSpPr txBox="1"/>
                <p:nvPr/>
              </p:nvSpPr>
              <p:spPr>
                <a:xfrm>
                  <a:off x="1046616" y="1813827"/>
                  <a:ext cx="240326" cy="352842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121" name="Google Shape;121;p2"/>
              <p:cNvSpPr txBox="1"/>
              <p:nvPr/>
            </p:nvSpPr>
            <p:spPr>
              <a:xfrm>
                <a:off x="1838163" y="1406981"/>
                <a:ext cx="694132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Understand The Excel Interface And Its Components</a:t>
                </a:r>
                <a:endParaRPr/>
              </a:p>
            </p:txBody>
          </p:sp>
        </p:grpSp>
        <p:grpSp>
          <p:nvGrpSpPr>
            <p:cNvPr id="122" name="Google Shape;122;p2"/>
            <p:cNvGrpSpPr/>
            <p:nvPr/>
          </p:nvGrpSpPr>
          <p:grpSpPr>
            <a:xfrm>
              <a:off x="1127794" y="2012908"/>
              <a:ext cx="9973990" cy="634846"/>
              <a:chOff x="1127794" y="1289613"/>
              <a:chExt cx="9973990" cy="634846"/>
            </a:xfrm>
          </p:grpSpPr>
          <p:grpSp>
            <p:nvGrpSpPr>
              <p:cNvPr id="123" name="Google Shape;123;p2"/>
              <p:cNvGrpSpPr/>
              <p:nvPr/>
            </p:nvGrpSpPr>
            <p:grpSpPr>
              <a:xfrm>
                <a:off x="1127794" y="1289613"/>
                <a:ext cx="9973990" cy="634846"/>
                <a:chOff x="1127794" y="1289613"/>
                <a:chExt cx="9973990" cy="634846"/>
              </a:xfrm>
            </p:grpSpPr>
            <p:sp>
              <p:nvSpPr>
                <p:cNvPr id="124" name="Google Shape;124;p2"/>
                <p:cNvSpPr/>
                <p:nvPr/>
              </p:nvSpPr>
              <p:spPr>
                <a:xfrm>
                  <a:off x="1127794" y="1289613"/>
                  <a:ext cx="9973990" cy="6348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1176368" y="1327759"/>
                  <a:ext cx="9876843" cy="55855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FF9E5">
                    <a:alpha val="56078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6" name="Google Shape;126;p2"/>
              <p:cNvGrpSpPr/>
              <p:nvPr/>
            </p:nvGrpSpPr>
            <p:grpSpPr>
              <a:xfrm>
                <a:off x="1212934" y="1367896"/>
                <a:ext cx="485084" cy="478279"/>
                <a:chOff x="897675" y="1699312"/>
                <a:chExt cx="542600" cy="570850"/>
              </a:xfrm>
            </p:grpSpPr>
            <p:sp>
              <p:nvSpPr>
                <p:cNvPr id="127" name="Google Shape;127;p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" name="Google Shape;128;p2"/>
                <p:cNvSpPr txBox="1"/>
                <p:nvPr/>
              </p:nvSpPr>
              <p:spPr>
                <a:xfrm>
                  <a:off x="1051781" y="1802072"/>
                  <a:ext cx="240326" cy="376354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  <p:sp>
            <p:nvSpPr>
              <p:cNvPr id="129" name="Google Shape;129;p2"/>
              <p:cNvSpPr txBox="1"/>
              <p:nvPr/>
            </p:nvSpPr>
            <p:spPr>
              <a:xfrm>
                <a:off x="1838163" y="1406981"/>
                <a:ext cx="732604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8F7C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Navigate Efficiently Within Worksheets And Workbooks</a:t>
                </a:r>
                <a:endParaRPr/>
              </a:p>
            </p:txBody>
          </p:sp>
        </p:grpSp>
        <p:grpSp>
          <p:nvGrpSpPr>
            <p:cNvPr id="130" name="Google Shape;130;p2"/>
            <p:cNvGrpSpPr/>
            <p:nvPr/>
          </p:nvGrpSpPr>
          <p:grpSpPr>
            <a:xfrm>
              <a:off x="1127794" y="2779746"/>
              <a:ext cx="9973990" cy="634846"/>
              <a:chOff x="1127794" y="1289613"/>
              <a:chExt cx="9973990" cy="634846"/>
            </a:xfrm>
          </p:grpSpPr>
          <p:grpSp>
            <p:nvGrpSpPr>
              <p:cNvPr id="131" name="Google Shape;131;p2"/>
              <p:cNvGrpSpPr/>
              <p:nvPr/>
            </p:nvGrpSpPr>
            <p:grpSpPr>
              <a:xfrm>
                <a:off x="1127794" y="1289613"/>
                <a:ext cx="9973990" cy="634846"/>
                <a:chOff x="1127794" y="1289613"/>
                <a:chExt cx="9973990" cy="634846"/>
              </a:xfrm>
            </p:grpSpPr>
            <p:sp>
              <p:nvSpPr>
                <p:cNvPr id="132" name="Google Shape;132;p2"/>
                <p:cNvSpPr/>
                <p:nvPr/>
              </p:nvSpPr>
              <p:spPr>
                <a:xfrm>
                  <a:off x="1127794" y="1289613"/>
                  <a:ext cx="9973990" cy="6348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" name="Google Shape;133;p2"/>
                <p:cNvSpPr/>
                <p:nvPr/>
              </p:nvSpPr>
              <p:spPr>
                <a:xfrm>
                  <a:off x="1176368" y="1327759"/>
                  <a:ext cx="9876843" cy="55855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25698">
                    <a:alpha val="5098"/>
                  </a:srgbClr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4" name="Google Shape;134;p2"/>
              <p:cNvGrpSpPr/>
              <p:nvPr/>
            </p:nvGrpSpPr>
            <p:grpSpPr>
              <a:xfrm>
                <a:off x="1212934" y="1367896"/>
                <a:ext cx="485084" cy="478279"/>
                <a:chOff x="897675" y="1699312"/>
                <a:chExt cx="542600" cy="570850"/>
              </a:xfrm>
            </p:grpSpPr>
            <p:sp>
              <p:nvSpPr>
                <p:cNvPr id="135" name="Google Shape;135;p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" name="Google Shape;136;p2"/>
                <p:cNvSpPr txBox="1"/>
                <p:nvPr/>
              </p:nvSpPr>
              <p:spPr>
                <a:xfrm>
                  <a:off x="1051781" y="1802072"/>
                  <a:ext cx="240326" cy="376354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  <p:sp>
            <p:nvSpPr>
              <p:cNvPr id="137" name="Google Shape;137;p2"/>
              <p:cNvSpPr txBox="1"/>
              <p:nvPr/>
            </p:nvSpPr>
            <p:spPr>
              <a:xfrm>
                <a:off x="1838163" y="1406981"/>
                <a:ext cx="547617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Perform Data Entry And Basic Formatting</a:t>
                </a:r>
                <a:endParaRPr/>
              </a:p>
            </p:txBody>
          </p:sp>
        </p:grpSp>
        <p:grpSp>
          <p:nvGrpSpPr>
            <p:cNvPr id="138" name="Google Shape;138;p2"/>
            <p:cNvGrpSpPr/>
            <p:nvPr/>
          </p:nvGrpSpPr>
          <p:grpSpPr>
            <a:xfrm>
              <a:off x="1127794" y="3546584"/>
              <a:ext cx="9973990" cy="634846"/>
              <a:chOff x="1127794" y="1289613"/>
              <a:chExt cx="9973990" cy="634846"/>
            </a:xfrm>
          </p:grpSpPr>
          <p:grpSp>
            <p:nvGrpSpPr>
              <p:cNvPr id="139" name="Google Shape;139;p2"/>
              <p:cNvGrpSpPr/>
              <p:nvPr/>
            </p:nvGrpSpPr>
            <p:grpSpPr>
              <a:xfrm>
                <a:off x="1127794" y="1289613"/>
                <a:ext cx="9973990" cy="634846"/>
                <a:chOff x="1127794" y="1289613"/>
                <a:chExt cx="9973990" cy="634846"/>
              </a:xfrm>
            </p:grpSpPr>
            <p:sp>
              <p:nvSpPr>
                <p:cNvPr id="140" name="Google Shape;140;p2"/>
                <p:cNvSpPr/>
                <p:nvPr/>
              </p:nvSpPr>
              <p:spPr>
                <a:xfrm>
                  <a:off x="1127794" y="1289613"/>
                  <a:ext cx="9973990" cy="6348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" name="Google Shape;141;p2"/>
                <p:cNvSpPr/>
                <p:nvPr/>
              </p:nvSpPr>
              <p:spPr>
                <a:xfrm>
                  <a:off x="1176368" y="1327759"/>
                  <a:ext cx="9876843" cy="55855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FF9E5">
                    <a:alpha val="56078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2" name="Google Shape;142;p2"/>
              <p:cNvGrpSpPr/>
              <p:nvPr/>
            </p:nvGrpSpPr>
            <p:grpSpPr>
              <a:xfrm>
                <a:off x="1212934" y="1367896"/>
                <a:ext cx="485084" cy="478279"/>
                <a:chOff x="897675" y="1699312"/>
                <a:chExt cx="542600" cy="570850"/>
              </a:xfrm>
            </p:grpSpPr>
            <p:sp>
              <p:nvSpPr>
                <p:cNvPr id="143" name="Google Shape;143;p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" name="Google Shape;144;p2"/>
                <p:cNvSpPr txBox="1"/>
                <p:nvPr/>
              </p:nvSpPr>
              <p:spPr>
                <a:xfrm>
                  <a:off x="1041450" y="1796560"/>
                  <a:ext cx="240326" cy="376354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45" name="Google Shape;145;p2"/>
              <p:cNvSpPr txBox="1"/>
              <p:nvPr/>
            </p:nvSpPr>
            <p:spPr>
              <a:xfrm>
                <a:off x="1838163" y="1406981"/>
                <a:ext cx="408156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8F7C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Sort And Filter Data Effectively</a:t>
                </a:r>
                <a:endParaRPr/>
              </a:p>
            </p:txBody>
          </p:sp>
        </p:grpSp>
        <p:grpSp>
          <p:nvGrpSpPr>
            <p:cNvPr id="146" name="Google Shape;146;p2"/>
            <p:cNvGrpSpPr/>
            <p:nvPr/>
          </p:nvGrpSpPr>
          <p:grpSpPr>
            <a:xfrm>
              <a:off x="1127794" y="4313422"/>
              <a:ext cx="9973990" cy="634846"/>
              <a:chOff x="1127794" y="1289613"/>
              <a:chExt cx="9973990" cy="634846"/>
            </a:xfrm>
          </p:grpSpPr>
          <p:grpSp>
            <p:nvGrpSpPr>
              <p:cNvPr id="147" name="Google Shape;147;p2"/>
              <p:cNvGrpSpPr/>
              <p:nvPr/>
            </p:nvGrpSpPr>
            <p:grpSpPr>
              <a:xfrm>
                <a:off x="1127794" y="1289613"/>
                <a:ext cx="9973990" cy="634846"/>
                <a:chOff x="1127794" y="1289613"/>
                <a:chExt cx="9973990" cy="634846"/>
              </a:xfrm>
            </p:grpSpPr>
            <p:sp>
              <p:nvSpPr>
                <p:cNvPr id="148" name="Google Shape;148;p2"/>
                <p:cNvSpPr/>
                <p:nvPr/>
              </p:nvSpPr>
              <p:spPr>
                <a:xfrm>
                  <a:off x="1127794" y="1289613"/>
                  <a:ext cx="9973990" cy="6348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49;p2"/>
                <p:cNvSpPr/>
                <p:nvPr/>
              </p:nvSpPr>
              <p:spPr>
                <a:xfrm>
                  <a:off x="1176368" y="1327759"/>
                  <a:ext cx="9876843" cy="55855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25698">
                    <a:alpha val="5098"/>
                  </a:srgbClr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0" name="Google Shape;150;p2"/>
              <p:cNvGrpSpPr/>
              <p:nvPr/>
            </p:nvGrpSpPr>
            <p:grpSpPr>
              <a:xfrm>
                <a:off x="1212934" y="1367896"/>
                <a:ext cx="485084" cy="478279"/>
                <a:chOff x="897675" y="1699312"/>
                <a:chExt cx="542600" cy="570850"/>
              </a:xfrm>
            </p:grpSpPr>
            <p:sp>
              <p:nvSpPr>
                <p:cNvPr id="151" name="Google Shape;151;p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2"/>
                <p:cNvSpPr txBox="1"/>
                <p:nvPr/>
              </p:nvSpPr>
              <p:spPr>
                <a:xfrm>
                  <a:off x="1051781" y="1783254"/>
                  <a:ext cx="240326" cy="413989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5</a:t>
                  </a:r>
                  <a:endParaRPr/>
                </a:p>
              </p:txBody>
            </p:sp>
          </p:grpSp>
          <p:sp>
            <p:nvSpPr>
              <p:cNvPr id="153" name="Google Shape;153;p2"/>
              <p:cNvSpPr txBox="1"/>
              <p:nvPr/>
            </p:nvSpPr>
            <p:spPr>
              <a:xfrm>
                <a:off x="1838163" y="1406981"/>
                <a:ext cx="873348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Use Basic Aggregate Functions (SUM, AVERAGE, COUNT, MIN, MAX)</a:t>
                </a:r>
                <a:endParaRPr/>
              </a:p>
            </p:txBody>
          </p:sp>
        </p:grpSp>
        <p:grpSp>
          <p:nvGrpSpPr>
            <p:cNvPr id="154" name="Google Shape;154;p2"/>
            <p:cNvGrpSpPr/>
            <p:nvPr/>
          </p:nvGrpSpPr>
          <p:grpSpPr>
            <a:xfrm>
              <a:off x="1127794" y="5080260"/>
              <a:ext cx="9973990" cy="634846"/>
              <a:chOff x="1127794" y="1289613"/>
              <a:chExt cx="9973990" cy="634846"/>
            </a:xfrm>
          </p:grpSpPr>
          <p:grpSp>
            <p:nvGrpSpPr>
              <p:cNvPr id="155" name="Google Shape;155;p2"/>
              <p:cNvGrpSpPr/>
              <p:nvPr/>
            </p:nvGrpSpPr>
            <p:grpSpPr>
              <a:xfrm>
                <a:off x="1127794" y="1289613"/>
                <a:ext cx="9973990" cy="634846"/>
                <a:chOff x="1127794" y="1289613"/>
                <a:chExt cx="9973990" cy="634846"/>
              </a:xfrm>
            </p:grpSpPr>
            <p:sp>
              <p:nvSpPr>
                <p:cNvPr id="156" name="Google Shape;156;p2"/>
                <p:cNvSpPr/>
                <p:nvPr/>
              </p:nvSpPr>
              <p:spPr>
                <a:xfrm>
                  <a:off x="1127794" y="1289613"/>
                  <a:ext cx="9973990" cy="6348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" name="Google Shape;157;p2"/>
                <p:cNvSpPr/>
                <p:nvPr/>
              </p:nvSpPr>
              <p:spPr>
                <a:xfrm>
                  <a:off x="1176368" y="1327759"/>
                  <a:ext cx="9876843" cy="55855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FF9E5">
                    <a:alpha val="56078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" name="Google Shape;158;p2"/>
              <p:cNvGrpSpPr/>
              <p:nvPr/>
            </p:nvGrpSpPr>
            <p:grpSpPr>
              <a:xfrm>
                <a:off x="1212934" y="1367896"/>
                <a:ext cx="485084" cy="478279"/>
                <a:chOff x="897675" y="1699312"/>
                <a:chExt cx="542600" cy="570850"/>
              </a:xfrm>
            </p:grpSpPr>
            <p:sp>
              <p:nvSpPr>
                <p:cNvPr id="159" name="Google Shape;159;p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160;p2"/>
                <p:cNvSpPr txBox="1"/>
                <p:nvPr/>
              </p:nvSpPr>
              <p:spPr>
                <a:xfrm>
                  <a:off x="1051781" y="1802072"/>
                  <a:ext cx="240326" cy="376354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6</a:t>
                  </a:r>
                  <a:endParaRPr/>
                </a:p>
              </p:txBody>
            </p:sp>
          </p:grpSp>
          <p:sp>
            <p:nvSpPr>
              <p:cNvPr id="161" name="Google Shape;161;p2"/>
              <p:cNvSpPr txBox="1"/>
              <p:nvPr/>
            </p:nvSpPr>
            <p:spPr>
              <a:xfrm>
                <a:off x="1838163" y="1406981"/>
                <a:ext cx="656461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8F7C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Apply Functions To Perform Simple Data Analysis</a:t>
                </a:r>
                <a:endParaRPr/>
              </a:p>
            </p:txBody>
          </p:sp>
        </p:grpSp>
      </p:grpSp>
      <p:sp>
        <p:nvSpPr>
          <p:cNvPr id="162" name="Google Shape;162;p2"/>
          <p:cNvSpPr txBox="1"/>
          <p:nvPr/>
        </p:nvSpPr>
        <p:spPr>
          <a:xfrm>
            <a:off x="2812890" y="1149927"/>
            <a:ext cx="68387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By The End Of This Session, Learners Will Be Able To: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3"/>
          <p:cNvGrpSpPr/>
          <p:nvPr/>
        </p:nvGrpSpPr>
        <p:grpSpPr>
          <a:xfrm>
            <a:off x="776748" y="1181100"/>
            <a:ext cx="10638504" cy="5029202"/>
            <a:chOff x="776748" y="1562100"/>
            <a:chExt cx="10638504" cy="4648200"/>
          </a:xfrm>
        </p:grpSpPr>
        <p:sp>
          <p:nvSpPr>
            <p:cNvPr id="168" name="Google Shape;168;p3"/>
            <p:cNvSpPr/>
            <p:nvPr/>
          </p:nvSpPr>
          <p:spPr>
            <a:xfrm>
              <a:off x="776748" y="1562100"/>
              <a:ext cx="10638504" cy="46482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997974" y="1771650"/>
              <a:ext cx="10196052" cy="4229100"/>
            </a:xfrm>
            <a:prstGeom prst="roundRect">
              <a:avLst>
                <a:gd fmla="val 8999" name="adj"/>
              </a:avLst>
            </a:prstGeom>
            <a:solidFill>
              <a:srgbClr val="025698">
                <a:alpha val="5098"/>
              </a:srgbClr>
            </a:solidFill>
            <a:ln cap="flat" cmpd="sng" w="9525">
              <a:solidFill>
                <a:srgbClr val="0070C0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3"/>
          <p:cNvGrpSpPr/>
          <p:nvPr/>
        </p:nvGrpSpPr>
        <p:grpSpPr>
          <a:xfrm>
            <a:off x="2733368" y="0"/>
            <a:ext cx="6725264" cy="882869"/>
            <a:chOff x="2733368" y="0"/>
            <a:chExt cx="6725264" cy="882869"/>
          </a:xfrm>
        </p:grpSpPr>
        <p:sp>
          <p:nvSpPr>
            <p:cNvPr id="171" name="Google Shape;171;p3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3349427" y="118291"/>
              <a:ext cx="5493146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Schedule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Breakup</a:t>
              </a:r>
              <a:endParaRPr/>
            </a:p>
          </p:txBody>
        </p:sp>
      </p:grpSp>
      <p:graphicFrame>
        <p:nvGraphicFramePr>
          <p:cNvPr id="173" name="Google Shape;173;p3"/>
          <p:cNvGraphicFramePr/>
          <p:nvPr/>
        </p:nvGraphicFramePr>
        <p:xfrm>
          <a:off x="1005840" y="1394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{5209E166-228F-4204-9806-82BCB6DFEF5D}</a:tableStyleId>
              </a:tblPr>
              <a:tblGrid>
                <a:gridCol w="5090150"/>
                <a:gridCol w="5090150"/>
              </a:tblGrid>
              <a:tr h="46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F78"/>
                        </a:buClr>
                        <a:buSzPts val="2400"/>
                        <a:buFont typeface="Poppins SemiBold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23F7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Section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F78"/>
                        </a:buClr>
                        <a:buSzPts val="2400"/>
                        <a:buFont typeface="Poppins SemiBold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23F7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Duration</a:t>
                      </a:r>
                      <a:endParaRPr/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Introduction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 mins</a:t>
                      </a:r>
                      <a:endParaRPr sz="2400" u="none" cap="none" strike="noStrike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Excel Interface &amp; Navigation 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40 mins</a:t>
                      </a:r>
                      <a:endParaRPr sz="2400" u="none" cap="none" strike="noStrike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Data Entry &amp; Formatting 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35 mins</a:t>
                      </a:r>
                      <a:endParaRPr sz="2400" u="none" cap="none" strike="noStrike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Break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 mins</a:t>
                      </a:r>
                      <a:endParaRPr sz="2400" u="none" cap="none" strike="noStrike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Sorting &amp; Filtering 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35 mins</a:t>
                      </a:r>
                      <a:endParaRPr sz="2400" u="none" cap="none" strike="noStrike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Basic Functions 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 mins</a:t>
                      </a:r>
                      <a:endParaRPr sz="2400" u="none" cap="none" strike="noStrike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Doubt Resolution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15 mins</a:t>
                      </a:r>
                      <a:endParaRPr sz="2400" u="none" cap="none" strike="noStrike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Wrap-up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 mins</a:t>
                      </a:r>
                      <a:endParaRPr sz="2400" u="none" cap="none" strike="noStrike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F7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23F7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Total</a:t>
                      </a:r>
                      <a:endParaRPr/>
                    </a:p>
                  </a:txBody>
                  <a:tcPr marT="53350" marB="53350" marR="53350" marL="53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F7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23F7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180 mins (3 hrs)</a:t>
                      </a:r>
                      <a:endParaRPr/>
                    </a:p>
                  </a:txBody>
                  <a:tcPr marT="53350" marB="53350" marR="53350" marL="533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4"/>
          <p:cNvGrpSpPr/>
          <p:nvPr/>
        </p:nvGrpSpPr>
        <p:grpSpPr>
          <a:xfrm>
            <a:off x="3136297" y="0"/>
            <a:ext cx="5919405" cy="882869"/>
            <a:chOff x="2733368" y="0"/>
            <a:chExt cx="6725264" cy="882869"/>
          </a:xfrm>
        </p:grpSpPr>
        <p:sp>
          <p:nvSpPr>
            <p:cNvPr id="179" name="Google Shape;179;p4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3168236" y="118295"/>
              <a:ext cx="5855531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Why learn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EXCEL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?</a:t>
              </a:r>
              <a:endParaRPr/>
            </a:p>
          </p:txBody>
        </p:sp>
      </p:grpSp>
      <p:grpSp>
        <p:nvGrpSpPr>
          <p:cNvPr id="181" name="Google Shape;181;p4"/>
          <p:cNvGrpSpPr/>
          <p:nvPr/>
        </p:nvGrpSpPr>
        <p:grpSpPr>
          <a:xfrm>
            <a:off x="776748" y="1236980"/>
            <a:ext cx="10638504" cy="4977582"/>
            <a:chOff x="776748" y="1236980"/>
            <a:chExt cx="10638504" cy="4977582"/>
          </a:xfrm>
        </p:grpSpPr>
        <p:grpSp>
          <p:nvGrpSpPr>
            <p:cNvPr id="182" name="Google Shape;182;p4"/>
            <p:cNvGrpSpPr/>
            <p:nvPr/>
          </p:nvGrpSpPr>
          <p:grpSpPr>
            <a:xfrm>
              <a:off x="776748" y="1236980"/>
              <a:ext cx="10638504" cy="4977582"/>
              <a:chOff x="776748" y="1236980"/>
              <a:chExt cx="10638504" cy="4977582"/>
            </a:xfrm>
          </p:grpSpPr>
          <p:sp>
            <p:nvSpPr>
              <p:cNvPr id="183" name="Google Shape;183;p4"/>
              <p:cNvSpPr/>
              <p:nvPr/>
            </p:nvSpPr>
            <p:spPr>
              <a:xfrm>
                <a:off x="776748" y="1236980"/>
                <a:ext cx="10638504" cy="4977582"/>
              </a:xfrm>
              <a:prstGeom prst="roundRect">
                <a:avLst>
                  <a:gd fmla="val 10242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4" name="Google Shape;184;p4"/>
              <p:cNvGrpSpPr/>
              <p:nvPr/>
            </p:nvGrpSpPr>
            <p:grpSpPr>
              <a:xfrm>
                <a:off x="982680" y="1562100"/>
                <a:ext cx="5799120" cy="4343400"/>
                <a:chOff x="982680" y="1562100"/>
                <a:chExt cx="5799120" cy="4343400"/>
              </a:xfrm>
            </p:grpSpPr>
            <p:grpSp>
              <p:nvGrpSpPr>
                <p:cNvPr id="185" name="Google Shape;185;p4"/>
                <p:cNvGrpSpPr/>
                <p:nvPr/>
              </p:nvGrpSpPr>
              <p:grpSpPr>
                <a:xfrm>
                  <a:off x="982680" y="1562100"/>
                  <a:ext cx="5799033" cy="780623"/>
                  <a:chOff x="991181" y="1660693"/>
                  <a:chExt cx="5799033" cy="780623"/>
                </a:xfrm>
              </p:grpSpPr>
              <p:grpSp>
                <p:nvGrpSpPr>
                  <p:cNvPr id="186" name="Google Shape;186;p4"/>
                  <p:cNvGrpSpPr/>
                  <p:nvPr/>
                </p:nvGrpSpPr>
                <p:grpSpPr>
                  <a:xfrm>
                    <a:off x="1187927" y="1660693"/>
                    <a:ext cx="5602287" cy="780623"/>
                    <a:chOff x="1187927" y="1660693"/>
                    <a:chExt cx="5602287" cy="780623"/>
                  </a:xfrm>
                </p:grpSpPr>
                <p:sp>
                  <p:nvSpPr>
                    <p:cNvPr id="187" name="Google Shape;187;p4"/>
                    <p:cNvSpPr/>
                    <p:nvPr/>
                  </p:nvSpPr>
                  <p:spPr>
                    <a:xfrm>
                      <a:off x="1187927" y="1660693"/>
                      <a:ext cx="5267975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025698">
                        <a:alpha val="5098"/>
                      </a:srgbClr>
                    </a:solidFill>
                    <a:ln cap="flat" cmpd="sng" w="9525">
                      <a:solidFill>
                        <a:srgbClr val="0070C0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508000" rotWithShape="0" algn="l" dist="38100">
                        <a:srgbClr val="000000">
                          <a:alpha val="10980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88" name="Google Shape;188;p4"/>
                    <p:cNvSpPr txBox="1"/>
                    <p:nvPr/>
                  </p:nvSpPr>
                  <p:spPr>
                    <a:xfrm>
                      <a:off x="1415714" y="1866338"/>
                      <a:ext cx="5374500" cy="369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Most widely used tool </a:t>
                      </a: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in Data Analytics.</a:t>
                      </a:r>
                      <a:endParaRPr/>
                    </a:p>
                  </p:txBody>
                </p:sp>
              </p:grpSp>
              <p:grpSp>
                <p:nvGrpSpPr>
                  <p:cNvPr id="189" name="Google Shape;189;p4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190" name="Google Shape;190;p4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1" name="Google Shape;191;p4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1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192" name="Google Shape;192;p4"/>
                <p:cNvGrpSpPr/>
                <p:nvPr/>
              </p:nvGrpSpPr>
              <p:grpSpPr>
                <a:xfrm>
                  <a:off x="982680" y="2452794"/>
                  <a:ext cx="5494320" cy="780623"/>
                  <a:chOff x="991181" y="1660693"/>
                  <a:chExt cx="5494320" cy="780623"/>
                </a:xfrm>
              </p:grpSpPr>
              <p:grpSp>
                <p:nvGrpSpPr>
                  <p:cNvPr id="193" name="Google Shape;193;p4"/>
                  <p:cNvGrpSpPr/>
                  <p:nvPr/>
                </p:nvGrpSpPr>
                <p:grpSpPr>
                  <a:xfrm>
                    <a:off x="1187927" y="1660693"/>
                    <a:ext cx="5297574" cy="780623"/>
                    <a:chOff x="1187927" y="1660693"/>
                    <a:chExt cx="5297574" cy="780623"/>
                  </a:xfrm>
                </p:grpSpPr>
                <p:sp>
                  <p:nvSpPr>
                    <p:cNvPr id="194" name="Google Shape;194;p4"/>
                    <p:cNvSpPr/>
                    <p:nvPr/>
                  </p:nvSpPr>
                  <p:spPr>
                    <a:xfrm>
                      <a:off x="1187927" y="1660693"/>
                      <a:ext cx="5267975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FFF9E5">
                        <a:alpha val="56078"/>
                      </a:srgbClr>
                    </a:solidFill>
                    <a:ln cap="flat" cmpd="sng" w="9525">
                      <a:solidFill>
                        <a:srgbClr val="8F7C0B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5" name="Google Shape;195;p4"/>
                    <p:cNvSpPr txBox="1"/>
                    <p:nvPr/>
                  </p:nvSpPr>
                  <p:spPr>
                    <a:xfrm>
                      <a:off x="1415714" y="1866338"/>
                      <a:ext cx="5069787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Great for </a:t>
                      </a:r>
                      <a:r>
                        <a:rPr lang="en-US" sz="1800">
                          <a:solidFill>
                            <a:srgbClr val="A7910D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data entry &amp; quick calculations.</a:t>
                      </a:r>
                      <a:endParaRPr/>
                    </a:p>
                  </p:txBody>
                </p:sp>
              </p:grpSp>
              <p:grpSp>
                <p:nvGrpSpPr>
                  <p:cNvPr id="196" name="Google Shape;196;p4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197" name="Google Shape;197;p4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8" name="Google Shape;198;p4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2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199" name="Google Shape;199;p4"/>
                <p:cNvGrpSpPr/>
                <p:nvPr/>
              </p:nvGrpSpPr>
              <p:grpSpPr>
                <a:xfrm>
                  <a:off x="982680" y="3343488"/>
                  <a:ext cx="5494319" cy="780623"/>
                  <a:chOff x="991181" y="1660693"/>
                  <a:chExt cx="5494319" cy="780623"/>
                </a:xfrm>
              </p:grpSpPr>
              <p:grpSp>
                <p:nvGrpSpPr>
                  <p:cNvPr id="200" name="Google Shape;200;p4"/>
                  <p:cNvGrpSpPr/>
                  <p:nvPr/>
                </p:nvGrpSpPr>
                <p:grpSpPr>
                  <a:xfrm>
                    <a:off x="1187927" y="1660693"/>
                    <a:ext cx="5297573" cy="780623"/>
                    <a:chOff x="1187927" y="1660693"/>
                    <a:chExt cx="5297573" cy="780623"/>
                  </a:xfrm>
                </p:grpSpPr>
                <p:sp>
                  <p:nvSpPr>
                    <p:cNvPr id="201" name="Google Shape;201;p4"/>
                    <p:cNvSpPr/>
                    <p:nvPr/>
                  </p:nvSpPr>
                  <p:spPr>
                    <a:xfrm>
                      <a:off x="1187927" y="1660693"/>
                      <a:ext cx="5267975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025698">
                        <a:alpha val="5098"/>
                      </a:srgbClr>
                    </a:solidFill>
                    <a:ln cap="flat" cmpd="sng" w="9525">
                      <a:solidFill>
                        <a:srgbClr val="0070C0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508000" rotWithShape="0" algn="l" dist="38100">
                        <a:srgbClr val="000000">
                          <a:alpha val="10980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2" name="Google Shape;202;p4"/>
                    <p:cNvSpPr txBox="1"/>
                    <p:nvPr/>
                  </p:nvSpPr>
                  <p:spPr>
                    <a:xfrm>
                      <a:off x="1415713" y="1727839"/>
                      <a:ext cx="5069787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Useful for </a:t>
                      </a: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reporting &amp; visualization </a:t>
                      </a: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(charts, pivot tables).</a:t>
                      </a:r>
                      <a:endParaRPr/>
                    </a:p>
                  </p:txBody>
                </p:sp>
              </p:grpSp>
              <p:grpSp>
                <p:nvGrpSpPr>
                  <p:cNvPr id="203" name="Google Shape;203;p4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204" name="Google Shape;204;p4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5" name="Google Shape;205;p4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206" name="Google Shape;206;p4"/>
                <p:cNvGrpSpPr/>
                <p:nvPr/>
              </p:nvGrpSpPr>
              <p:grpSpPr>
                <a:xfrm>
                  <a:off x="982680" y="4234182"/>
                  <a:ext cx="5464721" cy="780623"/>
                  <a:chOff x="991181" y="1660693"/>
                  <a:chExt cx="5464721" cy="780623"/>
                </a:xfrm>
              </p:grpSpPr>
              <p:grpSp>
                <p:nvGrpSpPr>
                  <p:cNvPr id="207" name="Google Shape;207;p4"/>
                  <p:cNvGrpSpPr/>
                  <p:nvPr/>
                </p:nvGrpSpPr>
                <p:grpSpPr>
                  <a:xfrm>
                    <a:off x="1187927" y="1660693"/>
                    <a:ext cx="5267975" cy="780623"/>
                    <a:chOff x="1187927" y="1660693"/>
                    <a:chExt cx="5267975" cy="780623"/>
                  </a:xfrm>
                </p:grpSpPr>
                <p:sp>
                  <p:nvSpPr>
                    <p:cNvPr id="208" name="Google Shape;208;p4"/>
                    <p:cNvSpPr/>
                    <p:nvPr/>
                  </p:nvSpPr>
                  <p:spPr>
                    <a:xfrm>
                      <a:off x="1187927" y="1660693"/>
                      <a:ext cx="5267975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FFF9E5">
                        <a:alpha val="56078"/>
                      </a:srgbClr>
                    </a:solidFill>
                    <a:ln cap="flat" cmpd="sng" w="9525">
                      <a:solidFill>
                        <a:srgbClr val="8F7C0B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9" name="Google Shape;209;p4"/>
                    <p:cNvSpPr txBox="1"/>
                    <p:nvPr/>
                  </p:nvSpPr>
                  <p:spPr>
                    <a:xfrm>
                      <a:off x="1415714" y="1727839"/>
                      <a:ext cx="4924314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Quick for </a:t>
                      </a:r>
                      <a:r>
                        <a:rPr lang="en-US" sz="1800">
                          <a:solidFill>
                            <a:srgbClr val="A7910D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what-if analysis </a:t>
                      </a: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and decision support.</a:t>
                      </a:r>
                      <a:endParaRPr/>
                    </a:p>
                  </p:txBody>
                </p:sp>
              </p:grpSp>
              <p:grpSp>
                <p:nvGrpSpPr>
                  <p:cNvPr id="210" name="Google Shape;210;p4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211" name="Google Shape;211;p4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2" name="Google Shape;212;p4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4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213" name="Google Shape;213;p4"/>
                <p:cNvGrpSpPr/>
                <p:nvPr/>
              </p:nvGrpSpPr>
              <p:grpSpPr>
                <a:xfrm>
                  <a:off x="982680" y="5124877"/>
                  <a:ext cx="5799120" cy="780623"/>
                  <a:chOff x="991181" y="1660693"/>
                  <a:chExt cx="5799120" cy="780623"/>
                </a:xfrm>
              </p:grpSpPr>
              <p:grpSp>
                <p:nvGrpSpPr>
                  <p:cNvPr id="214" name="Google Shape;214;p4"/>
                  <p:cNvGrpSpPr/>
                  <p:nvPr/>
                </p:nvGrpSpPr>
                <p:grpSpPr>
                  <a:xfrm>
                    <a:off x="1187927" y="1660693"/>
                    <a:ext cx="5602374" cy="780623"/>
                    <a:chOff x="1187927" y="1660693"/>
                    <a:chExt cx="5602374" cy="780623"/>
                  </a:xfrm>
                </p:grpSpPr>
                <p:sp>
                  <p:nvSpPr>
                    <p:cNvPr id="215" name="Google Shape;215;p4"/>
                    <p:cNvSpPr/>
                    <p:nvPr/>
                  </p:nvSpPr>
                  <p:spPr>
                    <a:xfrm>
                      <a:off x="1187927" y="1660693"/>
                      <a:ext cx="5267975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025698">
                        <a:alpha val="5098"/>
                      </a:srgbClr>
                    </a:solidFill>
                    <a:ln cap="flat" cmpd="sng" w="9525">
                      <a:solidFill>
                        <a:srgbClr val="0070C0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508000" rotWithShape="0" algn="l" dist="38100">
                        <a:srgbClr val="000000">
                          <a:alpha val="10980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6" name="Google Shape;216;p4"/>
                    <p:cNvSpPr txBox="1"/>
                    <p:nvPr/>
                  </p:nvSpPr>
                  <p:spPr>
                    <a:xfrm>
                      <a:off x="1415714" y="1727839"/>
                      <a:ext cx="5374587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Examples: </a:t>
                      </a: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Sales reports, budgets, student marksheets, attendance records.</a:t>
                      </a:r>
                      <a:endParaRPr/>
                    </a:p>
                  </p:txBody>
                </p:sp>
              </p:grpSp>
              <p:grpSp>
                <p:nvGrpSpPr>
                  <p:cNvPr id="217" name="Google Shape;217;p4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218" name="Google Shape;218;p4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9" name="Google Shape;219;p4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5</a:t>
                      </a:r>
                      <a:endParaRPr/>
                    </a:p>
                  </p:txBody>
                </p:sp>
              </p:grpSp>
            </p:grpSp>
          </p:grpSp>
        </p:grpSp>
        <p:pic>
          <p:nvPicPr>
            <p:cNvPr id="220" name="Google Shape;22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05600" y="1515971"/>
              <a:ext cx="4419600" cy="4419600"/>
            </a:xfrm>
            <a:prstGeom prst="roundRect">
              <a:avLst>
                <a:gd fmla="val 977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5"/>
          <p:cNvGrpSpPr/>
          <p:nvPr/>
        </p:nvGrpSpPr>
        <p:grpSpPr>
          <a:xfrm>
            <a:off x="776748" y="781050"/>
            <a:ext cx="10638504" cy="5295900"/>
            <a:chOff x="776748" y="781050"/>
            <a:chExt cx="10638504" cy="5295900"/>
          </a:xfrm>
        </p:grpSpPr>
        <p:sp>
          <p:nvSpPr>
            <p:cNvPr id="226" name="Google Shape;226;p5"/>
            <p:cNvSpPr/>
            <p:nvPr/>
          </p:nvSpPr>
          <p:spPr>
            <a:xfrm>
              <a:off x="776748" y="781050"/>
              <a:ext cx="10638504" cy="52959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" name="Google Shape;227;p5"/>
            <p:cNvGrpSpPr/>
            <p:nvPr/>
          </p:nvGrpSpPr>
          <p:grpSpPr>
            <a:xfrm>
              <a:off x="1006726" y="954292"/>
              <a:ext cx="10229310" cy="4949417"/>
              <a:chOff x="1006726" y="994182"/>
              <a:chExt cx="10229310" cy="4949417"/>
            </a:xfrm>
          </p:grpSpPr>
          <p:grpSp>
            <p:nvGrpSpPr>
              <p:cNvPr id="228" name="Google Shape;228;p5"/>
              <p:cNvGrpSpPr/>
              <p:nvPr/>
            </p:nvGrpSpPr>
            <p:grpSpPr>
              <a:xfrm>
                <a:off x="1006726" y="994182"/>
                <a:ext cx="5295752" cy="4949417"/>
                <a:chOff x="1048291" y="994182"/>
                <a:chExt cx="5295752" cy="4949417"/>
              </a:xfrm>
            </p:grpSpPr>
            <p:sp>
              <p:nvSpPr>
                <p:cNvPr id="229" name="Google Shape;229;p5"/>
                <p:cNvSpPr/>
                <p:nvPr/>
              </p:nvSpPr>
              <p:spPr>
                <a:xfrm>
                  <a:off x="1048291" y="994182"/>
                  <a:ext cx="5295752" cy="4949417"/>
                </a:xfrm>
                <a:prstGeom prst="roundRect">
                  <a:avLst>
                    <a:gd fmla="val 8999" name="adj"/>
                  </a:avLst>
                </a:prstGeom>
                <a:solidFill>
                  <a:srgbClr val="025698">
                    <a:alpha val="5098"/>
                  </a:srgbClr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5"/>
                <p:cNvSpPr txBox="1"/>
                <p:nvPr/>
              </p:nvSpPr>
              <p:spPr>
                <a:xfrm>
                  <a:off x="2506579" y="2930281"/>
                  <a:ext cx="2379177" cy="12003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US" sz="3600">
                      <a:solidFill>
                        <a:srgbClr val="025698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Excel </a:t>
                  </a:r>
                  <a:br>
                    <a:rPr i="1" lang="en-US" sz="3600">
                      <a:solidFill>
                        <a:srgbClr val="025698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</a:br>
                  <a:r>
                    <a:rPr i="1" lang="en-US" sz="3600">
                      <a:solidFill>
                        <a:srgbClr val="025698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Interface</a:t>
                  </a:r>
                  <a:endParaRPr/>
                </a:p>
              </p:txBody>
            </p:sp>
            <p:sp>
              <p:nvSpPr>
                <p:cNvPr id="231" name="Google Shape;231;p5"/>
                <p:cNvSpPr txBox="1"/>
                <p:nvPr/>
              </p:nvSpPr>
              <p:spPr>
                <a:xfrm>
                  <a:off x="2460893" y="1640090"/>
                  <a:ext cx="2470548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US" sz="2000">
                      <a:solidFill>
                        <a:srgbClr val="595959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Let’s Start With… </a:t>
                  </a:r>
                  <a:endParaRPr/>
                </a:p>
              </p:txBody>
            </p:sp>
          </p:grpSp>
          <p:pic>
            <p:nvPicPr>
              <p:cNvPr id="232" name="Google Shape;232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21215" r="0" t="0"/>
              <a:stretch/>
            </p:blipFill>
            <p:spPr>
              <a:xfrm>
                <a:off x="6477000" y="1052657"/>
                <a:ext cx="4759036" cy="4832466"/>
              </a:xfrm>
              <a:prstGeom prst="roundRect">
                <a:avLst>
                  <a:gd fmla="val 9490" name="adj"/>
                </a:avLst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6"/>
          <p:cNvGrpSpPr/>
          <p:nvPr/>
        </p:nvGrpSpPr>
        <p:grpSpPr>
          <a:xfrm>
            <a:off x="2689412" y="0"/>
            <a:ext cx="6813176" cy="882869"/>
            <a:chOff x="2689412" y="0"/>
            <a:chExt cx="6813176" cy="882869"/>
          </a:xfrm>
        </p:grpSpPr>
        <p:sp>
          <p:nvSpPr>
            <p:cNvPr id="238" name="Google Shape;238;p6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"/>
            <p:cNvSpPr txBox="1"/>
            <p:nvPr/>
          </p:nvSpPr>
          <p:spPr>
            <a:xfrm>
              <a:off x="2689412" y="118292"/>
              <a:ext cx="6813176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Excel Ribbons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and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Tabs</a:t>
              </a:r>
              <a:endParaRPr/>
            </a:p>
          </p:txBody>
        </p:sp>
      </p:grpSp>
      <p:grpSp>
        <p:nvGrpSpPr>
          <p:cNvPr id="240" name="Google Shape;240;p6"/>
          <p:cNvGrpSpPr/>
          <p:nvPr/>
        </p:nvGrpSpPr>
        <p:grpSpPr>
          <a:xfrm>
            <a:off x="776748" y="1181100"/>
            <a:ext cx="10638504" cy="5033462"/>
            <a:chOff x="776748" y="1181100"/>
            <a:chExt cx="10638504" cy="5033462"/>
          </a:xfrm>
        </p:grpSpPr>
        <p:sp>
          <p:nvSpPr>
            <p:cNvPr id="241" name="Google Shape;241;p6"/>
            <p:cNvSpPr/>
            <p:nvPr/>
          </p:nvSpPr>
          <p:spPr>
            <a:xfrm>
              <a:off x="776748" y="1181100"/>
              <a:ext cx="10638504" cy="5033462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6"/>
            <p:cNvGrpSpPr/>
            <p:nvPr/>
          </p:nvGrpSpPr>
          <p:grpSpPr>
            <a:xfrm>
              <a:off x="1006842" y="1503820"/>
              <a:ext cx="10178317" cy="4388023"/>
              <a:chOff x="1037480" y="1555577"/>
              <a:chExt cx="10178317" cy="4388023"/>
            </a:xfrm>
          </p:grpSpPr>
          <p:grpSp>
            <p:nvGrpSpPr>
              <p:cNvPr id="243" name="Google Shape;243;p6"/>
              <p:cNvGrpSpPr/>
              <p:nvPr/>
            </p:nvGrpSpPr>
            <p:grpSpPr>
              <a:xfrm>
                <a:off x="1037480" y="1555577"/>
                <a:ext cx="10087720" cy="1158126"/>
                <a:chOff x="1037480" y="1555577"/>
                <a:chExt cx="10087720" cy="1158126"/>
              </a:xfrm>
            </p:grpSpPr>
            <p:sp>
              <p:nvSpPr>
                <p:cNvPr id="244" name="Google Shape;244;p6"/>
                <p:cNvSpPr/>
                <p:nvPr/>
              </p:nvSpPr>
              <p:spPr>
                <a:xfrm>
                  <a:off x="1187927" y="1555577"/>
                  <a:ext cx="9937273" cy="1158126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5" name="Google Shape;245;p6"/>
                <p:cNvGrpSpPr/>
                <p:nvPr/>
              </p:nvGrpSpPr>
              <p:grpSpPr>
                <a:xfrm>
                  <a:off x="1037480" y="1949975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246" name="Google Shape;246;p6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7" name="Google Shape;247;p6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  <p:grpSp>
              <p:nvGrpSpPr>
                <p:cNvPr id="248" name="Google Shape;248;p6"/>
                <p:cNvGrpSpPr/>
                <p:nvPr/>
              </p:nvGrpSpPr>
              <p:grpSpPr>
                <a:xfrm>
                  <a:off x="1590534" y="1783466"/>
                  <a:ext cx="9404037" cy="672851"/>
                  <a:chOff x="1590534" y="1761502"/>
                  <a:chExt cx="9404037" cy="672851"/>
                </a:xfrm>
              </p:grpSpPr>
              <p:sp>
                <p:nvSpPr>
                  <p:cNvPr id="249" name="Google Shape;249;p6"/>
                  <p:cNvSpPr txBox="1"/>
                  <p:nvPr/>
                </p:nvSpPr>
                <p:spPr>
                  <a:xfrm>
                    <a:off x="1590534" y="1761502"/>
                    <a:ext cx="4505466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Ribbons :</a:t>
                    </a:r>
                    <a:endParaRPr/>
                  </a:p>
                </p:txBody>
              </p:sp>
              <p:sp>
                <p:nvSpPr>
                  <p:cNvPr id="250" name="Google Shape;250;p6"/>
                  <p:cNvSpPr txBox="1"/>
                  <p:nvPr/>
                </p:nvSpPr>
                <p:spPr>
                  <a:xfrm>
                    <a:off x="1590534" y="2095799"/>
                    <a:ext cx="9404037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285750" lvl="0" marL="28575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95959"/>
                      </a:buClr>
                      <a:buSzPts val="1600"/>
                      <a:buFont typeface="Arial"/>
                      <a:buChar char="•"/>
                    </a:pPr>
                    <a:r>
                      <a:rPr lang="en-US" sz="16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The Ribbon is the horizontal strip containing all the tools and commands in Excel.</a:t>
                    </a:r>
                    <a:endParaRPr/>
                  </a:p>
                </p:txBody>
              </p:sp>
            </p:grpSp>
          </p:grpSp>
          <p:grpSp>
            <p:nvGrpSpPr>
              <p:cNvPr id="251" name="Google Shape;251;p6"/>
              <p:cNvGrpSpPr/>
              <p:nvPr/>
            </p:nvGrpSpPr>
            <p:grpSpPr>
              <a:xfrm>
                <a:off x="1037480" y="3018503"/>
                <a:ext cx="10087720" cy="1462172"/>
                <a:chOff x="1037480" y="1403554"/>
                <a:chExt cx="10087720" cy="1462172"/>
              </a:xfrm>
            </p:grpSpPr>
            <p:sp>
              <p:nvSpPr>
                <p:cNvPr id="252" name="Google Shape;252;p6"/>
                <p:cNvSpPr/>
                <p:nvPr/>
              </p:nvSpPr>
              <p:spPr>
                <a:xfrm>
                  <a:off x="1187927" y="1403554"/>
                  <a:ext cx="9937273" cy="1462172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3" name="Google Shape;253;p6"/>
                <p:cNvGrpSpPr/>
                <p:nvPr/>
              </p:nvGrpSpPr>
              <p:grpSpPr>
                <a:xfrm>
                  <a:off x="1037480" y="1949975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254" name="Google Shape;254;p6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" name="Google Shape;255;p6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  <p:grpSp>
              <p:nvGrpSpPr>
                <p:cNvPr id="256" name="Google Shape;256;p6"/>
                <p:cNvGrpSpPr/>
                <p:nvPr/>
              </p:nvGrpSpPr>
              <p:grpSpPr>
                <a:xfrm>
                  <a:off x="1590534" y="1783466"/>
                  <a:ext cx="9404037" cy="825459"/>
                  <a:chOff x="1590534" y="1761502"/>
                  <a:chExt cx="9404037" cy="825459"/>
                </a:xfrm>
              </p:grpSpPr>
              <p:sp>
                <p:nvSpPr>
                  <p:cNvPr id="257" name="Google Shape;257;p6"/>
                  <p:cNvSpPr txBox="1"/>
                  <p:nvPr/>
                </p:nvSpPr>
                <p:spPr>
                  <a:xfrm>
                    <a:off x="1590534" y="1761502"/>
                    <a:ext cx="4505466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8F7C0B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Tabs : </a:t>
                    </a:r>
                    <a:endParaRPr/>
                  </a:p>
                </p:txBody>
              </p:sp>
              <p:sp>
                <p:nvSpPr>
                  <p:cNvPr id="258" name="Google Shape;258;p6"/>
                  <p:cNvSpPr txBox="1"/>
                  <p:nvPr/>
                </p:nvSpPr>
                <p:spPr>
                  <a:xfrm>
                    <a:off x="1590534" y="2002186"/>
                    <a:ext cx="9404037" cy="5847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285750" lvl="0" marL="28575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95959"/>
                      </a:buClr>
                      <a:buSzPts val="1600"/>
                      <a:buFont typeface="Arial"/>
                      <a:buChar char="•"/>
                    </a:pPr>
                    <a:r>
                      <a:rPr lang="en-US" sz="16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Most common Tabs used are Home, Insert, Page Layout, Formulas, Data, </a:t>
                    </a:r>
                    <a:endParaRPr/>
                  </a:p>
                  <a:p>
                    <a:pPr indent="-285750" lvl="0" marL="28575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95959"/>
                      </a:buClr>
                      <a:buSzPts val="1600"/>
                      <a:buFont typeface="Arial"/>
                      <a:buChar char="•"/>
                    </a:pPr>
                    <a:r>
                      <a:rPr lang="en-US" sz="16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Organize commands into logical groups.</a:t>
                    </a:r>
                    <a:endParaRPr/>
                  </a:p>
                </p:txBody>
              </p:sp>
            </p:grpSp>
          </p:grpSp>
          <p:grpSp>
            <p:nvGrpSpPr>
              <p:cNvPr id="259" name="Google Shape;259;p6"/>
              <p:cNvGrpSpPr/>
              <p:nvPr/>
            </p:nvGrpSpPr>
            <p:grpSpPr>
              <a:xfrm>
                <a:off x="1037480" y="4785474"/>
                <a:ext cx="10178317" cy="1158126"/>
                <a:chOff x="1037480" y="1555577"/>
                <a:chExt cx="10178317" cy="1158126"/>
              </a:xfrm>
            </p:grpSpPr>
            <p:sp>
              <p:nvSpPr>
                <p:cNvPr id="260" name="Google Shape;260;p6"/>
                <p:cNvSpPr/>
                <p:nvPr/>
              </p:nvSpPr>
              <p:spPr>
                <a:xfrm>
                  <a:off x="1187927" y="1555577"/>
                  <a:ext cx="9937273" cy="1158126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61" name="Google Shape;261;p6"/>
                <p:cNvGrpSpPr/>
                <p:nvPr/>
              </p:nvGrpSpPr>
              <p:grpSpPr>
                <a:xfrm>
                  <a:off x="1037480" y="1949975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262" name="Google Shape;262;p6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" name="Google Shape;263;p6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  <p:grpSp>
              <p:nvGrpSpPr>
                <p:cNvPr id="264" name="Google Shape;264;p6"/>
                <p:cNvGrpSpPr/>
                <p:nvPr/>
              </p:nvGrpSpPr>
              <p:grpSpPr>
                <a:xfrm>
                  <a:off x="1590534" y="1724472"/>
                  <a:ext cx="9625263" cy="884453"/>
                  <a:chOff x="1590534" y="1702508"/>
                  <a:chExt cx="9625263" cy="884453"/>
                </a:xfrm>
              </p:grpSpPr>
              <p:sp>
                <p:nvSpPr>
                  <p:cNvPr id="265" name="Google Shape;265;p6"/>
                  <p:cNvSpPr txBox="1"/>
                  <p:nvPr/>
                </p:nvSpPr>
                <p:spPr>
                  <a:xfrm>
                    <a:off x="1590534" y="1702508"/>
                    <a:ext cx="4505466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Quick Access Toolbar : </a:t>
                    </a:r>
                    <a:endParaRPr/>
                  </a:p>
                </p:txBody>
              </p:sp>
              <p:sp>
                <p:nvSpPr>
                  <p:cNvPr id="266" name="Google Shape;266;p6"/>
                  <p:cNvSpPr txBox="1"/>
                  <p:nvPr/>
                </p:nvSpPr>
                <p:spPr>
                  <a:xfrm>
                    <a:off x="1590534" y="2002186"/>
                    <a:ext cx="9625263" cy="5847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285750" lvl="0" marL="28575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95959"/>
                      </a:buClr>
                      <a:buSzPts val="1600"/>
                      <a:buFont typeface="Arial"/>
                      <a:buChar char="•"/>
                    </a:pPr>
                    <a:r>
                      <a:rPr lang="en-US" sz="16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The </a:t>
                    </a:r>
                    <a:r>
                      <a:rPr lang="en-US" sz="1600">
                        <a:solidFill>
                          <a:srgbClr val="123F7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Quick Access </a:t>
                    </a:r>
                    <a:r>
                      <a:rPr lang="en-US" sz="16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Toolbar is a small, customizable toolbar in Excel.</a:t>
                    </a:r>
                    <a:endParaRPr/>
                  </a:p>
                  <a:p>
                    <a:pPr indent="-285750" lvl="0" marL="28575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95959"/>
                      </a:buClr>
                      <a:buSzPts val="1600"/>
                      <a:buFont typeface="Arial"/>
                      <a:buChar char="•"/>
                    </a:pPr>
                    <a:r>
                      <a:rPr lang="en-US" sz="16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It gives you </a:t>
                    </a:r>
                    <a:r>
                      <a:rPr lang="en-US" sz="1600">
                        <a:solidFill>
                          <a:srgbClr val="123F7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one-click access </a:t>
                    </a:r>
                    <a:r>
                      <a:rPr lang="en-US" sz="16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to commands you use frequently, without switching tabs.</a:t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"/>
          <p:cNvSpPr/>
          <p:nvPr/>
        </p:nvSpPr>
        <p:spPr>
          <a:xfrm>
            <a:off x="776748" y="675681"/>
            <a:ext cx="10638504" cy="5506639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" name="Google Shape;272;p7"/>
          <p:cNvGrpSpPr/>
          <p:nvPr/>
        </p:nvGrpSpPr>
        <p:grpSpPr>
          <a:xfrm>
            <a:off x="1728591" y="834430"/>
            <a:ext cx="8605722" cy="5109170"/>
            <a:chOff x="292221" y="47850"/>
            <a:chExt cx="8246202" cy="4895725"/>
          </a:xfrm>
        </p:grpSpPr>
        <p:pic>
          <p:nvPicPr>
            <p:cNvPr id="273" name="Google Shape;27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6750" y="538125"/>
              <a:ext cx="7981673" cy="4405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7"/>
            <p:cNvSpPr/>
            <p:nvPr/>
          </p:nvSpPr>
          <p:spPr>
            <a:xfrm>
              <a:off x="292221" y="47850"/>
              <a:ext cx="2083959" cy="413100"/>
            </a:xfrm>
            <a:prstGeom prst="wedgeRoundRectCallout">
              <a:avLst>
                <a:gd fmla="val -21726" name="adj1"/>
                <a:gd fmla="val 75254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Quick Access Toolbar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578500" y="689425"/>
              <a:ext cx="3110100" cy="239100"/>
            </a:xfrm>
            <a:prstGeom prst="rect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2677275" y="91350"/>
              <a:ext cx="1283100" cy="369600"/>
            </a:xfrm>
            <a:prstGeom prst="wedgeRoundRectCallout">
              <a:avLst>
                <a:gd fmla="val -20341" name="adj1"/>
                <a:gd fmla="val 108874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Menu Tabs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4819650" y="1102800"/>
              <a:ext cx="1881000" cy="369600"/>
            </a:xfrm>
            <a:prstGeom prst="wedgeRoundRectCallout">
              <a:avLst>
                <a:gd fmla="val -20433" name="adj1"/>
                <a:gd fmla="val 85335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Column Number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3058200" y="1842000"/>
              <a:ext cx="1283100" cy="369600"/>
            </a:xfrm>
            <a:prstGeom prst="wedgeRoundRectCallout">
              <a:avLst>
                <a:gd fmla="val -51724" name="adj1"/>
                <a:gd fmla="val -138237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Formula Bar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415925" y="1015525"/>
              <a:ext cx="1283100" cy="282600"/>
            </a:xfrm>
            <a:prstGeom prst="wedgeRoundRectCallout">
              <a:avLst>
                <a:gd fmla="val -20433" name="adj1"/>
                <a:gd fmla="val 85335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Name Box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1535500" y="1733400"/>
              <a:ext cx="1283100" cy="369600"/>
            </a:xfrm>
            <a:prstGeom prst="wedgeRoundRectCallout">
              <a:avLst>
                <a:gd fmla="val -89837" name="adj1"/>
                <a:gd fmla="val -41186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Active Cell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970525" y="2202150"/>
              <a:ext cx="1283100" cy="510000"/>
            </a:xfrm>
            <a:prstGeom prst="wedgeRoundRectCallout">
              <a:avLst>
                <a:gd fmla="val -72077" name="adj1"/>
                <a:gd fmla="val 11458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Row Number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4211025" y="460950"/>
              <a:ext cx="1283100" cy="369600"/>
            </a:xfrm>
            <a:prstGeom prst="wedgeRoundRectCallout">
              <a:avLst>
                <a:gd fmla="val -98348" name="adj1"/>
                <a:gd fmla="val 111851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Ribbons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872175" y="4136750"/>
              <a:ext cx="1805100" cy="369600"/>
            </a:xfrm>
            <a:prstGeom prst="wedgeRoundRectCallout">
              <a:avLst>
                <a:gd fmla="val -33135" name="adj1"/>
                <a:gd fmla="val 97051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Worksheet Tab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"/>
          <p:cNvSpPr/>
          <p:nvPr/>
        </p:nvSpPr>
        <p:spPr>
          <a:xfrm>
            <a:off x="776748" y="1219200"/>
            <a:ext cx="10638504" cy="49631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8"/>
          <p:cNvGrpSpPr/>
          <p:nvPr/>
        </p:nvGrpSpPr>
        <p:grpSpPr>
          <a:xfrm>
            <a:off x="3727938" y="0"/>
            <a:ext cx="4736124" cy="882869"/>
            <a:chOff x="2733368" y="0"/>
            <a:chExt cx="6725264" cy="882869"/>
          </a:xfrm>
        </p:grpSpPr>
        <p:sp>
          <p:nvSpPr>
            <p:cNvPr id="290" name="Google Shape;290;p8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8"/>
            <p:cNvSpPr txBox="1"/>
            <p:nvPr/>
          </p:nvSpPr>
          <p:spPr>
            <a:xfrm>
              <a:off x="3880338" y="118292"/>
              <a:ext cx="4431324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Home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Tab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292" name="Google Shape;292;p8"/>
          <p:cNvGrpSpPr/>
          <p:nvPr/>
        </p:nvGrpSpPr>
        <p:grpSpPr>
          <a:xfrm>
            <a:off x="894404" y="1828801"/>
            <a:ext cx="10513728" cy="3482992"/>
            <a:chOff x="155850" y="1565175"/>
            <a:chExt cx="8832400" cy="2926001"/>
          </a:xfrm>
        </p:grpSpPr>
        <p:pic>
          <p:nvPicPr>
            <p:cNvPr id="293" name="Google Shape;293;p8" title="Screenshot 2025-09-19 123055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850" y="1935420"/>
              <a:ext cx="8832299" cy="25557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8"/>
            <p:cNvSpPr/>
            <p:nvPr/>
          </p:nvSpPr>
          <p:spPr>
            <a:xfrm>
              <a:off x="155850" y="3157875"/>
              <a:ext cx="1370100" cy="572700"/>
            </a:xfrm>
            <a:prstGeom prst="wedgeRoundRectCallout">
              <a:avLst>
                <a:gd fmla="val -30952" name="adj1"/>
                <a:gd fmla="val -104550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Cut, Copy, Paste of selected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2307675" y="3005625"/>
              <a:ext cx="1370100" cy="572700"/>
            </a:xfrm>
            <a:prstGeom prst="wedgeRoundRectCallout">
              <a:avLst>
                <a:gd fmla="val -25409" name="adj1"/>
                <a:gd fmla="val -72782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Alignment of content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1024350" y="1565175"/>
              <a:ext cx="1370100" cy="572700"/>
            </a:xfrm>
            <a:prstGeom prst="wedgeRoundRectCallout">
              <a:avLst>
                <a:gd fmla="val -24628" name="adj1"/>
                <a:gd fmla="val 75214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change of Font color, style and size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1024350" y="2287925"/>
              <a:ext cx="1098600" cy="5727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3493075" y="2285400"/>
              <a:ext cx="782700" cy="5727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2122975" y="2285400"/>
              <a:ext cx="1370100" cy="5727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155850" y="2285400"/>
              <a:ext cx="847800" cy="5727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6918500" y="3005625"/>
              <a:ext cx="2069700" cy="717600"/>
            </a:xfrm>
            <a:prstGeom prst="wedgeRoundRectCallout">
              <a:avLst>
                <a:gd fmla="val -25409" name="adj1"/>
                <a:gd fmla="val -72782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inserting, deleting and formatting of cells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4493375" y="1565175"/>
              <a:ext cx="1370100" cy="572700"/>
            </a:xfrm>
            <a:prstGeom prst="wedgeRoundRectCallout">
              <a:avLst>
                <a:gd fmla="val -24628" name="adj1"/>
                <a:gd fmla="val 75214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applying formatting to the selected ones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6646325" y="1565175"/>
              <a:ext cx="2341800" cy="572700"/>
            </a:xfrm>
            <a:prstGeom prst="wedgeRoundRectCallout">
              <a:avLst>
                <a:gd fmla="val 18724" name="adj1"/>
                <a:gd fmla="val 78099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find &amp; select or for sort &amp; filter of any text. Also for aggregate functions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3927775" y="3277625"/>
              <a:ext cx="2892600" cy="572700"/>
            </a:xfrm>
            <a:prstGeom prst="wedgeRoundRectCallout">
              <a:avLst>
                <a:gd fmla="val -52256" name="adj1"/>
                <a:gd fmla="val -124075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changing datatypes, currency and also for changing number of digits after decimal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4275775" y="2287925"/>
              <a:ext cx="2642700" cy="5727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6973150" y="2285400"/>
              <a:ext cx="782700" cy="5727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7755850" y="2285400"/>
              <a:ext cx="1232400" cy="5727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/>
          <p:nvPr/>
        </p:nvSpPr>
        <p:spPr>
          <a:xfrm>
            <a:off x="776748" y="1219200"/>
            <a:ext cx="10638504" cy="49631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9"/>
          <p:cNvGrpSpPr/>
          <p:nvPr/>
        </p:nvGrpSpPr>
        <p:grpSpPr>
          <a:xfrm>
            <a:off x="961833" y="1714517"/>
            <a:ext cx="10268334" cy="3934387"/>
            <a:chOff x="203200" y="1982900"/>
            <a:chExt cx="11785597" cy="4515738"/>
          </a:xfrm>
        </p:grpSpPr>
        <p:pic>
          <p:nvPicPr>
            <p:cNvPr id="314" name="Google Shape;314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3200" y="2784351"/>
              <a:ext cx="11785597" cy="3714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9"/>
            <p:cNvSpPr/>
            <p:nvPr/>
          </p:nvSpPr>
          <p:spPr>
            <a:xfrm>
              <a:off x="323800" y="4394033"/>
              <a:ext cx="1826800" cy="763600"/>
            </a:xfrm>
            <a:prstGeom prst="wedgeRoundRectCallout">
              <a:avLst>
                <a:gd fmla="val -30952" name="adj1"/>
                <a:gd fmla="val -104550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adding Table, Pivot Tables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5848100" y="1982900"/>
              <a:ext cx="1826800" cy="763600"/>
            </a:xfrm>
            <a:prstGeom prst="wedgeRoundRectCallout">
              <a:avLst>
                <a:gd fmla="val 57031" name="adj1"/>
                <a:gd fmla="val 114506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inserting Sparklines on charts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9835533" y="4616900"/>
              <a:ext cx="1826800" cy="763600"/>
            </a:xfrm>
            <a:prstGeom prst="wedgeRoundRectCallout">
              <a:avLst>
                <a:gd fmla="val 9397" name="adj1"/>
                <a:gd fmla="val -131705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inserting Equations, Symbols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7544900" y="4616884"/>
              <a:ext cx="1826800" cy="763600"/>
            </a:xfrm>
            <a:prstGeom prst="wedgeRoundRectCallout">
              <a:avLst>
                <a:gd fmla="val 33990" name="adj1"/>
                <a:gd fmla="val -146890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inserting slicer to the table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8687767" y="1982900"/>
              <a:ext cx="3175200" cy="763600"/>
            </a:xfrm>
            <a:prstGeom prst="wedgeRoundRectCallout">
              <a:avLst>
                <a:gd fmla="val 644" name="adj1"/>
                <a:gd fmla="val 120203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inserting Text Box, Signature, Header &amp; Footer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4863600" y="4394033"/>
              <a:ext cx="1826800" cy="763600"/>
            </a:xfrm>
            <a:prstGeom prst="wedgeRoundRectCallout">
              <a:avLst>
                <a:gd fmla="val 15681" name="adj1"/>
                <a:gd fmla="val -94923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inserting different charts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568367" y="1982901"/>
              <a:ext cx="4001600" cy="763600"/>
            </a:xfrm>
            <a:prstGeom prst="wedgeRoundRectCallout">
              <a:avLst>
                <a:gd fmla="val 1450" name="adj1"/>
                <a:gd fmla="val 118304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inserting Pictures, shapes, Icons, SmartArt Graphics, 3D Models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205900" y="3311567"/>
              <a:ext cx="1420800" cy="6960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1626700" y="3311567"/>
              <a:ext cx="1594800" cy="6960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5067817" y="3311567"/>
              <a:ext cx="2147200" cy="6960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7544900" y="3333700"/>
              <a:ext cx="1084800" cy="6960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8571867" y="3333700"/>
              <a:ext cx="761200" cy="6960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9391100" y="3333700"/>
              <a:ext cx="1298800" cy="6960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10689900" y="3333700"/>
              <a:ext cx="1298800" cy="6960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9"/>
          <p:cNvGrpSpPr/>
          <p:nvPr/>
        </p:nvGrpSpPr>
        <p:grpSpPr>
          <a:xfrm>
            <a:off x="3727938" y="0"/>
            <a:ext cx="4736124" cy="882869"/>
            <a:chOff x="2733368" y="0"/>
            <a:chExt cx="6725264" cy="882869"/>
          </a:xfrm>
        </p:grpSpPr>
        <p:sp>
          <p:nvSpPr>
            <p:cNvPr id="330" name="Google Shape;330;p9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3880338" y="118292"/>
              <a:ext cx="4431324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Insert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Tab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10"/>
          <p:cNvGrpSpPr/>
          <p:nvPr/>
        </p:nvGrpSpPr>
        <p:grpSpPr>
          <a:xfrm>
            <a:off x="3727938" y="0"/>
            <a:ext cx="4736124" cy="882869"/>
            <a:chOff x="2733368" y="0"/>
            <a:chExt cx="6725264" cy="882869"/>
          </a:xfrm>
        </p:grpSpPr>
        <p:sp>
          <p:nvSpPr>
            <p:cNvPr id="337" name="Google Shape;337;p10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0"/>
            <p:cNvSpPr txBox="1"/>
            <p:nvPr/>
          </p:nvSpPr>
          <p:spPr>
            <a:xfrm>
              <a:off x="3880338" y="118292"/>
              <a:ext cx="4431324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Data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Tab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sp>
        <p:nvSpPr>
          <p:cNvPr id="339" name="Google Shape;339;p10"/>
          <p:cNvSpPr/>
          <p:nvPr/>
        </p:nvSpPr>
        <p:spPr>
          <a:xfrm>
            <a:off x="776748" y="1219200"/>
            <a:ext cx="10638504" cy="49631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10"/>
          <p:cNvGrpSpPr/>
          <p:nvPr/>
        </p:nvGrpSpPr>
        <p:grpSpPr>
          <a:xfrm>
            <a:off x="784337" y="1822892"/>
            <a:ext cx="10629788" cy="3717637"/>
            <a:chOff x="203201" y="2214900"/>
            <a:chExt cx="11785601" cy="4121868"/>
          </a:xfrm>
        </p:grpSpPr>
        <p:pic>
          <p:nvPicPr>
            <p:cNvPr id="341" name="Google Shape;34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3201" y="3149467"/>
              <a:ext cx="11785601" cy="3187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10"/>
            <p:cNvSpPr/>
            <p:nvPr/>
          </p:nvSpPr>
          <p:spPr>
            <a:xfrm>
              <a:off x="347406" y="2214900"/>
              <a:ext cx="3755893" cy="763600"/>
            </a:xfrm>
            <a:prstGeom prst="wedgeRoundRectCallout">
              <a:avLst>
                <a:gd fmla="val 1155" name="adj1"/>
                <a:gd fmla="val 122101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Getting and Transforming of data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43" name="Google Shape;343;p10"/>
            <p:cNvSpPr/>
            <p:nvPr/>
          </p:nvSpPr>
          <p:spPr>
            <a:xfrm>
              <a:off x="5193733" y="2385867"/>
              <a:ext cx="4001600" cy="763600"/>
            </a:xfrm>
            <a:prstGeom prst="wedgeRoundRectCallout">
              <a:avLst>
                <a:gd fmla="val 1450" name="adj1"/>
                <a:gd fmla="val 118304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This Group helps to convert text to columns, flash fill, Remove duplicates and applying Data validation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44" name="Google Shape;344;p10"/>
            <p:cNvSpPr/>
            <p:nvPr/>
          </p:nvSpPr>
          <p:spPr>
            <a:xfrm>
              <a:off x="1307800" y="5173100"/>
              <a:ext cx="3015600" cy="763600"/>
            </a:xfrm>
            <a:prstGeom prst="wedgeRoundRectCallout">
              <a:avLst>
                <a:gd fmla="val 58325" name="adj1"/>
                <a:gd fmla="val -158971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sort and Filter of data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45" name="Google Shape;345;p10"/>
            <p:cNvSpPr/>
            <p:nvPr/>
          </p:nvSpPr>
          <p:spPr>
            <a:xfrm>
              <a:off x="7644500" y="5086333"/>
              <a:ext cx="4001600" cy="763600"/>
            </a:xfrm>
            <a:prstGeom prst="wedgeRoundRectCallout">
              <a:avLst>
                <a:gd fmla="val 4695" name="adj1"/>
                <a:gd fmla="val -143814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 Forecasting and Grouping and Ungrouping of rows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46" name="Google Shape;346;p10"/>
            <p:cNvSpPr/>
            <p:nvPr/>
          </p:nvSpPr>
          <p:spPr>
            <a:xfrm>
              <a:off x="212600" y="3601533"/>
              <a:ext cx="2269600" cy="7636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0"/>
            <p:cNvSpPr/>
            <p:nvPr/>
          </p:nvSpPr>
          <p:spPr>
            <a:xfrm>
              <a:off x="7962833" y="3650617"/>
              <a:ext cx="2269600" cy="7636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0"/>
            <p:cNvSpPr/>
            <p:nvPr/>
          </p:nvSpPr>
          <p:spPr>
            <a:xfrm>
              <a:off x="5519633" y="3650633"/>
              <a:ext cx="2443200" cy="7636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0"/>
            <p:cNvSpPr/>
            <p:nvPr/>
          </p:nvSpPr>
          <p:spPr>
            <a:xfrm>
              <a:off x="4019233" y="3668033"/>
              <a:ext cx="1500400" cy="7636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"/>
          <p:cNvSpPr/>
          <p:nvPr/>
        </p:nvSpPr>
        <p:spPr>
          <a:xfrm>
            <a:off x="776748" y="1219200"/>
            <a:ext cx="10638504" cy="49631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" name="Google Shape;355;p11"/>
          <p:cNvGrpSpPr/>
          <p:nvPr/>
        </p:nvGrpSpPr>
        <p:grpSpPr>
          <a:xfrm>
            <a:off x="6128969" y="1411463"/>
            <a:ext cx="4996231" cy="4540494"/>
            <a:chOff x="5179400" y="1444200"/>
            <a:chExt cx="5605992" cy="5094635"/>
          </a:xfrm>
        </p:grpSpPr>
        <p:pic>
          <p:nvPicPr>
            <p:cNvPr id="356" name="Google Shape;35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79400" y="1444200"/>
              <a:ext cx="5605992" cy="5094635"/>
            </a:xfrm>
            <a:prstGeom prst="roundRect">
              <a:avLst>
                <a:gd fmla="val 4011" name="adj"/>
              </a:avLst>
            </a:prstGeom>
            <a:noFill/>
            <a:ln>
              <a:noFill/>
            </a:ln>
          </p:spPr>
        </p:pic>
        <p:sp>
          <p:nvSpPr>
            <p:cNvPr id="357" name="Google Shape;357;p11"/>
            <p:cNvSpPr/>
            <p:nvPr/>
          </p:nvSpPr>
          <p:spPr>
            <a:xfrm>
              <a:off x="5599797" y="2760600"/>
              <a:ext cx="1652400" cy="406000"/>
            </a:xfrm>
            <a:prstGeom prst="wedgeRoundRectCallout">
              <a:avLst>
                <a:gd fmla="val -20621" name="adj1"/>
                <a:gd fmla="val 96420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Name Box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8325467" y="2760600"/>
              <a:ext cx="2319600" cy="406000"/>
            </a:xfrm>
            <a:prstGeom prst="wedgeRoundRectCallout">
              <a:avLst>
                <a:gd fmla="val -20621" name="adj1"/>
                <a:gd fmla="val 96420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Formula Bar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359" name="Google Shape;359;p11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360" name="Google Shape;360;p11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1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Name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Box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and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Formula Bar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362" name="Google Shape;362;p11"/>
          <p:cNvGrpSpPr/>
          <p:nvPr/>
        </p:nvGrpSpPr>
        <p:grpSpPr>
          <a:xfrm>
            <a:off x="1037480" y="1436742"/>
            <a:ext cx="4941289" cy="4489937"/>
            <a:chOff x="1037480" y="1578727"/>
            <a:chExt cx="4941289" cy="4564621"/>
          </a:xfrm>
        </p:grpSpPr>
        <p:grpSp>
          <p:nvGrpSpPr>
            <p:cNvPr id="363" name="Google Shape;363;p11"/>
            <p:cNvGrpSpPr/>
            <p:nvPr/>
          </p:nvGrpSpPr>
          <p:grpSpPr>
            <a:xfrm>
              <a:off x="1037480" y="1578727"/>
              <a:ext cx="4941289" cy="2194283"/>
              <a:chOff x="1037480" y="1578727"/>
              <a:chExt cx="4941289" cy="2194283"/>
            </a:xfrm>
          </p:grpSpPr>
          <p:sp>
            <p:nvSpPr>
              <p:cNvPr id="364" name="Google Shape;364;p11"/>
              <p:cNvSpPr/>
              <p:nvPr/>
            </p:nvSpPr>
            <p:spPr>
              <a:xfrm>
                <a:off x="1187927" y="1578727"/>
                <a:ext cx="4685335" cy="2194283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1"/>
              <p:cNvSpPr txBox="1"/>
              <p:nvPr/>
            </p:nvSpPr>
            <p:spPr>
              <a:xfrm>
                <a:off x="1721163" y="2239136"/>
                <a:ext cx="4257606" cy="8734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Name Box: </a:t>
                </a:r>
                <a:b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</a:br>
                <a:r>
                  <a:rPr lang="en-US" sz="16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Displays Active Cell Address Or </a:t>
                </a:r>
                <a:br>
                  <a:rPr lang="en-US" sz="16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</a:br>
                <a:r>
                  <a:rPr lang="en-US" sz="16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Named Range.</a:t>
                </a:r>
                <a:endParaRPr/>
              </a:p>
            </p:txBody>
          </p:sp>
          <p:grpSp>
            <p:nvGrpSpPr>
              <p:cNvPr id="366" name="Google Shape;366;p11"/>
              <p:cNvGrpSpPr/>
              <p:nvPr/>
            </p:nvGrpSpPr>
            <p:grpSpPr>
              <a:xfrm>
                <a:off x="1037480" y="2485289"/>
                <a:ext cx="370342" cy="388207"/>
                <a:chOff x="897675" y="1686797"/>
                <a:chExt cx="542600" cy="606903"/>
              </a:xfrm>
            </p:grpSpPr>
            <p:sp>
              <p:nvSpPr>
                <p:cNvPr id="367" name="Google Shape;367;p11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11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369" name="Google Shape;369;p11"/>
            <p:cNvGrpSpPr/>
            <p:nvPr/>
          </p:nvGrpSpPr>
          <p:grpSpPr>
            <a:xfrm>
              <a:off x="1037480" y="3949065"/>
              <a:ext cx="4835782" cy="2194283"/>
              <a:chOff x="1037480" y="1578727"/>
              <a:chExt cx="4835782" cy="2194283"/>
            </a:xfrm>
          </p:grpSpPr>
          <p:sp>
            <p:nvSpPr>
              <p:cNvPr id="370" name="Google Shape;370;p11"/>
              <p:cNvSpPr/>
              <p:nvPr/>
            </p:nvSpPr>
            <p:spPr>
              <a:xfrm>
                <a:off x="1187927" y="1578727"/>
                <a:ext cx="4685335" cy="2194283"/>
              </a:xfrm>
              <a:prstGeom prst="roundRect">
                <a:avLst>
                  <a:gd fmla="val 21261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1"/>
              <p:cNvSpPr txBox="1"/>
              <p:nvPr/>
            </p:nvSpPr>
            <p:spPr>
              <a:xfrm>
                <a:off x="1721163" y="2253459"/>
                <a:ext cx="3167360" cy="8448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8F7C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Formula Bar: </a:t>
                </a:r>
                <a:br>
                  <a:rPr lang="en-US" sz="1600">
                    <a:solidFill>
                      <a:srgbClr val="8F7C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</a:br>
                <a:r>
                  <a:rPr lang="en-US" sz="16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Shows cell content or</a:t>
                </a:r>
                <a:br>
                  <a:rPr lang="en-US" sz="16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</a:br>
                <a:r>
                  <a:rPr lang="en-US" sz="16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active formula.</a:t>
                </a:r>
                <a:endParaRPr/>
              </a:p>
            </p:txBody>
          </p:sp>
          <p:grpSp>
            <p:nvGrpSpPr>
              <p:cNvPr id="372" name="Google Shape;372;p11"/>
              <p:cNvGrpSpPr/>
              <p:nvPr/>
            </p:nvGrpSpPr>
            <p:grpSpPr>
              <a:xfrm>
                <a:off x="1037480" y="2485290"/>
                <a:ext cx="370342" cy="388207"/>
                <a:chOff x="897675" y="1686795"/>
                <a:chExt cx="542600" cy="606902"/>
              </a:xfrm>
            </p:grpSpPr>
            <p:sp>
              <p:nvSpPr>
                <p:cNvPr id="373" name="Google Shape;373;p11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" name="Google Shape;374;p11"/>
                <p:cNvSpPr txBox="1"/>
                <p:nvPr/>
              </p:nvSpPr>
              <p:spPr>
                <a:xfrm>
                  <a:off x="1054249" y="1686795"/>
                  <a:ext cx="240326" cy="606902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"/>
          <p:cNvSpPr/>
          <p:nvPr/>
        </p:nvSpPr>
        <p:spPr>
          <a:xfrm>
            <a:off x="776748" y="1219200"/>
            <a:ext cx="10638504" cy="49631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12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381" name="Google Shape;381;p12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2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Navigating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Worksheets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383" name="Google Shape;383;p12"/>
          <p:cNvGrpSpPr/>
          <p:nvPr/>
        </p:nvGrpSpPr>
        <p:grpSpPr>
          <a:xfrm>
            <a:off x="7030941" y="1366087"/>
            <a:ext cx="4013100" cy="4631246"/>
            <a:chOff x="7958733" y="8652082"/>
            <a:chExt cx="4097634" cy="4728800"/>
          </a:xfrm>
        </p:grpSpPr>
        <p:pic>
          <p:nvPicPr>
            <p:cNvPr id="384" name="Google Shape;38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58733" y="9103382"/>
              <a:ext cx="4030067" cy="4277500"/>
            </a:xfrm>
            <a:prstGeom prst="roundRect">
              <a:avLst>
                <a:gd fmla="val 2565" name="adj"/>
              </a:avLst>
            </a:prstGeom>
            <a:noFill/>
            <a:ln>
              <a:noFill/>
            </a:ln>
          </p:spPr>
        </p:pic>
        <p:sp>
          <p:nvSpPr>
            <p:cNvPr id="385" name="Google Shape;385;p12"/>
            <p:cNvSpPr/>
            <p:nvPr/>
          </p:nvSpPr>
          <p:spPr>
            <a:xfrm>
              <a:off x="9557700" y="9938182"/>
              <a:ext cx="1899200" cy="31028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8542767" y="8652082"/>
              <a:ext cx="3513600" cy="907600"/>
            </a:xfrm>
            <a:prstGeom prst="wedgeRoundRectCallout">
              <a:avLst>
                <a:gd fmla="val -9147" name="adj1"/>
                <a:gd fmla="val 90106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Right Click on any Worksheet Tab for Navigating between Sheets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387" name="Google Shape;387;p12"/>
          <p:cNvGrpSpPr/>
          <p:nvPr/>
        </p:nvGrpSpPr>
        <p:grpSpPr>
          <a:xfrm>
            <a:off x="1117420" y="1417320"/>
            <a:ext cx="5129755" cy="4526280"/>
            <a:chOff x="996840" y="1417320"/>
            <a:chExt cx="5129755" cy="4526280"/>
          </a:xfrm>
        </p:grpSpPr>
        <p:sp>
          <p:nvSpPr>
            <p:cNvPr id="388" name="Google Shape;388;p12"/>
            <p:cNvSpPr txBox="1"/>
            <p:nvPr/>
          </p:nvSpPr>
          <p:spPr>
            <a:xfrm>
              <a:off x="1143354" y="1417320"/>
              <a:ext cx="4836726" cy="355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59595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Methods to Switch Between Worksheets</a:t>
              </a:r>
              <a:endParaRPr/>
            </a:p>
          </p:txBody>
        </p:sp>
        <p:grpSp>
          <p:nvGrpSpPr>
            <p:cNvPr id="389" name="Google Shape;389;p12"/>
            <p:cNvGrpSpPr/>
            <p:nvPr/>
          </p:nvGrpSpPr>
          <p:grpSpPr>
            <a:xfrm>
              <a:off x="996840" y="1927248"/>
              <a:ext cx="5129755" cy="4016352"/>
              <a:chOff x="996840" y="1927248"/>
              <a:chExt cx="5129755" cy="4016352"/>
            </a:xfrm>
          </p:grpSpPr>
          <p:grpSp>
            <p:nvGrpSpPr>
              <p:cNvPr id="390" name="Google Shape;390;p12"/>
              <p:cNvGrpSpPr/>
              <p:nvPr/>
            </p:nvGrpSpPr>
            <p:grpSpPr>
              <a:xfrm>
                <a:off x="996840" y="1927248"/>
                <a:ext cx="5112315" cy="1299361"/>
                <a:chOff x="996840" y="1927248"/>
                <a:chExt cx="5112315" cy="1299361"/>
              </a:xfrm>
            </p:grpSpPr>
            <p:grpSp>
              <p:nvGrpSpPr>
                <p:cNvPr id="391" name="Google Shape;391;p12"/>
                <p:cNvGrpSpPr/>
                <p:nvPr/>
              </p:nvGrpSpPr>
              <p:grpSpPr>
                <a:xfrm>
                  <a:off x="996840" y="2386000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392" name="Google Shape;392;p12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3" name="Google Shape;393;p12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  <p:sp>
              <p:nvSpPr>
                <p:cNvPr id="394" name="Google Shape;394;p12"/>
                <p:cNvSpPr/>
                <p:nvPr/>
              </p:nvSpPr>
              <p:spPr>
                <a:xfrm>
                  <a:off x="1201082" y="1927248"/>
                  <a:ext cx="4908073" cy="129936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5" name="Google Shape;395;p12"/>
                <p:cNvGrpSpPr/>
                <p:nvPr/>
              </p:nvGrpSpPr>
              <p:grpSpPr>
                <a:xfrm>
                  <a:off x="1533708" y="2026167"/>
                  <a:ext cx="4257606" cy="1101523"/>
                  <a:chOff x="1548834" y="2594701"/>
                  <a:chExt cx="4257606" cy="1101523"/>
                </a:xfrm>
              </p:grpSpPr>
              <p:sp>
                <p:nvSpPr>
                  <p:cNvPr id="396" name="Google Shape;396;p12"/>
                  <p:cNvSpPr txBox="1"/>
                  <p:nvPr/>
                </p:nvSpPr>
                <p:spPr>
                  <a:xfrm>
                    <a:off x="1548834" y="3015781"/>
                    <a:ext cx="4257606" cy="68044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171450" lvl="1" marL="171450" marR="0" rtl="0" algn="l">
                      <a:lnSpc>
                        <a:spcPct val="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Located at the bottom of the Excel window.</a:t>
                    </a:r>
                    <a:endParaRPr/>
                  </a:p>
                  <a:p>
                    <a:pPr indent="-171450" lvl="1" marL="171450" marR="0" rtl="0" algn="l">
                      <a:lnSpc>
                        <a:spcPct val="50000"/>
                      </a:lnSpc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Click directly on the desired sheet tab to navigate.</a:t>
                    </a:r>
                    <a:endParaRPr/>
                  </a:p>
                  <a:p>
                    <a:pPr indent="-171450" lvl="1" marL="171450" marR="0" rtl="0" algn="l">
                      <a:lnSpc>
                        <a:spcPct val="50000"/>
                      </a:lnSpc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Double-click on a tab to rename it for better iden</a:t>
                    </a:r>
                    <a:endParaRPr/>
                  </a:p>
                </p:txBody>
              </p:sp>
              <p:sp>
                <p:nvSpPr>
                  <p:cNvPr id="397" name="Google Shape;397;p12"/>
                  <p:cNvSpPr txBox="1"/>
                  <p:nvPr/>
                </p:nvSpPr>
                <p:spPr>
                  <a:xfrm>
                    <a:off x="1548834" y="2594701"/>
                    <a:ext cx="4257606" cy="2970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4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Using Worksheet Tabs:</a:t>
                    </a:r>
                    <a:endParaRPr/>
                  </a:p>
                </p:txBody>
              </p:sp>
            </p:grpSp>
          </p:grpSp>
          <p:grpSp>
            <p:nvGrpSpPr>
              <p:cNvPr id="398" name="Google Shape;398;p12"/>
              <p:cNvGrpSpPr/>
              <p:nvPr/>
            </p:nvGrpSpPr>
            <p:grpSpPr>
              <a:xfrm>
                <a:off x="996840" y="3357674"/>
                <a:ext cx="5112315" cy="1227431"/>
                <a:chOff x="996840" y="3357673"/>
                <a:chExt cx="5112315" cy="1227431"/>
              </a:xfrm>
            </p:grpSpPr>
            <p:sp>
              <p:nvSpPr>
                <p:cNvPr id="399" name="Google Shape;399;p12"/>
                <p:cNvSpPr/>
                <p:nvPr/>
              </p:nvSpPr>
              <p:spPr>
                <a:xfrm>
                  <a:off x="1201082" y="3357673"/>
                  <a:ext cx="4908073" cy="122743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00" name="Google Shape;400;p12"/>
                <p:cNvGrpSpPr/>
                <p:nvPr/>
              </p:nvGrpSpPr>
              <p:grpSpPr>
                <a:xfrm>
                  <a:off x="1533708" y="3446489"/>
                  <a:ext cx="4257606" cy="1049799"/>
                  <a:chOff x="1548834" y="2594701"/>
                  <a:chExt cx="4257606" cy="1049799"/>
                </a:xfrm>
              </p:grpSpPr>
              <p:sp>
                <p:nvSpPr>
                  <p:cNvPr id="401" name="Google Shape;401;p12"/>
                  <p:cNvSpPr txBox="1"/>
                  <p:nvPr/>
                </p:nvSpPr>
                <p:spPr>
                  <a:xfrm>
                    <a:off x="1548834" y="2939179"/>
                    <a:ext cx="4257606" cy="7053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171450" lvl="1" marL="171450" marR="0" rtl="0" algn="l">
                      <a:lnSpc>
                        <a:spcPct val="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Right-click on any worksheet tab.</a:t>
                    </a:r>
                    <a:endParaRPr/>
                  </a:p>
                  <a:p>
                    <a:pPr indent="-171450" lvl="1" marL="171450" marR="0" rtl="0" algn="l"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Select “Move or Copy” to reorder sheets or duplicate them in the same workbook.</a:t>
                    </a:r>
                    <a:endParaRPr/>
                  </a:p>
                </p:txBody>
              </p:sp>
              <p:sp>
                <p:nvSpPr>
                  <p:cNvPr id="402" name="Google Shape;402;p12"/>
                  <p:cNvSpPr txBox="1"/>
                  <p:nvPr/>
                </p:nvSpPr>
                <p:spPr>
                  <a:xfrm>
                    <a:off x="1548834" y="2594701"/>
                    <a:ext cx="4257606" cy="2970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400">
                        <a:solidFill>
                          <a:srgbClr val="8F7C0B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Using Right-Click Options:</a:t>
                    </a:r>
                    <a:endParaRPr/>
                  </a:p>
                </p:txBody>
              </p:sp>
            </p:grpSp>
            <p:sp>
              <p:nvSpPr>
                <p:cNvPr id="403" name="Google Shape;403;p12"/>
                <p:cNvSpPr/>
                <p:nvPr/>
              </p:nvSpPr>
              <p:spPr>
                <a:xfrm>
                  <a:off x="996840" y="3791802"/>
                  <a:ext cx="370342" cy="359172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12"/>
                <p:cNvSpPr txBox="1"/>
                <p:nvPr/>
              </p:nvSpPr>
              <p:spPr>
                <a:xfrm>
                  <a:off x="1103707" y="3780460"/>
                  <a:ext cx="164030" cy="3818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405" name="Google Shape;405;p12"/>
              <p:cNvGrpSpPr/>
              <p:nvPr/>
            </p:nvGrpSpPr>
            <p:grpSpPr>
              <a:xfrm>
                <a:off x="996840" y="4716169"/>
                <a:ext cx="5129755" cy="1227431"/>
                <a:chOff x="996840" y="4716169"/>
                <a:chExt cx="5129755" cy="1227431"/>
              </a:xfrm>
            </p:grpSpPr>
            <p:sp>
              <p:nvSpPr>
                <p:cNvPr id="406" name="Google Shape;406;p12"/>
                <p:cNvSpPr/>
                <p:nvPr/>
              </p:nvSpPr>
              <p:spPr>
                <a:xfrm>
                  <a:off x="1183641" y="4716169"/>
                  <a:ext cx="4942954" cy="122743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07" name="Google Shape;407;p12"/>
                <p:cNvGrpSpPr/>
                <p:nvPr/>
              </p:nvGrpSpPr>
              <p:grpSpPr>
                <a:xfrm>
                  <a:off x="1533708" y="4811204"/>
                  <a:ext cx="4257606" cy="1037360"/>
                  <a:chOff x="1548834" y="2600525"/>
                  <a:chExt cx="4257606" cy="1037360"/>
                </a:xfrm>
              </p:grpSpPr>
              <p:sp>
                <p:nvSpPr>
                  <p:cNvPr id="408" name="Google Shape;408;p12"/>
                  <p:cNvSpPr txBox="1"/>
                  <p:nvPr/>
                </p:nvSpPr>
                <p:spPr>
                  <a:xfrm>
                    <a:off x="1548834" y="2957442"/>
                    <a:ext cx="4257606" cy="68044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171450" lvl="1" marL="171450" marR="0" rtl="0" algn="l">
                      <a:lnSpc>
                        <a:spcPct val="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Ctrl + Page Down: Move to the next worksheet.</a:t>
                    </a:r>
                    <a:endParaRPr/>
                  </a:p>
                  <a:p>
                    <a:pPr indent="-171450" lvl="1" marL="171450" marR="0" rtl="0" algn="l">
                      <a:lnSpc>
                        <a:spcPct val="50000"/>
                      </a:lnSpc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Ctrl + Page Up: Move to the previous worksheet.</a:t>
                    </a:r>
                    <a:endParaRPr/>
                  </a:p>
                  <a:p>
                    <a:pPr indent="-171450" lvl="1" marL="171450" marR="0" rtl="0" algn="l">
                      <a:lnSpc>
                        <a:spcPct val="50000"/>
                      </a:lnSpc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Works seamlessly across multiple worksheets.</a:t>
                    </a:r>
                    <a:endParaRPr/>
                  </a:p>
                </p:txBody>
              </p:sp>
              <p:sp>
                <p:nvSpPr>
                  <p:cNvPr id="409" name="Google Shape;409;p12"/>
                  <p:cNvSpPr txBox="1"/>
                  <p:nvPr/>
                </p:nvSpPr>
                <p:spPr>
                  <a:xfrm>
                    <a:off x="1548834" y="2600525"/>
                    <a:ext cx="4257606" cy="2970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4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Shortcut Key Navigation:</a:t>
                    </a:r>
                    <a:endParaRPr/>
                  </a:p>
                </p:txBody>
              </p:sp>
            </p:grpSp>
            <p:grpSp>
              <p:nvGrpSpPr>
                <p:cNvPr id="410" name="Google Shape;410;p12"/>
                <p:cNvGrpSpPr/>
                <p:nvPr/>
              </p:nvGrpSpPr>
              <p:grpSpPr>
                <a:xfrm>
                  <a:off x="996840" y="5138956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411" name="Google Shape;411;p12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12" name="Google Shape;412;p12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13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418" name="Google Shape;418;p13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3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Managing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Worksheets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sp>
        <p:nvSpPr>
          <p:cNvPr id="420" name="Google Shape;420;p13"/>
          <p:cNvSpPr/>
          <p:nvPr/>
        </p:nvSpPr>
        <p:spPr>
          <a:xfrm>
            <a:off x="776748" y="1219200"/>
            <a:ext cx="10638504" cy="49631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13"/>
          <p:cNvGrpSpPr/>
          <p:nvPr/>
        </p:nvGrpSpPr>
        <p:grpSpPr>
          <a:xfrm>
            <a:off x="6780304" y="2572501"/>
            <a:ext cx="4344896" cy="2218419"/>
            <a:chOff x="7135030" y="2826099"/>
            <a:chExt cx="3990170" cy="2037303"/>
          </a:xfrm>
        </p:grpSpPr>
        <p:pic>
          <p:nvPicPr>
            <p:cNvPr id="422" name="Google Shape;422;p13"/>
            <p:cNvPicPr preferRelativeResize="0"/>
            <p:nvPr/>
          </p:nvPicPr>
          <p:blipFill rotWithShape="1">
            <a:blip r:embed="rId3">
              <a:alphaModFix/>
            </a:blip>
            <a:srcRect b="3067" l="0" r="0" t="0"/>
            <a:stretch/>
          </p:blipFill>
          <p:spPr>
            <a:xfrm>
              <a:off x="7135030" y="2826099"/>
              <a:ext cx="3990170" cy="2037303"/>
            </a:xfrm>
            <a:prstGeom prst="roundRect">
              <a:avLst>
                <a:gd fmla="val 5671" name="adj"/>
              </a:avLst>
            </a:prstGeom>
            <a:noFill/>
            <a:ln>
              <a:noFill/>
            </a:ln>
          </p:spPr>
        </p:pic>
        <p:sp>
          <p:nvSpPr>
            <p:cNvPr id="423" name="Google Shape;423;p13"/>
            <p:cNvSpPr/>
            <p:nvPr/>
          </p:nvSpPr>
          <p:spPr>
            <a:xfrm>
              <a:off x="7703415" y="3429000"/>
              <a:ext cx="3120334" cy="565600"/>
            </a:xfrm>
            <a:prstGeom prst="roundRect">
              <a:avLst>
                <a:gd fmla="val 16667" name="adj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Changing Color to organize  Worksheets perfectly</a:t>
              </a:r>
              <a:endParaRPr b="1" sz="12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424" name="Google Shape;424;p13"/>
          <p:cNvSpPr txBox="1"/>
          <p:nvPr/>
        </p:nvSpPr>
        <p:spPr>
          <a:xfrm>
            <a:off x="988178" y="1417320"/>
            <a:ext cx="5388238" cy="355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Best Practices for Managing Worksheets</a:t>
            </a:r>
            <a:endParaRPr/>
          </a:p>
        </p:txBody>
      </p:sp>
      <p:grpSp>
        <p:nvGrpSpPr>
          <p:cNvPr id="425" name="Google Shape;425;p13"/>
          <p:cNvGrpSpPr/>
          <p:nvPr/>
        </p:nvGrpSpPr>
        <p:grpSpPr>
          <a:xfrm>
            <a:off x="1117420" y="1927248"/>
            <a:ext cx="5129755" cy="4016352"/>
            <a:chOff x="996840" y="1927248"/>
            <a:chExt cx="5129755" cy="4016352"/>
          </a:xfrm>
        </p:grpSpPr>
        <p:grpSp>
          <p:nvGrpSpPr>
            <p:cNvPr id="426" name="Google Shape;426;p13"/>
            <p:cNvGrpSpPr/>
            <p:nvPr/>
          </p:nvGrpSpPr>
          <p:grpSpPr>
            <a:xfrm>
              <a:off x="996840" y="1927248"/>
              <a:ext cx="5112315" cy="1299361"/>
              <a:chOff x="996840" y="1927248"/>
              <a:chExt cx="5112315" cy="1299361"/>
            </a:xfrm>
          </p:grpSpPr>
          <p:grpSp>
            <p:nvGrpSpPr>
              <p:cNvPr id="427" name="Google Shape;427;p13"/>
              <p:cNvGrpSpPr/>
              <p:nvPr/>
            </p:nvGrpSpPr>
            <p:grpSpPr>
              <a:xfrm>
                <a:off x="996840" y="2386000"/>
                <a:ext cx="370342" cy="381856"/>
                <a:chOff x="897675" y="1686797"/>
                <a:chExt cx="542600" cy="606903"/>
              </a:xfrm>
            </p:grpSpPr>
            <p:sp>
              <p:nvSpPr>
                <p:cNvPr id="428" name="Google Shape;428;p13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13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430" name="Google Shape;430;p13"/>
              <p:cNvSpPr/>
              <p:nvPr/>
            </p:nvSpPr>
            <p:spPr>
              <a:xfrm>
                <a:off x="1201082" y="1927248"/>
                <a:ext cx="4908073" cy="1299361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31" name="Google Shape;431;p13"/>
              <p:cNvGrpSpPr/>
              <p:nvPr/>
            </p:nvGrpSpPr>
            <p:grpSpPr>
              <a:xfrm>
                <a:off x="1533708" y="2118316"/>
                <a:ext cx="4257606" cy="931358"/>
                <a:chOff x="1548834" y="2686850"/>
                <a:chExt cx="4257606" cy="931358"/>
              </a:xfrm>
            </p:grpSpPr>
            <p:sp>
              <p:nvSpPr>
                <p:cNvPr id="432" name="Google Shape;432;p13"/>
                <p:cNvSpPr txBox="1"/>
                <p:nvPr/>
              </p:nvSpPr>
              <p:spPr>
                <a:xfrm>
                  <a:off x="1548834" y="2971877"/>
                  <a:ext cx="4257606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171450" lvl="1" marL="17145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Char char="•"/>
                  </a:pPr>
                  <a:r>
                    <a:rPr b="0" i="0" lang="en-US" sz="12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Right-click on a tab, choose “Tab Color,” and assign colors to organize sheets (e.g., red for important, green for completed).</a:t>
                  </a:r>
                  <a:endParaRPr/>
                </a:p>
              </p:txBody>
            </p:sp>
            <p:sp>
              <p:nvSpPr>
                <p:cNvPr id="433" name="Google Shape;433;p13"/>
                <p:cNvSpPr txBox="1"/>
                <p:nvPr/>
              </p:nvSpPr>
              <p:spPr>
                <a:xfrm>
                  <a:off x="1548834" y="2686850"/>
                  <a:ext cx="4257606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Color-Coding Tabs:</a:t>
                  </a:r>
                  <a:endParaRPr/>
                </a:p>
              </p:txBody>
            </p:sp>
          </p:grpSp>
        </p:grpSp>
        <p:grpSp>
          <p:nvGrpSpPr>
            <p:cNvPr id="434" name="Google Shape;434;p13"/>
            <p:cNvGrpSpPr/>
            <p:nvPr/>
          </p:nvGrpSpPr>
          <p:grpSpPr>
            <a:xfrm>
              <a:off x="996840" y="3357674"/>
              <a:ext cx="5112315" cy="1227431"/>
              <a:chOff x="996840" y="3357673"/>
              <a:chExt cx="5112315" cy="1227431"/>
            </a:xfrm>
          </p:grpSpPr>
          <p:sp>
            <p:nvSpPr>
              <p:cNvPr id="435" name="Google Shape;435;p13"/>
              <p:cNvSpPr/>
              <p:nvPr/>
            </p:nvSpPr>
            <p:spPr>
              <a:xfrm>
                <a:off x="1201082" y="3357673"/>
                <a:ext cx="4908073" cy="1227431"/>
              </a:xfrm>
              <a:prstGeom prst="roundRect">
                <a:avLst>
                  <a:gd fmla="val 21261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36" name="Google Shape;436;p13"/>
              <p:cNvGrpSpPr/>
              <p:nvPr/>
            </p:nvGrpSpPr>
            <p:grpSpPr>
              <a:xfrm>
                <a:off x="1533708" y="3709326"/>
                <a:ext cx="4257606" cy="548417"/>
                <a:chOff x="1548834" y="2857538"/>
                <a:chExt cx="4257606" cy="548417"/>
              </a:xfrm>
            </p:grpSpPr>
            <p:sp>
              <p:nvSpPr>
                <p:cNvPr id="437" name="Google Shape;437;p13"/>
                <p:cNvSpPr txBox="1"/>
                <p:nvPr/>
              </p:nvSpPr>
              <p:spPr>
                <a:xfrm>
                  <a:off x="1548834" y="3128956"/>
                  <a:ext cx="425760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171450" lvl="1" marL="17145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Char char="•"/>
                  </a:pPr>
                  <a:r>
                    <a:rPr b="0" i="0" lang="en-US" sz="12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Drag and drop tabs to rearrange the order.</a:t>
                  </a:r>
                  <a:endParaRPr/>
                </a:p>
              </p:txBody>
            </p:sp>
            <p:sp>
              <p:nvSpPr>
                <p:cNvPr id="438" name="Google Shape;438;p13"/>
                <p:cNvSpPr txBox="1"/>
                <p:nvPr/>
              </p:nvSpPr>
              <p:spPr>
                <a:xfrm>
                  <a:off x="1548834" y="2857538"/>
                  <a:ext cx="4257606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rgbClr val="8F7C0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Reordering Tabs:</a:t>
                  </a:r>
                  <a:endParaRPr/>
                </a:p>
              </p:txBody>
            </p:sp>
          </p:grpSp>
          <p:sp>
            <p:nvSpPr>
              <p:cNvPr id="439" name="Google Shape;439;p13"/>
              <p:cNvSpPr/>
              <p:nvPr/>
            </p:nvSpPr>
            <p:spPr>
              <a:xfrm>
                <a:off x="996840" y="3791802"/>
                <a:ext cx="370342" cy="359172"/>
              </a:xfrm>
              <a:prstGeom prst="ellipse">
                <a:avLst/>
              </a:prstGeom>
              <a:gradFill>
                <a:gsLst>
                  <a:gs pos="0">
                    <a:srgbClr val="D1B90E"/>
                  </a:gs>
                  <a:gs pos="100000">
                    <a:srgbClr val="BBA50D"/>
                  </a:gs>
                </a:gsLst>
                <a:lin ang="8100000" scaled="0"/>
              </a:gradFill>
              <a:ln cap="flat" cmpd="sng" w="9525">
                <a:solidFill>
                  <a:srgbClr val="FFC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2700" rotWithShape="0" algn="tl" dir="2700000" dist="38100">
                  <a:srgbClr val="000000">
                    <a:alpha val="18824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3"/>
              <p:cNvSpPr txBox="1"/>
              <p:nvPr/>
            </p:nvSpPr>
            <p:spPr>
              <a:xfrm>
                <a:off x="1103707" y="3780460"/>
                <a:ext cx="164030" cy="3818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endParaRPr/>
              </a:p>
            </p:txBody>
          </p:sp>
        </p:grpSp>
        <p:grpSp>
          <p:nvGrpSpPr>
            <p:cNvPr id="441" name="Google Shape;441;p13"/>
            <p:cNvGrpSpPr/>
            <p:nvPr/>
          </p:nvGrpSpPr>
          <p:grpSpPr>
            <a:xfrm>
              <a:off x="996840" y="4716169"/>
              <a:ext cx="5129755" cy="1227431"/>
              <a:chOff x="996840" y="4716169"/>
              <a:chExt cx="5129755" cy="1227431"/>
            </a:xfrm>
          </p:grpSpPr>
          <p:sp>
            <p:nvSpPr>
              <p:cNvPr id="442" name="Google Shape;442;p13"/>
              <p:cNvSpPr/>
              <p:nvPr/>
            </p:nvSpPr>
            <p:spPr>
              <a:xfrm>
                <a:off x="1183641" y="4716169"/>
                <a:ext cx="4942954" cy="1227431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43" name="Google Shape;443;p13"/>
              <p:cNvGrpSpPr/>
              <p:nvPr/>
            </p:nvGrpSpPr>
            <p:grpSpPr>
              <a:xfrm>
                <a:off x="1533708" y="4805817"/>
                <a:ext cx="4257606" cy="1087245"/>
                <a:chOff x="1548834" y="2595138"/>
                <a:chExt cx="4257606" cy="1087245"/>
              </a:xfrm>
            </p:grpSpPr>
            <p:sp>
              <p:nvSpPr>
                <p:cNvPr id="444" name="Google Shape;444;p13"/>
                <p:cNvSpPr txBox="1"/>
                <p:nvPr/>
              </p:nvSpPr>
              <p:spPr>
                <a:xfrm>
                  <a:off x="1548834" y="2912942"/>
                  <a:ext cx="4257606" cy="76944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171450" lvl="1" marL="171450" marR="0" rtl="0" algn="l">
                    <a:lnSpc>
                      <a:spcPct val="91666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Char char="•"/>
                  </a:pPr>
                  <a:r>
                    <a:rPr b="0" i="0" lang="en-US" sz="12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To hide: Right-click on a tab and select “Hide.”</a:t>
                  </a:r>
                  <a:endParaRPr/>
                </a:p>
                <a:p>
                  <a:pPr indent="-171450" lvl="1" marL="171450" marR="0" rtl="0" algn="l">
                    <a:spcBef>
                      <a:spcPts val="1333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Char char="•"/>
                  </a:pPr>
                  <a:r>
                    <a:rPr b="0" i="0" lang="en-US" sz="12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To unhide: Right-click on any tab and select “Unhide,” then choose the desired sheet.</a:t>
                  </a:r>
                  <a:endParaRPr/>
                </a:p>
              </p:txBody>
            </p:sp>
            <p:sp>
              <p:nvSpPr>
                <p:cNvPr id="445" name="Google Shape;445;p13"/>
                <p:cNvSpPr txBox="1"/>
                <p:nvPr/>
              </p:nvSpPr>
              <p:spPr>
                <a:xfrm>
                  <a:off x="1548834" y="2595138"/>
                  <a:ext cx="4257606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Hiding/Unhiding Sheets:</a:t>
                  </a:r>
                  <a:endParaRPr/>
                </a:p>
              </p:txBody>
            </p:sp>
          </p:grpSp>
          <p:grpSp>
            <p:nvGrpSpPr>
              <p:cNvPr id="446" name="Google Shape;446;p13"/>
              <p:cNvGrpSpPr/>
              <p:nvPr/>
            </p:nvGrpSpPr>
            <p:grpSpPr>
              <a:xfrm>
                <a:off x="996840" y="5138956"/>
                <a:ext cx="370342" cy="381856"/>
                <a:chOff x="897675" y="1686797"/>
                <a:chExt cx="542600" cy="606903"/>
              </a:xfrm>
            </p:grpSpPr>
            <p:sp>
              <p:nvSpPr>
                <p:cNvPr id="447" name="Google Shape;447;p13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13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"/>
          <p:cNvSpPr/>
          <p:nvPr/>
        </p:nvSpPr>
        <p:spPr>
          <a:xfrm>
            <a:off x="776748" y="1219200"/>
            <a:ext cx="10638504" cy="49631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0" y="1500806"/>
            <a:ext cx="4361809" cy="4361809"/>
          </a:xfrm>
          <a:prstGeom prst="roundRect">
            <a:avLst>
              <a:gd fmla="val 8115" name="adj"/>
            </a:avLst>
          </a:prstGeom>
          <a:noFill/>
          <a:ln>
            <a:noFill/>
          </a:ln>
        </p:spPr>
      </p:pic>
      <p:grpSp>
        <p:nvGrpSpPr>
          <p:cNvPr id="455" name="Google Shape;455;p14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456" name="Google Shape;456;p14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4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Workbooks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vs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Worksheets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458" name="Google Shape;458;p14"/>
          <p:cNvGrpSpPr/>
          <p:nvPr/>
        </p:nvGrpSpPr>
        <p:grpSpPr>
          <a:xfrm>
            <a:off x="988178" y="1529514"/>
            <a:ext cx="5388238" cy="3741367"/>
            <a:chOff x="988178" y="1529514"/>
            <a:chExt cx="5388238" cy="3741367"/>
          </a:xfrm>
        </p:grpSpPr>
        <p:grpSp>
          <p:nvGrpSpPr>
            <p:cNvPr id="459" name="Google Shape;459;p14"/>
            <p:cNvGrpSpPr/>
            <p:nvPr/>
          </p:nvGrpSpPr>
          <p:grpSpPr>
            <a:xfrm>
              <a:off x="1126140" y="1529514"/>
              <a:ext cx="5112315" cy="2686137"/>
              <a:chOff x="1117420" y="1898968"/>
              <a:chExt cx="5112315" cy="2686137"/>
            </a:xfrm>
          </p:grpSpPr>
          <p:grpSp>
            <p:nvGrpSpPr>
              <p:cNvPr id="460" name="Google Shape;460;p14"/>
              <p:cNvGrpSpPr/>
              <p:nvPr/>
            </p:nvGrpSpPr>
            <p:grpSpPr>
              <a:xfrm>
                <a:off x="1117420" y="1898968"/>
                <a:ext cx="5112315" cy="1299361"/>
                <a:chOff x="996840" y="1927248"/>
                <a:chExt cx="5112315" cy="1299361"/>
              </a:xfrm>
            </p:grpSpPr>
            <p:grpSp>
              <p:nvGrpSpPr>
                <p:cNvPr id="461" name="Google Shape;461;p14"/>
                <p:cNvGrpSpPr/>
                <p:nvPr/>
              </p:nvGrpSpPr>
              <p:grpSpPr>
                <a:xfrm>
                  <a:off x="996840" y="2386000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462" name="Google Shape;462;p14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3" name="Google Shape;463;p14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  <p:sp>
              <p:nvSpPr>
                <p:cNvPr id="464" name="Google Shape;464;p14"/>
                <p:cNvSpPr/>
                <p:nvPr/>
              </p:nvSpPr>
              <p:spPr>
                <a:xfrm>
                  <a:off x="1201082" y="1927248"/>
                  <a:ext cx="4908073" cy="129936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5" name="Google Shape;465;p14"/>
                <p:cNvGrpSpPr/>
                <p:nvPr/>
              </p:nvGrpSpPr>
              <p:grpSpPr>
                <a:xfrm>
                  <a:off x="1533708" y="2118316"/>
                  <a:ext cx="4257606" cy="1000612"/>
                  <a:chOff x="1548834" y="2686850"/>
                  <a:chExt cx="4257606" cy="1000612"/>
                </a:xfrm>
              </p:grpSpPr>
              <p:sp>
                <p:nvSpPr>
                  <p:cNvPr id="466" name="Google Shape;466;p14"/>
                  <p:cNvSpPr txBox="1"/>
                  <p:nvPr/>
                </p:nvSpPr>
                <p:spPr>
                  <a:xfrm>
                    <a:off x="1548834" y="3077551"/>
                    <a:ext cx="4257606" cy="6099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171450" lvl="1" marL="171450" marR="0" rtl="0" algn="l">
                      <a:lnSpc>
                        <a:spcPct val="33333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The entire Excel file (.xlsx)</a:t>
                    </a:r>
                    <a:endParaRPr/>
                  </a:p>
                  <a:p>
                    <a:pPr indent="-171450" lvl="1" marL="171450" marR="0" rtl="0" algn="l">
                      <a:lnSpc>
                        <a:spcPct val="33333"/>
                      </a:lnSpc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Can contain multiple worksheets</a:t>
                    </a:r>
                    <a:endParaRPr/>
                  </a:p>
                  <a:p>
                    <a:pPr indent="-171450" lvl="1" marL="171450" marR="0" rtl="0" algn="l">
                      <a:lnSpc>
                        <a:spcPct val="33333"/>
                      </a:lnSpc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Example: Sales_Report.xlsx</a:t>
                    </a:r>
                    <a:endParaRPr/>
                  </a:p>
                </p:txBody>
              </p:sp>
              <p:sp>
                <p:nvSpPr>
                  <p:cNvPr id="467" name="Google Shape;467;p14"/>
                  <p:cNvSpPr txBox="1"/>
                  <p:nvPr/>
                </p:nvSpPr>
                <p:spPr>
                  <a:xfrm>
                    <a:off x="1548834" y="2686850"/>
                    <a:ext cx="425760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4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Workbook :</a:t>
                    </a:r>
                    <a:endParaRPr/>
                  </a:p>
                </p:txBody>
              </p:sp>
            </p:grpSp>
          </p:grpSp>
          <p:grpSp>
            <p:nvGrpSpPr>
              <p:cNvPr id="468" name="Google Shape;468;p14"/>
              <p:cNvGrpSpPr/>
              <p:nvPr/>
            </p:nvGrpSpPr>
            <p:grpSpPr>
              <a:xfrm>
                <a:off x="1117420" y="3357674"/>
                <a:ext cx="5112315" cy="1227431"/>
                <a:chOff x="996840" y="3357673"/>
                <a:chExt cx="5112315" cy="1227431"/>
              </a:xfrm>
            </p:grpSpPr>
            <p:sp>
              <p:nvSpPr>
                <p:cNvPr id="469" name="Google Shape;469;p14"/>
                <p:cNvSpPr/>
                <p:nvPr/>
              </p:nvSpPr>
              <p:spPr>
                <a:xfrm>
                  <a:off x="1201082" y="3357673"/>
                  <a:ext cx="4908073" cy="122743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0" name="Google Shape;470;p14"/>
                <p:cNvGrpSpPr/>
                <p:nvPr/>
              </p:nvGrpSpPr>
              <p:grpSpPr>
                <a:xfrm>
                  <a:off x="1533708" y="3504415"/>
                  <a:ext cx="4257606" cy="966918"/>
                  <a:chOff x="1548834" y="2652627"/>
                  <a:chExt cx="4257606" cy="966918"/>
                </a:xfrm>
              </p:grpSpPr>
              <p:sp>
                <p:nvSpPr>
                  <p:cNvPr id="471" name="Google Shape;471;p14"/>
                  <p:cNvSpPr txBox="1"/>
                  <p:nvPr/>
                </p:nvSpPr>
                <p:spPr>
                  <a:xfrm>
                    <a:off x="1548834" y="3009634"/>
                    <a:ext cx="4257606" cy="6099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171450" lvl="1" marL="171450" marR="0" rtl="0" algn="l">
                      <a:lnSpc>
                        <a:spcPct val="33333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Individual sheets (tabs) inside a workbook</a:t>
                    </a:r>
                    <a:endParaRPr/>
                  </a:p>
                  <a:p>
                    <a:pPr indent="-171450" lvl="1" marL="171450" marR="0" rtl="0" algn="l">
                      <a:lnSpc>
                        <a:spcPct val="33333"/>
                      </a:lnSpc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Each worksheet is like a page in the file</a:t>
                    </a:r>
                    <a:endParaRPr/>
                  </a:p>
                  <a:p>
                    <a:pPr indent="-171450" lvl="1" marL="171450" marR="0" rtl="0" algn="l">
                      <a:lnSpc>
                        <a:spcPct val="33333"/>
                      </a:lnSpc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Example: Jan Sales, Feb Sales</a:t>
                    </a:r>
                    <a:endParaRPr/>
                  </a:p>
                </p:txBody>
              </p:sp>
              <p:sp>
                <p:nvSpPr>
                  <p:cNvPr id="472" name="Google Shape;472;p14"/>
                  <p:cNvSpPr txBox="1"/>
                  <p:nvPr/>
                </p:nvSpPr>
                <p:spPr>
                  <a:xfrm>
                    <a:off x="1548834" y="2652627"/>
                    <a:ext cx="425760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400">
                        <a:solidFill>
                          <a:srgbClr val="8F7C0B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Worksheet : </a:t>
                    </a:r>
                    <a:endParaRPr/>
                  </a:p>
                </p:txBody>
              </p:sp>
            </p:grpSp>
            <p:sp>
              <p:nvSpPr>
                <p:cNvPr id="473" name="Google Shape;473;p14"/>
                <p:cNvSpPr/>
                <p:nvPr/>
              </p:nvSpPr>
              <p:spPr>
                <a:xfrm>
                  <a:off x="996840" y="3791802"/>
                  <a:ext cx="370342" cy="359172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14"/>
                <p:cNvSpPr txBox="1"/>
                <p:nvPr/>
              </p:nvSpPr>
              <p:spPr>
                <a:xfrm>
                  <a:off x="1103707" y="3780460"/>
                  <a:ext cx="164030" cy="3818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  <p:sp>
          <p:nvSpPr>
            <p:cNvPr id="475" name="Google Shape;475;p14"/>
            <p:cNvSpPr txBox="1"/>
            <p:nvPr/>
          </p:nvSpPr>
          <p:spPr>
            <a:xfrm>
              <a:off x="988178" y="4710728"/>
              <a:ext cx="5388238" cy="560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59595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Think of a workbook like a book → each worksheet is a page in it.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15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481" name="Google Shape;481;p15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5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Navigating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Cells</a:t>
              </a:r>
              <a:endParaRPr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sp>
        <p:nvSpPr>
          <p:cNvPr id="483" name="Google Shape;483;p15"/>
          <p:cNvSpPr/>
          <p:nvPr/>
        </p:nvSpPr>
        <p:spPr>
          <a:xfrm>
            <a:off x="776748" y="1219200"/>
            <a:ext cx="10638504" cy="49631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0089" y="1395710"/>
            <a:ext cx="4572000" cy="4572000"/>
          </a:xfrm>
          <a:prstGeom prst="roundRect">
            <a:avLst>
              <a:gd fmla="val 8947" name="adj"/>
            </a:avLst>
          </a:prstGeom>
          <a:noFill/>
          <a:ln>
            <a:noFill/>
          </a:ln>
        </p:spPr>
      </p:pic>
      <p:grpSp>
        <p:nvGrpSpPr>
          <p:cNvPr id="485" name="Google Shape;485;p15"/>
          <p:cNvGrpSpPr/>
          <p:nvPr/>
        </p:nvGrpSpPr>
        <p:grpSpPr>
          <a:xfrm>
            <a:off x="1126140" y="1868899"/>
            <a:ext cx="5225232" cy="3625622"/>
            <a:chOff x="1126140" y="2184463"/>
            <a:chExt cx="5225232" cy="3625622"/>
          </a:xfrm>
        </p:grpSpPr>
        <p:grpSp>
          <p:nvGrpSpPr>
            <p:cNvPr id="486" name="Google Shape;486;p15"/>
            <p:cNvGrpSpPr/>
            <p:nvPr/>
          </p:nvGrpSpPr>
          <p:grpSpPr>
            <a:xfrm>
              <a:off x="1126140" y="3569111"/>
              <a:ext cx="5112315" cy="2240974"/>
              <a:chOff x="1126140" y="3569111"/>
              <a:chExt cx="5112315" cy="2240974"/>
            </a:xfrm>
          </p:grpSpPr>
          <p:grpSp>
            <p:nvGrpSpPr>
              <p:cNvPr id="487" name="Google Shape;487;p15"/>
              <p:cNvGrpSpPr/>
              <p:nvPr/>
            </p:nvGrpSpPr>
            <p:grpSpPr>
              <a:xfrm>
                <a:off x="1126140" y="4498670"/>
                <a:ext cx="370342" cy="381856"/>
                <a:chOff x="897675" y="1686797"/>
                <a:chExt cx="542600" cy="606903"/>
              </a:xfrm>
            </p:grpSpPr>
            <p:sp>
              <p:nvSpPr>
                <p:cNvPr id="488" name="Google Shape;488;p15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9" name="Google Shape;489;p15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490" name="Google Shape;490;p15"/>
              <p:cNvSpPr/>
              <p:nvPr/>
            </p:nvSpPr>
            <p:spPr>
              <a:xfrm>
                <a:off x="1330382" y="3569111"/>
                <a:ext cx="4908073" cy="2240974"/>
              </a:xfrm>
              <a:prstGeom prst="roundRect">
                <a:avLst>
                  <a:gd fmla="val 1320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1" name="Google Shape;491;p15"/>
            <p:cNvGrpSpPr/>
            <p:nvPr/>
          </p:nvGrpSpPr>
          <p:grpSpPr>
            <a:xfrm>
              <a:off x="1663007" y="3826950"/>
              <a:ext cx="4688365" cy="1602186"/>
              <a:chOff x="1548833" y="2662998"/>
              <a:chExt cx="4688365" cy="1602186"/>
            </a:xfrm>
          </p:grpSpPr>
          <p:sp>
            <p:nvSpPr>
              <p:cNvPr id="492" name="Google Shape;492;p15"/>
              <p:cNvSpPr txBox="1"/>
              <p:nvPr/>
            </p:nvSpPr>
            <p:spPr>
              <a:xfrm>
                <a:off x="1548833" y="3267475"/>
                <a:ext cx="4688365" cy="9977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-171450" lvl="1" marL="1714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b="0" i="0" lang="en-US" sz="1600" u="none" cap="none" strike="noStrike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Ctrl + Arrow keys: </a:t>
                </a:r>
                <a:r>
                  <a:rPr b="0" i="0" lang="en-US" sz="1600" u="none" cap="none" strike="noStrike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Jump to edges of data.</a:t>
                </a:r>
                <a:endParaRPr/>
              </a:p>
              <a:p>
                <a:pPr indent="-171450" lvl="1" marL="171450" marR="0" rtl="0" algn="l">
                  <a:spcBef>
                    <a:spcPts val="1333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b="0" i="0" lang="en-US" sz="1600" u="none" cap="none" strike="noStrike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Ctrl + Home/End: </a:t>
                </a:r>
                <a:r>
                  <a:rPr b="0" i="0" lang="en-US" sz="1600" u="none" cap="none" strike="noStrike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Move to the beginning/end of a sheet.</a:t>
                </a:r>
                <a:endParaRPr/>
              </a:p>
            </p:txBody>
          </p:sp>
          <p:sp>
            <p:nvSpPr>
              <p:cNvPr id="493" name="Google Shape;493;p15"/>
              <p:cNvSpPr txBox="1"/>
              <p:nvPr/>
            </p:nvSpPr>
            <p:spPr>
              <a:xfrm>
                <a:off x="1548834" y="2662998"/>
                <a:ext cx="4257606" cy="3554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Key Shortcut:</a:t>
                </a:r>
                <a:endParaRPr/>
              </a:p>
            </p:txBody>
          </p:sp>
        </p:grpSp>
        <p:sp>
          <p:nvSpPr>
            <p:cNvPr id="494" name="Google Shape;494;p15"/>
            <p:cNvSpPr/>
            <p:nvPr/>
          </p:nvSpPr>
          <p:spPr>
            <a:xfrm>
              <a:off x="1330382" y="2184463"/>
              <a:ext cx="4908073" cy="1149974"/>
            </a:xfrm>
            <a:prstGeom prst="roundRect">
              <a:avLst>
                <a:gd fmla="val 13201" name="adj"/>
              </a:avLst>
            </a:prstGeom>
            <a:solidFill>
              <a:srgbClr val="FFF9E5">
                <a:alpha val="56078"/>
              </a:srgbClr>
            </a:solidFill>
            <a:ln cap="flat" cmpd="sng" w="9525">
              <a:solidFill>
                <a:srgbClr val="8F7C0B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 txBox="1"/>
            <p:nvPr/>
          </p:nvSpPr>
          <p:spPr>
            <a:xfrm>
              <a:off x="1640910" y="2604310"/>
              <a:ext cx="4455090" cy="326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6E5F0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Use Mouse, Arrow Keys, Or Shortcuts.</a:t>
              </a:r>
              <a:endParaRPr/>
            </a:p>
          </p:txBody>
        </p:sp>
        <p:grpSp>
          <p:nvGrpSpPr>
            <p:cNvPr id="496" name="Google Shape;496;p15"/>
            <p:cNvGrpSpPr/>
            <p:nvPr/>
          </p:nvGrpSpPr>
          <p:grpSpPr>
            <a:xfrm>
              <a:off x="1126140" y="2568522"/>
              <a:ext cx="370342" cy="381856"/>
              <a:chOff x="897675" y="1686797"/>
              <a:chExt cx="542600" cy="606903"/>
            </a:xfrm>
          </p:grpSpPr>
          <p:sp>
            <p:nvSpPr>
              <p:cNvPr id="497" name="Google Shape;497;p15"/>
              <p:cNvSpPr/>
              <p:nvPr/>
            </p:nvSpPr>
            <p:spPr>
              <a:xfrm>
                <a:off x="897675" y="1699312"/>
                <a:ext cx="542600" cy="570850"/>
              </a:xfrm>
              <a:prstGeom prst="ellipse">
                <a:avLst/>
              </a:prstGeom>
              <a:gradFill>
                <a:gsLst>
                  <a:gs pos="0">
                    <a:srgbClr val="D1B90E"/>
                  </a:gs>
                  <a:gs pos="100000">
                    <a:srgbClr val="BBA50D"/>
                  </a:gs>
                </a:gsLst>
                <a:lin ang="8100000" scaled="0"/>
              </a:gradFill>
              <a:ln cap="flat" cmpd="sng" w="9525">
                <a:solidFill>
                  <a:srgbClr val="FFC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2700" rotWithShape="0" algn="tl" dir="2700000" dist="38100">
                  <a:srgbClr val="000000">
                    <a:alpha val="18824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5"/>
              <p:cNvSpPr txBox="1"/>
              <p:nvPr/>
            </p:nvSpPr>
            <p:spPr>
              <a:xfrm>
                <a:off x="1054249" y="1686797"/>
                <a:ext cx="240326" cy="60690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2700" rotWithShape="0" algn="t" dir="5400000" dist="12700">
                  <a:srgbClr val="000000">
                    <a:alpha val="25098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1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6"/>
          <p:cNvSpPr/>
          <p:nvPr/>
        </p:nvSpPr>
        <p:spPr>
          <a:xfrm>
            <a:off x="784941" y="1195092"/>
            <a:ext cx="10638504" cy="50012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16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505" name="Google Shape;505;p16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6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Keyboard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Shortcuts</a:t>
              </a:r>
              <a:endParaRPr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aphicFrame>
        <p:nvGraphicFramePr>
          <p:cNvPr id="507" name="Google Shape;507;p16"/>
          <p:cNvGraphicFramePr/>
          <p:nvPr/>
        </p:nvGraphicFramePr>
        <p:xfrm>
          <a:off x="763638" y="11811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{5209E166-228F-4204-9806-82BCB6DFEF5D}</a:tableStyleId>
              </a:tblPr>
              <a:tblGrid>
                <a:gridCol w="3144675"/>
                <a:gridCol w="7536425"/>
              </a:tblGrid>
              <a:tr h="53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Shortcut Key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Ctrl + Arrow Keys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Jump to the edge of a data region in the respective direction.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Ctrl + Home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Move to the first cell (A1) in the worksheet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Ctrl + End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Jump to the last cell with data in the worksheet.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Ctrl + Page Up/Down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Switch between worksheets in the workbook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Shift + Space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Select the entire row of the active cell.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Ctrl + Space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Select the entire column of the active cell.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Alt + Tab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Switch between open Excel workbooks or applications.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F5 or Ctrl + G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Open the "Go To" dialog box to navigate to a specific cell or range.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17"/>
          <p:cNvGrpSpPr/>
          <p:nvPr/>
        </p:nvGrpSpPr>
        <p:grpSpPr>
          <a:xfrm>
            <a:off x="776748" y="647700"/>
            <a:ext cx="10638504" cy="5562600"/>
            <a:chOff x="776748" y="781050"/>
            <a:chExt cx="10638504" cy="5295900"/>
          </a:xfrm>
        </p:grpSpPr>
        <p:grpSp>
          <p:nvGrpSpPr>
            <p:cNvPr id="513" name="Google Shape;513;p17"/>
            <p:cNvGrpSpPr/>
            <p:nvPr/>
          </p:nvGrpSpPr>
          <p:grpSpPr>
            <a:xfrm>
              <a:off x="776748" y="781050"/>
              <a:ext cx="10638504" cy="5295900"/>
              <a:chOff x="776748" y="781050"/>
              <a:chExt cx="10638504" cy="5295900"/>
            </a:xfrm>
          </p:grpSpPr>
          <p:sp>
            <p:nvSpPr>
              <p:cNvPr id="514" name="Google Shape;514;p17"/>
              <p:cNvSpPr/>
              <p:nvPr/>
            </p:nvSpPr>
            <p:spPr>
              <a:xfrm>
                <a:off x="776748" y="781050"/>
                <a:ext cx="10638504" cy="5295900"/>
              </a:xfrm>
              <a:prstGeom prst="roundRect">
                <a:avLst>
                  <a:gd fmla="val 10242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5" name="Google Shape;515;p17"/>
              <p:cNvGrpSpPr/>
              <p:nvPr/>
            </p:nvGrpSpPr>
            <p:grpSpPr>
              <a:xfrm>
                <a:off x="1006726" y="954292"/>
                <a:ext cx="5295752" cy="4949417"/>
                <a:chOff x="1048291" y="994182"/>
                <a:chExt cx="5295752" cy="4949417"/>
              </a:xfrm>
            </p:grpSpPr>
            <p:sp>
              <p:nvSpPr>
                <p:cNvPr id="516" name="Google Shape;516;p17"/>
                <p:cNvSpPr/>
                <p:nvPr/>
              </p:nvSpPr>
              <p:spPr>
                <a:xfrm>
                  <a:off x="1048291" y="994182"/>
                  <a:ext cx="5295752" cy="4949417"/>
                </a:xfrm>
                <a:prstGeom prst="roundRect">
                  <a:avLst>
                    <a:gd fmla="val 8999" name="adj"/>
                  </a:avLst>
                </a:prstGeom>
                <a:solidFill>
                  <a:srgbClr val="025698">
                    <a:alpha val="5098"/>
                  </a:srgbClr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7" name="Google Shape;517;p17"/>
                <p:cNvSpPr txBox="1"/>
                <p:nvPr/>
              </p:nvSpPr>
              <p:spPr>
                <a:xfrm>
                  <a:off x="1979992" y="2868726"/>
                  <a:ext cx="3432350" cy="12003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US" sz="3600">
                      <a:solidFill>
                        <a:srgbClr val="025698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Cells, Rows </a:t>
                  </a:r>
                  <a:br>
                    <a:rPr i="1" lang="en-US" sz="3600">
                      <a:solidFill>
                        <a:srgbClr val="025698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</a:br>
                  <a:r>
                    <a:rPr i="1" lang="en-US" sz="3600">
                      <a:solidFill>
                        <a:srgbClr val="025698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And Columns</a:t>
                  </a:r>
                  <a:endParaRPr/>
                </a:p>
              </p:txBody>
            </p:sp>
          </p:grpSp>
        </p:grpSp>
        <p:pic>
          <p:nvPicPr>
            <p:cNvPr id="518" name="Google Shape;51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77000" y="973074"/>
              <a:ext cx="4774320" cy="4911852"/>
            </a:xfrm>
            <a:prstGeom prst="roundRect">
              <a:avLst>
                <a:gd fmla="val 10283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18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524" name="Google Shape;524;p18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8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Understanding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Cells</a:t>
              </a:r>
              <a:endParaRPr/>
            </a:p>
          </p:txBody>
        </p:sp>
      </p:grpSp>
      <p:sp>
        <p:nvSpPr>
          <p:cNvPr id="526" name="Google Shape;526;p18"/>
          <p:cNvSpPr/>
          <p:nvPr/>
        </p:nvSpPr>
        <p:spPr>
          <a:xfrm>
            <a:off x="776748" y="1181100"/>
            <a:ext cx="10638504" cy="500122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p18"/>
          <p:cNvGrpSpPr/>
          <p:nvPr/>
        </p:nvGrpSpPr>
        <p:grpSpPr>
          <a:xfrm>
            <a:off x="1019271" y="1796750"/>
            <a:ext cx="5222420" cy="3809931"/>
            <a:chOff x="1171671" y="1988820"/>
            <a:chExt cx="5222420" cy="3809931"/>
          </a:xfrm>
        </p:grpSpPr>
        <p:sp>
          <p:nvSpPr>
            <p:cNvPr id="528" name="Google Shape;528;p18"/>
            <p:cNvSpPr txBox="1"/>
            <p:nvPr/>
          </p:nvSpPr>
          <p:spPr>
            <a:xfrm>
              <a:off x="1276722" y="5275531"/>
              <a:ext cx="50123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59595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Cells Are The Foundation Of Excel Logic — Every Formula, Function, Or Chart Begins With Cells.</a:t>
              </a:r>
              <a:endParaRPr i="1" sz="140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529" name="Google Shape;529;p18"/>
            <p:cNvGrpSpPr/>
            <p:nvPr/>
          </p:nvGrpSpPr>
          <p:grpSpPr>
            <a:xfrm>
              <a:off x="1171671" y="1988820"/>
              <a:ext cx="5222420" cy="3107357"/>
              <a:chOff x="1117420" y="2171700"/>
              <a:chExt cx="5222420" cy="3107357"/>
            </a:xfrm>
          </p:grpSpPr>
          <p:grpSp>
            <p:nvGrpSpPr>
              <p:cNvPr id="530" name="Google Shape;530;p18"/>
              <p:cNvGrpSpPr/>
              <p:nvPr/>
            </p:nvGrpSpPr>
            <p:grpSpPr>
              <a:xfrm>
                <a:off x="1117420" y="2171700"/>
                <a:ext cx="5222420" cy="1299361"/>
                <a:chOff x="996840" y="1927248"/>
                <a:chExt cx="5222420" cy="1299361"/>
              </a:xfrm>
            </p:grpSpPr>
            <p:grpSp>
              <p:nvGrpSpPr>
                <p:cNvPr id="531" name="Google Shape;531;p18"/>
                <p:cNvGrpSpPr/>
                <p:nvPr/>
              </p:nvGrpSpPr>
              <p:grpSpPr>
                <a:xfrm>
                  <a:off x="996840" y="2386000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532" name="Google Shape;532;p18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3" name="Google Shape;533;p18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  <p:sp>
              <p:nvSpPr>
                <p:cNvPr id="534" name="Google Shape;534;p18"/>
                <p:cNvSpPr/>
                <p:nvPr/>
              </p:nvSpPr>
              <p:spPr>
                <a:xfrm>
                  <a:off x="1201082" y="1927248"/>
                  <a:ext cx="4908073" cy="129936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35" name="Google Shape;535;p18"/>
                <p:cNvGrpSpPr/>
                <p:nvPr/>
              </p:nvGrpSpPr>
              <p:grpSpPr>
                <a:xfrm>
                  <a:off x="1533708" y="2094464"/>
                  <a:ext cx="4685552" cy="888419"/>
                  <a:chOff x="1548834" y="2662998"/>
                  <a:chExt cx="4685552" cy="888419"/>
                </a:xfrm>
              </p:grpSpPr>
              <p:sp>
                <p:nvSpPr>
                  <p:cNvPr id="536" name="Google Shape;536;p18"/>
                  <p:cNvSpPr txBox="1"/>
                  <p:nvPr/>
                </p:nvSpPr>
                <p:spPr>
                  <a:xfrm>
                    <a:off x="1548834" y="3079308"/>
                    <a:ext cx="4685552" cy="4721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171450" lvl="1" marL="17145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Each cell has a unique address → (e.g., A1, B2, C10).</a:t>
                    </a:r>
                    <a:endParaRPr/>
                  </a:p>
                  <a:p>
                    <a:pPr indent="-171450" lvl="1" marL="171450" marR="0" rtl="0" algn="l">
                      <a:spcBef>
                        <a:spcPts val="1333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2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Cell address = Column letter + Row number.</a:t>
                    </a:r>
                    <a:endParaRPr/>
                  </a:p>
                </p:txBody>
              </p:sp>
              <p:sp>
                <p:nvSpPr>
                  <p:cNvPr id="537" name="Google Shape;537;p18"/>
                  <p:cNvSpPr txBox="1"/>
                  <p:nvPr/>
                </p:nvSpPr>
                <p:spPr>
                  <a:xfrm>
                    <a:off x="1548834" y="2662998"/>
                    <a:ext cx="4257606" cy="3554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Cell = Basic unit in Excel</a:t>
                    </a:r>
                    <a:endParaRPr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</p:grpSp>
          <p:grpSp>
            <p:nvGrpSpPr>
              <p:cNvPr id="538" name="Google Shape;538;p18"/>
              <p:cNvGrpSpPr/>
              <p:nvPr/>
            </p:nvGrpSpPr>
            <p:grpSpPr>
              <a:xfrm>
                <a:off x="1117420" y="3713700"/>
                <a:ext cx="5112315" cy="692852"/>
                <a:chOff x="996840" y="3624962"/>
                <a:chExt cx="5112315" cy="692852"/>
              </a:xfrm>
            </p:grpSpPr>
            <p:sp>
              <p:nvSpPr>
                <p:cNvPr id="539" name="Google Shape;539;p18"/>
                <p:cNvSpPr/>
                <p:nvPr/>
              </p:nvSpPr>
              <p:spPr>
                <a:xfrm>
                  <a:off x="1201082" y="3624962"/>
                  <a:ext cx="4908073" cy="692852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0" name="Google Shape;540;p18"/>
                <p:cNvSpPr txBox="1"/>
                <p:nvPr/>
              </p:nvSpPr>
              <p:spPr>
                <a:xfrm>
                  <a:off x="1533708" y="3793648"/>
                  <a:ext cx="4257606" cy="3554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8F7C0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Rows = Numbers (1, 2, 3, …)</a:t>
                  </a:r>
                  <a:endParaRPr sz="1800">
                    <a:solidFill>
                      <a:srgbClr val="8F7C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541" name="Google Shape;541;p18"/>
                <p:cNvSpPr/>
                <p:nvPr/>
              </p:nvSpPr>
              <p:spPr>
                <a:xfrm>
                  <a:off x="996840" y="3791802"/>
                  <a:ext cx="370342" cy="359172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2" name="Google Shape;542;p18"/>
                <p:cNvSpPr txBox="1"/>
                <p:nvPr/>
              </p:nvSpPr>
              <p:spPr>
                <a:xfrm>
                  <a:off x="1103707" y="3780460"/>
                  <a:ext cx="164030" cy="3818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543" name="Google Shape;543;p18"/>
              <p:cNvGrpSpPr/>
              <p:nvPr/>
            </p:nvGrpSpPr>
            <p:grpSpPr>
              <a:xfrm>
                <a:off x="1117420" y="4649191"/>
                <a:ext cx="5129755" cy="629866"/>
                <a:chOff x="996840" y="5014951"/>
                <a:chExt cx="5129755" cy="629866"/>
              </a:xfrm>
            </p:grpSpPr>
            <p:sp>
              <p:nvSpPr>
                <p:cNvPr id="544" name="Google Shape;544;p18"/>
                <p:cNvSpPr/>
                <p:nvPr/>
              </p:nvSpPr>
              <p:spPr>
                <a:xfrm>
                  <a:off x="1183641" y="5014951"/>
                  <a:ext cx="4942954" cy="629866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5" name="Google Shape;545;p18"/>
                <p:cNvSpPr txBox="1"/>
                <p:nvPr/>
              </p:nvSpPr>
              <p:spPr>
                <a:xfrm>
                  <a:off x="1533708" y="5152144"/>
                  <a:ext cx="4257606" cy="3554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Columns = Letters (A, B, C, …)</a:t>
                  </a:r>
                  <a:endParaRPr/>
                </a:p>
              </p:txBody>
            </p:sp>
            <p:grpSp>
              <p:nvGrpSpPr>
                <p:cNvPr id="546" name="Google Shape;546;p18"/>
                <p:cNvGrpSpPr/>
                <p:nvPr/>
              </p:nvGrpSpPr>
              <p:grpSpPr>
                <a:xfrm>
                  <a:off x="996840" y="5138956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547" name="Google Shape;547;p18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8" name="Google Shape;548;p18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</p:grpSp>
        </p:grpSp>
      </p:grpSp>
      <p:pic>
        <p:nvPicPr>
          <p:cNvPr id="549" name="Google Shape;5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2584" y="1999068"/>
            <a:ext cx="4712616" cy="3365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19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555" name="Google Shape;555;p19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9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Cell Reference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in Excel</a:t>
              </a:r>
              <a:endParaRPr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557" name="Google Shape;557;p19"/>
          <p:cNvGrpSpPr/>
          <p:nvPr/>
        </p:nvGrpSpPr>
        <p:grpSpPr>
          <a:xfrm>
            <a:off x="776748" y="1181100"/>
            <a:ext cx="10638504" cy="5001220"/>
            <a:chOff x="776748" y="1181100"/>
            <a:chExt cx="10638504" cy="5001220"/>
          </a:xfrm>
        </p:grpSpPr>
        <p:sp>
          <p:nvSpPr>
            <p:cNvPr id="558" name="Google Shape;558;p19"/>
            <p:cNvSpPr/>
            <p:nvPr/>
          </p:nvSpPr>
          <p:spPr>
            <a:xfrm>
              <a:off x="776748" y="1181100"/>
              <a:ext cx="10638504" cy="500122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9" name="Google Shape;559;p19"/>
            <p:cNvPicPr preferRelativeResize="0"/>
            <p:nvPr/>
          </p:nvPicPr>
          <p:blipFill rotWithShape="1">
            <a:blip r:embed="rId3">
              <a:alphaModFix/>
            </a:blip>
            <a:srcRect b="0" l="0" r="7698" t="0"/>
            <a:stretch/>
          </p:blipFill>
          <p:spPr>
            <a:xfrm>
              <a:off x="6360372" y="1875113"/>
              <a:ext cx="4764828" cy="3613194"/>
            </a:xfrm>
            <a:prstGeom prst="roundRect">
              <a:avLst>
                <a:gd fmla="val 6130" name="adj"/>
              </a:avLst>
            </a:prstGeom>
            <a:noFill/>
            <a:ln>
              <a:noFill/>
            </a:ln>
          </p:spPr>
        </p:pic>
        <p:grpSp>
          <p:nvGrpSpPr>
            <p:cNvPr id="560" name="Google Shape;560;p19"/>
            <p:cNvGrpSpPr/>
            <p:nvPr/>
          </p:nvGrpSpPr>
          <p:grpSpPr>
            <a:xfrm>
              <a:off x="1019271" y="1573344"/>
              <a:ext cx="5112315" cy="4216733"/>
              <a:chOff x="1019271" y="1589921"/>
              <a:chExt cx="5112315" cy="4216733"/>
            </a:xfrm>
          </p:grpSpPr>
          <p:grpSp>
            <p:nvGrpSpPr>
              <p:cNvPr id="561" name="Google Shape;561;p19"/>
              <p:cNvGrpSpPr/>
              <p:nvPr/>
            </p:nvGrpSpPr>
            <p:grpSpPr>
              <a:xfrm>
                <a:off x="1019271" y="1589921"/>
                <a:ext cx="5112315" cy="1299361"/>
                <a:chOff x="996840" y="1927248"/>
                <a:chExt cx="5112315" cy="1299361"/>
              </a:xfrm>
            </p:grpSpPr>
            <p:grpSp>
              <p:nvGrpSpPr>
                <p:cNvPr id="562" name="Google Shape;562;p19"/>
                <p:cNvGrpSpPr/>
                <p:nvPr/>
              </p:nvGrpSpPr>
              <p:grpSpPr>
                <a:xfrm>
                  <a:off x="996840" y="2386000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563" name="Google Shape;563;p19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4" name="Google Shape;564;p1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  <p:sp>
              <p:nvSpPr>
                <p:cNvPr id="565" name="Google Shape;565;p19"/>
                <p:cNvSpPr/>
                <p:nvPr/>
              </p:nvSpPr>
              <p:spPr>
                <a:xfrm>
                  <a:off x="1201082" y="1927248"/>
                  <a:ext cx="4908073" cy="129936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66" name="Google Shape;566;p19"/>
                <p:cNvGrpSpPr/>
                <p:nvPr/>
              </p:nvGrpSpPr>
              <p:grpSpPr>
                <a:xfrm>
                  <a:off x="1533708" y="2094464"/>
                  <a:ext cx="4333032" cy="944753"/>
                  <a:chOff x="1548834" y="2662998"/>
                  <a:chExt cx="4333032" cy="944753"/>
                </a:xfrm>
              </p:grpSpPr>
              <p:sp>
                <p:nvSpPr>
                  <p:cNvPr id="567" name="Google Shape;567;p19"/>
                  <p:cNvSpPr txBox="1"/>
                  <p:nvPr/>
                </p:nvSpPr>
                <p:spPr>
                  <a:xfrm>
                    <a:off x="1548834" y="3022976"/>
                    <a:ext cx="4333032" cy="5847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-171450" lvl="1" marL="17145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Arial"/>
                      <a:buChar char="•"/>
                    </a:pPr>
                    <a:r>
                      <a:rPr b="0" i="0" lang="en-US" sz="16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 way to tell Excel which cell(s) to use in a formula.</a:t>
                    </a:r>
                    <a:endParaRPr b="0" i="0" sz="16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  <p:sp>
                <p:nvSpPr>
                  <p:cNvPr id="568" name="Google Shape;568;p19"/>
                  <p:cNvSpPr txBox="1"/>
                  <p:nvPr/>
                </p:nvSpPr>
                <p:spPr>
                  <a:xfrm>
                    <a:off x="1548834" y="2662998"/>
                    <a:ext cx="4257606" cy="3554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Definition:</a:t>
                    </a:r>
                    <a:endParaRPr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</p:grpSp>
          <p:grpSp>
            <p:nvGrpSpPr>
              <p:cNvPr id="569" name="Google Shape;569;p19"/>
              <p:cNvGrpSpPr/>
              <p:nvPr/>
            </p:nvGrpSpPr>
            <p:grpSpPr>
              <a:xfrm>
                <a:off x="1019271" y="3048607"/>
                <a:ext cx="5112315" cy="1299361"/>
                <a:chOff x="1019271" y="3081264"/>
                <a:chExt cx="5112315" cy="1299361"/>
              </a:xfrm>
            </p:grpSpPr>
            <p:sp>
              <p:nvSpPr>
                <p:cNvPr id="570" name="Google Shape;570;p19"/>
                <p:cNvSpPr/>
                <p:nvPr/>
              </p:nvSpPr>
              <p:spPr>
                <a:xfrm>
                  <a:off x="1223513" y="3081264"/>
                  <a:ext cx="4908073" cy="129936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71" name="Google Shape;571;p19"/>
                <p:cNvGrpSpPr/>
                <p:nvPr/>
              </p:nvGrpSpPr>
              <p:grpSpPr>
                <a:xfrm>
                  <a:off x="1019271" y="3540016"/>
                  <a:ext cx="370342" cy="381856"/>
                  <a:chOff x="897676" y="1686797"/>
                  <a:chExt cx="542601" cy="606903"/>
                </a:xfrm>
              </p:grpSpPr>
              <p:sp>
                <p:nvSpPr>
                  <p:cNvPr id="572" name="Google Shape;572;p19"/>
                  <p:cNvSpPr/>
                  <p:nvPr/>
                </p:nvSpPr>
                <p:spPr>
                  <a:xfrm>
                    <a:off x="897676" y="1699312"/>
                    <a:ext cx="542601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" name="Google Shape;573;p1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  <p:sp>
              <p:nvSpPr>
                <p:cNvPr id="574" name="Google Shape;574;p19"/>
                <p:cNvSpPr txBox="1"/>
                <p:nvPr/>
              </p:nvSpPr>
              <p:spPr>
                <a:xfrm>
                  <a:off x="1556139" y="3421629"/>
                  <a:ext cx="4257606" cy="6186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8F7C0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Example: </a:t>
                  </a:r>
                  <a:r>
                    <a:rPr lang="en-US" sz="16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In =A1 + B1, Excel adds values from </a:t>
                  </a:r>
                  <a:r>
                    <a:rPr lang="en-US" sz="1800">
                      <a:solidFill>
                        <a:srgbClr val="8F7C0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cell A1 </a:t>
                  </a:r>
                  <a:r>
                    <a:rPr lang="en-US" sz="16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and </a:t>
                  </a:r>
                  <a:r>
                    <a:rPr lang="en-US" sz="1800">
                      <a:solidFill>
                        <a:srgbClr val="8F7C0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cell B1.</a:t>
                  </a:r>
                  <a:endParaRPr sz="1800">
                    <a:solidFill>
                      <a:srgbClr val="8F7C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grpSp>
            <p:nvGrpSpPr>
              <p:cNvPr id="575" name="Google Shape;575;p19"/>
              <p:cNvGrpSpPr/>
              <p:nvPr/>
            </p:nvGrpSpPr>
            <p:grpSpPr>
              <a:xfrm>
                <a:off x="1019271" y="4507293"/>
                <a:ext cx="5112315" cy="1299361"/>
                <a:chOff x="996840" y="1927248"/>
                <a:chExt cx="5112315" cy="1299361"/>
              </a:xfrm>
            </p:grpSpPr>
            <p:grpSp>
              <p:nvGrpSpPr>
                <p:cNvPr id="576" name="Google Shape;576;p19"/>
                <p:cNvGrpSpPr/>
                <p:nvPr/>
              </p:nvGrpSpPr>
              <p:grpSpPr>
                <a:xfrm>
                  <a:off x="996840" y="2386000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577" name="Google Shape;577;p19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8" name="Google Shape;578;p1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  <p:sp>
              <p:nvSpPr>
                <p:cNvPr id="579" name="Google Shape;579;p19"/>
                <p:cNvSpPr/>
                <p:nvPr/>
              </p:nvSpPr>
              <p:spPr>
                <a:xfrm>
                  <a:off x="1201082" y="1927248"/>
                  <a:ext cx="4908073" cy="1299361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0" name="Google Shape;580;p19"/>
                <p:cNvSpPr txBox="1"/>
                <p:nvPr/>
              </p:nvSpPr>
              <p:spPr>
                <a:xfrm>
                  <a:off x="1533708" y="2163664"/>
                  <a:ext cx="425760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Why Important? </a:t>
                  </a:r>
                  <a:endParaRPr/>
                </a:p>
              </p:txBody>
            </p:sp>
            <p:sp>
              <p:nvSpPr>
                <p:cNvPr id="581" name="Google Shape;581;p19"/>
                <p:cNvSpPr txBox="1"/>
                <p:nvPr/>
              </p:nvSpPr>
              <p:spPr>
                <a:xfrm>
                  <a:off x="1533708" y="2481909"/>
                  <a:ext cx="4257606" cy="5601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171450" lvl="1" marL="17145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Char char="•"/>
                  </a:pPr>
                  <a:r>
                    <a:rPr b="0" i="0" lang="en-US" sz="16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References allow formulas to be flexible and reusable.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20"/>
          <p:cNvGrpSpPr/>
          <p:nvPr/>
        </p:nvGrpSpPr>
        <p:grpSpPr>
          <a:xfrm>
            <a:off x="2733368" y="0"/>
            <a:ext cx="6725264" cy="882869"/>
            <a:chOff x="2733368" y="0"/>
            <a:chExt cx="6725264" cy="882869"/>
          </a:xfrm>
        </p:grpSpPr>
        <p:sp>
          <p:nvSpPr>
            <p:cNvPr id="587" name="Google Shape;587;p20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0"/>
            <p:cNvSpPr txBox="1"/>
            <p:nvPr/>
          </p:nvSpPr>
          <p:spPr>
            <a:xfrm>
              <a:off x="2839656" y="118291"/>
              <a:ext cx="651268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Types of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Cell Reference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589" name="Google Shape;589;p20"/>
          <p:cNvGrpSpPr/>
          <p:nvPr/>
        </p:nvGrpSpPr>
        <p:grpSpPr>
          <a:xfrm>
            <a:off x="776748" y="1236980"/>
            <a:ext cx="10638504" cy="4977582"/>
            <a:chOff x="776748" y="1236980"/>
            <a:chExt cx="10638504" cy="4977582"/>
          </a:xfrm>
        </p:grpSpPr>
        <p:sp>
          <p:nvSpPr>
            <p:cNvPr id="590" name="Google Shape;590;p20"/>
            <p:cNvSpPr/>
            <p:nvPr/>
          </p:nvSpPr>
          <p:spPr>
            <a:xfrm>
              <a:off x="776748" y="1236980"/>
              <a:ext cx="10638504" cy="4977582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1" name="Google Shape;591;p20"/>
            <p:cNvGrpSpPr/>
            <p:nvPr/>
          </p:nvGrpSpPr>
          <p:grpSpPr>
            <a:xfrm>
              <a:off x="887009" y="1521563"/>
              <a:ext cx="5589993" cy="4408417"/>
              <a:chOff x="991181" y="1535183"/>
              <a:chExt cx="4093694" cy="3228396"/>
            </a:xfrm>
          </p:grpSpPr>
          <p:grpSp>
            <p:nvGrpSpPr>
              <p:cNvPr id="592" name="Google Shape;592;p20"/>
              <p:cNvGrpSpPr/>
              <p:nvPr/>
            </p:nvGrpSpPr>
            <p:grpSpPr>
              <a:xfrm>
                <a:off x="991181" y="1535183"/>
                <a:ext cx="4093694" cy="944554"/>
                <a:chOff x="991181" y="1578727"/>
                <a:chExt cx="4093694" cy="944554"/>
              </a:xfrm>
            </p:grpSpPr>
            <p:grpSp>
              <p:nvGrpSpPr>
                <p:cNvPr id="593" name="Google Shape;593;p20"/>
                <p:cNvGrpSpPr/>
                <p:nvPr/>
              </p:nvGrpSpPr>
              <p:grpSpPr>
                <a:xfrm>
                  <a:off x="1187928" y="1578727"/>
                  <a:ext cx="3896947" cy="944554"/>
                  <a:chOff x="1187928" y="1578727"/>
                  <a:chExt cx="3896947" cy="944554"/>
                </a:xfrm>
              </p:grpSpPr>
              <p:sp>
                <p:nvSpPr>
                  <p:cNvPr id="594" name="Google Shape;594;p20"/>
                  <p:cNvSpPr/>
                  <p:nvPr/>
                </p:nvSpPr>
                <p:spPr>
                  <a:xfrm>
                    <a:off x="1187928" y="1578727"/>
                    <a:ext cx="3896947" cy="944554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5" name="Google Shape;595;p20"/>
                  <p:cNvSpPr txBox="1"/>
                  <p:nvPr/>
                </p:nvSpPr>
                <p:spPr>
                  <a:xfrm>
                    <a:off x="1702835" y="1881960"/>
                    <a:ext cx="2867133" cy="33808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4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Relative Cell Reference</a:t>
                    </a:r>
                    <a:endParaRPr/>
                  </a:p>
                </p:txBody>
              </p:sp>
            </p:grpSp>
            <p:grpSp>
              <p:nvGrpSpPr>
                <p:cNvPr id="596" name="Google Shape;596;p20"/>
                <p:cNvGrpSpPr/>
                <p:nvPr/>
              </p:nvGrpSpPr>
              <p:grpSpPr>
                <a:xfrm>
                  <a:off x="991181" y="1866339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597" name="Google Shape;597;p20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8" name="Google Shape;598;p20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991181" y="2677104"/>
                <a:ext cx="4093694" cy="944554"/>
                <a:chOff x="991181" y="1578727"/>
                <a:chExt cx="4093694" cy="944554"/>
              </a:xfrm>
            </p:grpSpPr>
            <p:grpSp>
              <p:nvGrpSpPr>
                <p:cNvPr id="600" name="Google Shape;600;p20"/>
                <p:cNvGrpSpPr/>
                <p:nvPr/>
              </p:nvGrpSpPr>
              <p:grpSpPr>
                <a:xfrm>
                  <a:off x="1187928" y="1578727"/>
                  <a:ext cx="3896947" cy="944554"/>
                  <a:chOff x="1187928" y="1578727"/>
                  <a:chExt cx="3896947" cy="944554"/>
                </a:xfrm>
              </p:grpSpPr>
              <p:sp>
                <p:nvSpPr>
                  <p:cNvPr id="601" name="Google Shape;601;p20"/>
                  <p:cNvSpPr/>
                  <p:nvPr/>
                </p:nvSpPr>
                <p:spPr>
                  <a:xfrm>
                    <a:off x="1187928" y="1578727"/>
                    <a:ext cx="3896947" cy="944554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2" name="Google Shape;602;p20"/>
                  <p:cNvSpPr txBox="1"/>
                  <p:nvPr/>
                </p:nvSpPr>
                <p:spPr>
                  <a:xfrm>
                    <a:off x="1702835" y="1881960"/>
                    <a:ext cx="2867133" cy="33808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400">
                        <a:solidFill>
                          <a:srgbClr val="8F7C0B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Absolute Cell Reference</a:t>
                    </a:r>
                    <a:endParaRPr/>
                  </a:p>
                </p:txBody>
              </p:sp>
            </p:grpSp>
            <p:grpSp>
              <p:nvGrpSpPr>
                <p:cNvPr id="603" name="Google Shape;603;p20"/>
                <p:cNvGrpSpPr/>
                <p:nvPr/>
              </p:nvGrpSpPr>
              <p:grpSpPr>
                <a:xfrm>
                  <a:off x="991181" y="1866339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604" name="Google Shape;604;p20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5" name="Google Shape;605;p20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</p:grpSp>
          <p:grpSp>
            <p:nvGrpSpPr>
              <p:cNvPr id="606" name="Google Shape;606;p20"/>
              <p:cNvGrpSpPr/>
              <p:nvPr/>
            </p:nvGrpSpPr>
            <p:grpSpPr>
              <a:xfrm>
                <a:off x="991181" y="3819025"/>
                <a:ext cx="4093694" cy="944554"/>
                <a:chOff x="991181" y="1578727"/>
                <a:chExt cx="4093694" cy="944554"/>
              </a:xfrm>
            </p:grpSpPr>
            <p:grpSp>
              <p:nvGrpSpPr>
                <p:cNvPr id="607" name="Google Shape;607;p20"/>
                <p:cNvGrpSpPr/>
                <p:nvPr/>
              </p:nvGrpSpPr>
              <p:grpSpPr>
                <a:xfrm>
                  <a:off x="1187928" y="1578727"/>
                  <a:ext cx="3896947" cy="944554"/>
                  <a:chOff x="1187928" y="1578727"/>
                  <a:chExt cx="3896947" cy="944554"/>
                </a:xfrm>
              </p:grpSpPr>
              <p:sp>
                <p:nvSpPr>
                  <p:cNvPr id="608" name="Google Shape;608;p20"/>
                  <p:cNvSpPr/>
                  <p:nvPr/>
                </p:nvSpPr>
                <p:spPr>
                  <a:xfrm>
                    <a:off x="1187928" y="1578727"/>
                    <a:ext cx="3896947" cy="944554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9" name="Google Shape;609;p20"/>
                  <p:cNvSpPr txBox="1"/>
                  <p:nvPr/>
                </p:nvSpPr>
                <p:spPr>
                  <a:xfrm>
                    <a:off x="1702835" y="1881960"/>
                    <a:ext cx="2867133" cy="33808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4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Mixed Cell Reference</a:t>
                    </a:r>
                    <a:endParaRPr/>
                  </a:p>
                </p:txBody>
              </p:sp>
            </p:grpSp>
            <p:grpSp>
              <p:nvGrpSpPr>
                <p:cNvPr id="610" name="Google Shape;610;p20"/>
                <p:cNvGrpSpPr/>
                <p:nvPr/>
              </p:nvGrpSpPr>
              <p:grpSpPr>
                <a:xfrm>
                  <a:off x="991181" y="1866339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611" name="Google Shape;611;p20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2" name="Google Shape;612;p20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</p:grpSp>
        </p:grpSp>
        <p:pic>
          <p:nvPicPr>
            <p:cNvPr id="613" name="Google Shape;613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81800" y="1526978"/>
              <a:ext cx="4397587" cy="4397587"/>
            </a:xfrm>
            <a:prstGeom prst="roundRect">
              <a:avLst>
                <a:gd fmla="val 7192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21"/>
          <p:cNvGrpSpPr/>
          <p:nvPr/>
        </p:nvGrpSpPr>
        <p:grpSpPr>
          <a:xfrm>
            <a:off x="2733368" y="0"/>
            <a:ext cx="6725264" cy="882869"/>
            <a:chOff x="2733368" y="0"/>
            <a:chExt cx="6725264" cy="882869"/>
          </a:xfrm>
        </p:grpSpPr>
        <p:sp>
          <p:nvSpPr>
            <p:cNvPr id="619" name="Google Shape;619;p21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1"/>
            <p:cNvSpPr txBox="1"/>
            <p:nvPr/>
          </p:nvSpPr>
          <p:spPr>
            <a:xfrm>
              <a:off x="2839656" y="118291"/>
              <a:ext cx="651268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Relative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Cell Reference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621" name="Google Shape;621;p21"/>
          <p:cNvGrpSpPr/>
          <p:nvPr/>
        </p:nvGrpSpPr>
        <p:grpSpPr>
          <a:xfrm>
            <a:off x="776748" y="1236980"/>
            <a:ext cx="10638504" cy="4977582"/>
            <a:chOff x="776748" y="1236980"/>
            <a:chExt cx="10638504" cy="4977582"/>
          </a:xfrm>
        </p:grpSpPr>
        <p:sp>
          <p:nvSpPr>
            <p:cNvPr id="622" name="Google Shape;622;p21"/>
            <p:cNvSpPr/>
            <p:nvPr/>
          </p:nvSpPr>
          <p:spPr>
            <a:xfrm>
              <a:off x="776748" y="1236980"/>
              <a:ext cx="10638504" cy="4977582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3" name="Google Shape;623;p21"/>
            <p:cNvGrpSpPr/>
            <p:nvPr/>
          </p:nvGrpSpPr>
          <p:grpSpPr>
            <a:xfrm>
              <a:off x="887009" y="1521563"/>
              <a:ext cx="5589993" cy="4408417"/>
              <a:chOff x="991181" y="1535183"/>
              <a:chExt cx="4093694" cy="3228396"/>
            </a:xfrm>
          </p:grpSpPr>
          <p:grpSp>
            <p:nvGrpSpPr>
              <p:cNvPr id="624" name="Google Shape;624;p21"/>
              <p:cNvGrpSpPr/>
              <p:nvPr/>
            </p:nvGrpSpPr>
            <p:grpSpPr>
              <a:xfrm>
                <a:off x="991181" y="1535183"/>
                <a:ext cx="4093694" cy="944554"/>
                <a:chOff x="991181" y="1578727"/>
                <a:chExt cx="4093694" cy="944554"/>
              </a:xfrm>
            </p:grpSpPr>
            <p:grpSp>
              <p:nvGrpSpPr>
                <p:cNvPr id="625" name="Google Shape;625;p21"/>
                <p:cNvGrpSpPr/>
                <p:nvPr/>
              </p:nvGrpSpPr>
              <p:grpSpPr>
                <a:xfrm>
                  <a:off x="1187928" y="1578727"/>
                  <a:ext cx="3896947" cy="944554"/>
                  <a:chOff x="1187928" y="1578727"/>
                  <a:chExt cx="3896947" cy="944554"/>
                </a:xfrm>
              </p:grpSpPr>
              <p:sp>
                <p:nvSpPr>
                  <p:cNvPr id="626" name="Google Shape;626;p21"/>
                  <p:cNvSpPr/>
                  <p:nvPr/>
                </p:nvSpPr>
                <p:spPr>
                  <a:xfrm>
                    <a:off x="1187928" y="1578727"/>
                    <a:ext cx="3896947" cy="944554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7" name="Google Shape;627;p21"/>
                  <p:cNvSpPr txBox="1"/>
                  <p:nvPr/>
                </p:nvSpPr>
                <p:spPr>
                  <a:xfrm>
                    <a:off x="1519826" y="1791803"/>
                    <a:ext cx="3390574" cy="518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Change automatically when copied to another cell.</a:t>
                    </a:r>
                    <a:endParaRPr sz="20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  <p:grpSp>
              <p:nvGrpSpPr>
                <p:cNvPr id="628" name="Google Shape;628;p21"/>
                <p:cNvGrpSpPr/>
                <p:nvPr/>
              </p:nvGrpSpPr>
              <p:grpSpPr>
                <a:xfrm>
                  <a:off x="991181" y="1866339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629" name="Google Shape;629;p21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0" name="Google Shape;630;p21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</p:grpSp>
          <p:grpSp>
            <p:nvGrpSpPr>
              <p:cNvPr id="631" name="Google Shape;631;p21"/>
              <p:cNvGrpSpPr/>
              <p:nvPr/>
            </p:nvGrpSpPr>
            <p:grpSpPr>
              <a:xfrm>
                <a:off x="991181" y="2677104"/>
                <a:ext cx="4093694" cy="944554"/>
                <a:chOff x="991181" y="1578727"/>
                <a:chExt cx="4093694" cy="944554"/>
              </a:xfrm>
            </p:grpSpPr>
            <p:grpSp>
              <p:nvGrpSpPr>
                <p:cNvPr id="632" name="Google Shape;632;p21"/>
                <p:cNvGrpSpPr/>
                <p:nvPr/>
              </p:nvGrpSpPr>
              <p:grpSpPr>
                <a:xfrm>
                  <a:off x="1187928" y="1578727"/>
                  <a:ext cx="3896947" cy="944554"/>
                  <a:chOff x="1187928" y="1578727"/>
                  <a:chExt cx="3896947" cy="944554"/>
                </a:xfrm>
              </p:grpSpPr>
              <p:sp>
                <p:nvSpPr>
                  <p:cNvPr id="633" name="Google Shape;633;p21"/>
                  <p:cNvSpPr/>
                  <p:nvPr/>
                </p:nvSpPr>
                <p:spPr>
                  <a:xfrm>
                    <a:off x="1187928" y="1578727"/>
                    <a:ext cx="3896947" cy="944554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4" name="Google Shape;634;p21"/>
                  <p:cNvSpPr txBox="1"/>
                  <p:nvPr/>
                </p:nvSpPr>
                <p:spPr>
                  <a:xfrm>
                    <a:off x="1519826" y="1791803"/>
                    <a:ext cx="3565048" cy="518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8F7C0B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Example: </a:t>
                    </a: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If =</a:t>
                    </a:r>
                    <a:r>
                      <a:rPr lang="en-US" sz="2000">
                        <a:solidFill>
                          <a:srgbClr val="8F7C0B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A1 + B1 </a:t>
                    </a: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in cell C1 is copied to C2, it becomes =</a:t>
                    </a:r>
                    <a:r>
                      <a:rPr lang="en-US" sz="2000">
                        <a:solidFill>
                          <a:srgbClr val="8F7C0B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A2 + B2</a:t>
                    </a: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.</a:t>
                    </a:r>
                    <a:endParaRPr/>
                  </a:p>
                </p:txBody>
              </p:sp>
            </p:grpSp>
            <p:grpSp>
              <p:nvGrpSpPr>
                <p:cNvPr id="635" name="Google Shape;635;p21"/>
                <p:cNvGrpSpPr/>
                <p:nvPr/>
              </p:nvGrpSpPr>
              <p:grpSpPr>
                <a:xfrm>
                  <a:off x="991181" y="1866339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636" name="Google Shape;636;p21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7" name="Google Shape;637;p21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</p:grpSp>
          <p:grpSp>
            <p:nvGrpSpPr>
              <p:cNvPr id="638" name="Google Shape;638;p21"/>
              <p:cNvGrpSpPr/>
              <p:nvPr/>
            </p:nvGrpSpPr>
            <p:grpSpPr>
              <a:xfrm>
                <a:off x="991181" y="3819025"/>
                <a:ext cx="4093694" cy="944554"/>
                <a:chOff x="991181" y="1578727"/>
                <a:chExt cx="4093694" cy="944554"/>
              </a:xfrm>
            </p:grpSpPr>
            <p:grpSp>
              <p:nvGrpSpPr>
                <p:cNvPr id="639" name="Google Shape;639;p21"/>
                <p:cNvGrpSpPr/>
                <p:nvPr/>
              </p:nvGrpSpPr>
              <p:grpSpPr>
                <a:xfrm>
                  <a:off x="1187928" y="1578727"/>
                  <a:ext cx="3896947" cy="944554"/>
                  <a:chOff x="1187928" y="1578727"/>
                  <a:chExt cx="3896947" cy="944554"/>
                </a:xfrm>
              </p:grpSpPr>
              <p:sp>
                <p:nvSpPr>
                  <p:cNvPr id="640" name="Google Shape;640;p21"/>
                  <p:cNvSpPr/>
                  <p:nvPr/>
                </p:nvSpPr>
                <p:spPr>
                  <a:xfrm>
                    <a:off x="1187928" y="1578727"/>
                    <a:ext cx="3896947" cy="944554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1" name="Google Shape;641;p21"/>
                  <p:cNvSpPr txBox="1"/>
                  <p:nvPr/>
                </p:nvSpPr>
                <p:spPr>
                  <a:xfrm>
                    <a:off x="1519827" y="1679106"/>
                    <a:ext cx="3399050" cy="7437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Use Case: </a:t>
                    </a: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Great For Repeating Calculations Across Rows Or </a:t>
                    </a:r>
                    <a:endParaRPr/>
                  </a:p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Columns.</a:t>
                    </a:r>
                    <a:endParaRPr/>
                  </a:p>
                </p:txBody>
              </p:sp>
            </p:grpSp>
            <p:grpSp>
              <p:nvGrpSpPr>
                <p:cNvPr id="642" name="Google Shape;642;p21"/>
                <p:cNvGrpSpPr/>
                <p:nvPr/>
              </p:nvGrpSpPr>
              <p:grpSpPr>
                <a:xfrm>
                  <a:off x="991181" y="1866339"/>
                  <a:ext cx="370342" cy="369331"/>
                  <a:chOff x="897675" y="1686797"/>
                  <a:chExt cx="542600" cy="606903"/>
                </a:xfrm>
              </p:grpSpPr>
              <p:sp>
                <p:nvSpPr>
                  <p:cNvPr id="643" name="Google Shape;643;p21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4" name="Google Shape;644;p21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</p:grpSp>
        </p:grpSp>
      </p:grpSp>
      <p:pic>
        <p:nvPicPr>
          <p:cNvPr id="645" name="Google Shape;6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3818" y="2143722"/>
            <a:ext cx="4743099" cy="3164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oogle Shape;650;p22"/>
          <p:cNvGrpSpPr/>
          <p:nvPr/>
        </p:nvGrpSpPr>
        <p:grpSpPr>
          <a:xfrm>
            <a:off x="2733368" y="0"/>
            <a:ext cx="6725264" cy="882869"/>
            <a:chOff x="2733368" y="0"/>
            <a:chExt cx="6725264" cy="882869"/>
          </a:xfrm>
        </p:grpSpPr>
        <p:sp>
          <p:nvSpPr>
            <p:cNvPr id="651" name="Google Shape;651;p22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22"/>
            <p:cNvSpPr txBox="1"/>
            <p:nvPr/>
          </p:nvSpPr>
          <p:spPr>
            <a:xfrm>
              <a:off x="2839656" y="118291"/>
              <a:ext cx="651268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Absolute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Cell Reference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653" name="Google Shape;653;p22"/>
          <p:cNvGrpSpPr/>
          <p:nvPr/>
        </p:nvGrpSpPr>
        <p:grpSpPr>
          <a:xfrm>
            <a:off x="776748" y="1236980"/>
            <a:ext cx="10638504" cy="4977582"/>
            <a:chOff x="776748" y="1236980"/>
            <a:chExt cx="10638504" cy="4977582"/>
          </a:xfrm>
        </p:grpSpPr>
        <p:grpSp>
          <p:nvGrpSpPr>
            <p:cNvPr id="654" name="Google Shape;654;p22"/>
            <p:cNvGrpSpPr/>
            <p:nvPr/>
          </p:nvGrpSpPr>
          <p:grpSpPr>
            <a:xfrm>
              <a:off x="776748" y="1236980"/>
              <a:ext cx="10638504" cy="4977582"/>
              <a:chOff x="776748" y="1236980"/>
              <a:chExt cx="10638504" cy="4977582"/>
            </a:xfrm>
          </p:grpSpPr>
          <p:sp>
            <p:nvSpPr>
              <p:cNvPr id="655" name="Google Shape;655;p22"/>
              <p:cNvSpPr/>
              <p:nvPr/>
            </p:nvSpPr>
            <p:spPr>
              <a:xfrm>
                <a:off x="776748" y="1236980"/>
                <a:ext cx="10638504" cy="4977582"/>
              </a:xfrm>
              <a:prstGeom prst="roundRect">
                <a:avLst>
                  <a:gd fmla="val 10242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6" name="Google Shape;656;p22"/>
              <p:cNvGrpSpPr/>
              <p:nvPr/>
            </p:nvGrpSpPr>
            <p:grpSpPr>
              <a:xfrm>
                <a:off x="982680" y="1535021"/>
                <a:ext cx="5626465" cy="4381500"/>
                <a:chOff x="982680" y="1562100"/>
                <a:chExt cx="4433761" cy="3452705"/>
              </a:xfrm>
            </p:grpSpPr>
            <p:grpSp>
              <p:nvGrpSpPr>
                <p:cNvPr id="657" name="Google Shape;657;p22"/>
                <p:cNvGrpSpPr/>
                <p:nvPr/>
              </p:nvGrpSpPr>
              <p:grpSpPr>
                <a:xfrm>
                  <a:off x="982680" y="1562100"/>
                  <a:ext cx="4329628" cy="780623"/>
                  <a:chOff x="991181" y="1660693"/>
                  <a:chExt cx="4329628" cy="780623"/>
                </a:xfrm>
              </p:grpSpPr>
              <p:grpSp>
                <p:nvGrpSpPr>
                  <p:cNvPr id="658" name="Google Shape;658;p22"/>
                  <p:cNvGrpSpPr/>
                  <p:nvPr/>
                </p:nvGrpSpPr>
                <p:grpSpPr>
                  <a:xfrm>
                    <a:off x="1187927" y="1660693"/>
                    <a:ext cx="4132882" cy="780623"/>
                    <a:chOff x="1187927" y="1660693"/>
                    <a:chExt cx="4132882" cy="780623"/>
                  </a:xfrm>
                </p:grpSpPr>
                <p:sp>
                  <p:nvSpPr>
                    <p:cNvPr id="659" name="Google Shape;659;p22"/>
                    <p:cNvSpPr/>
                    <p:nvPr/>
                  </p:nvSpPr>
                  <p:spPr>
                    <a:xfrm>
                      <a:off x="1187927" y="1660693"/>
                      <a:ext cx="4132882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025698">
                        <a:alpha val="5098"/>
                      </a:srgbClr>
                    </a:solidFill>
                    <a:ln cap="flat" cmpd="sng" w="9525">
                      <a:solidFill>
                        <a:srgbClr val="0070C0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508000" rotWithShape="0" algn="l" dist="38100">
                        <a:srgbClr val="000000">
                          <a:alpha val="10980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60" name="Google Shape;660;p22"/>
                    <p:cNvSpPr txBox="1"/>
                    <p:nvPr/>
                  </p:nvSpPr>
                  <p:spPr>
                    <a:xfrm>
                      <a:off x="1506925" y="1806811"/>
                      <a:ext cx="3717353" cy="5093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Remain fixed no matter where the formula is copied.</a:t>
                      </a:r>
                      <a:endParaRPr/>
                    </a:p>
                  </p:txBody>
                </p:sp>
              </p:grpSp>
              <p:grpSp>
                <p:nvGrpSpPr>
                  <p:cNvPr id="661" name="Google Shape;661;p22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662" name="Google Shape;662;p22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63" name="Google Shape;663;p22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1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64" name="Google Shape;664;p22"/>
                <p:cNvGrpSpPr/>
                <p:nvPr/>
              </p:nvGrpSpPr>
              <p:grpSpPr>
                <a:xfrm>
                  <a:off x="982680" y="2452794"/>
                  <a:ext cx="4329628" cy="780623"/>
                  <a:chOff x="991181" y="1660693"/>
                  <a:chExt cx="4329628" cy="780623"/>
                </a:xfrm>
              </p:grpSpPr>
              <p:grpSp>
                <p:nvGrpSpPr>
                  <p:cNvPr id="665" name="Google Shape;665;p22"/>
                  <p:cNvGrpSpPr/>
                  <p:nvPr/>
                </p:nvGrpSpPr>
                <p:grpSpPr>
                  <a:xfrm>
                    <a:off x="1187927" y="1660693"/>
                    <a:ext cx="4132882" cy="780623"/>
                    <a:chOff x="1187927" y="1660693"/>
                    <a:chExt cx="4132882" cy="780623"/>
                  </a:xfrm>
                </p:grpSpPr>
                <p:sp>
                  <p:nvSpPr>
                    <p:cNvPr id="666" name="Google Shape;666;p22"/>
                    <p:cNvSpPr/>
                    <p:nvPr/>
                  </p:nvSpPr>
                  <p:spPr>
                    <a:xfrm>
                      <a:off x="1187927" y="1660693"/>
                      <a:ext cx="4132882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FFF9E5">
                        <a:alpha val="56078"/>
                      </a:srgbClr>
                    </a:solidFill>
                    <a:ln cap="flat" cmpd="sng" w="9525">
                      <a:solidFill>
                        <a:srgbClr val="8F7C0B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67" name="Google Shape;667;p22"/>
                    <p:cNvSpPr txBox="1"/>
                    <p:nvPr/>
                  </p:nvSpPr>
                  <p:spPr>
                    <a:xfrm>
                      <a:off x="1415714" y="1905484"/>
                      <a:ext cx="3604860" cy="291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6E5F0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Written with $ sign → $A$1.</a:t>
                      </a:r>
                      <a:endParaRPr/>
                    </a:p>
                  </p:txBody>
                </p:sp>
              </p:grpSp>
              <p:grpSp>
                <p:nvGrpSpPr>
                  <p:cNvPr id="668" name="Google Shape;668;p22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669" name="Google Shape;669;p22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70" name="Google Shape;670;p22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2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71" name="Google Shape;671;p22"/>
                <p:cNvGrpSpPr/>
                <p:nvPr/>
              </p:nvGrpSpPr>
              <p:grpSpPr>
                <a:xfrm>
                  <a:off x="982680" y="3343488"/>
                  <a:ext cx="4329628" cy="780623"/>
                  <a:chOff x="991181" y="1660693"/>
                  <a:chExt cx="4329628" cy="780623"/>
                </a:xfrm>
              </p:grpSpPr>
              <p:grpSp>
                <p:nvGrpSpPr>
                  <p:cNvPr id="672" name="Google Shape;672;p22"/>
                  <p:cNvGrpSpPr/>
                  <p:nvPr/>
                </p:nvGrpSpPr>
                <p:grpSpPr>
                  <a:xfrm>
                    <a:off x="1187927" y="1660693"/>
                    <a:ext cx="4132882" cy="780623"/>
                    <a:chOff x="1187927" y="1660693"/>
                    <a:chExt cx="4132882" cy="780623"/>
                  </a:xfrm>
                </p:grpSpPr>
                <p:sp>
                  <p:nvSpPr>
                    <p:cNvPr id="673" name="Google Shape;673;p22"/>
                    <p:cNvSpPr/>
                    <p:nvPr/>
                  </p:nvSpPr>
                  <p:spPr>
                    <a:xfrm>
                      <a:off x="1187927" y="1660693"/>
                      <a:ext cx="4132882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025698">
                        <a:alpha val="5098"/>
                      </a:srgbClr>
                    </a:solidFill>
                    <a:ln cap="flat" cmpd="sng" w="9525">
                      <a:solidFill>
                        <a:srgbClr val="0070C0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508000" rotWithShape="0" algn="l" dist="38100">
                        <a:srgbClr val="000000">
                          <a:alpha val="10980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74" name="Google Shape;674;p22"/>
                    <p:cNvSpPr txBox="1"/>
                    <p:nvPr/>
                  </p:nvSpPr>
                  <p:spPr>
                    <a:xfrm>
                      <a:off x="1415715" y="1796344"/>
                      <a:ext cx="3671748" cy="5093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Example: If =</a:t>
                      </a: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A1 * $B$1 is copied down, only </a:t>
                      </a: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A1</a:t>
                      </a: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changes, $B$1 stays constant.</a:t>
                      </a:r>
                      <a:endParaRPr sz="18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p:txBody>
                </p:sp>
              </p:grpSp>
              <p:grpSp>
                <p:nvGrpSpPr>
                  <p:cNvPr id="675" name="Google Shape;675;p22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676" name="Google Shape;676;p22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77" name="Google Shape;677;p22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78" name="Google Shape;678;p22"/>
                <p:cNvGrpSpPr/>
                <p:nvPr/>
              </p:nvGrpSpPr>
              <p:grpSpPr>
                <a:xfrm>
                  <a:off x="982680" y="4234182"/>
                  <a:ext cx="4433761" cy="780623"/>
                  <a:chOff x="991181" y="1660693"/>
                  <a:chExt cx="4433761" cy="780623"/>
                </a:xfrm>
              </p:grpSpPr>
              <p:grpSp>
                <p:nvGrpSpPr>
                  <p:cNvPr id="679" name="Google Shape;679;p22"/>
                  <p:cNvGrpSpPr/>
                  <p:nvPr/>
                </p:nvGrpSpPr>
                <p:grpSpPr>
                  <a:xfrm>
                    <a:off x="1187927" y="1660693"/>
                    <a:ext cx="4237015" cy="780623"/>
                    <a:chOff x="1187927" y="1660693"/>
                    <a:chExt cx="4237015" cy="780623"/>
                  </a:xfrm>
                </p:grpSpPr>
                <p:sp>
                  <p:nvSpPr>
                    <p:cNvPr id="680" name="Google Shape;680;p22"/>
                    <p:cNvSpPr/>
                    <p:nvPr/>
                  </p:nvSpPr>
                  <p:spPr>
                    <a:xfrm>
                      <a:off x="1187927" y="1660693"/>
                      <a:ext cx="4132882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FFF9E5">
                        <a:alpha val="56078"/>
                      </a:srgbClr>
                    </a:solidFill>
                    <a:ln cap="flat" cmpd="sng" w="9525">
                      <a:solidFill>
                        <a:srgbClr val="8F7C0B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81" name="Google Shape;681;p22"/>
                    <p:cNvSpPr txBox="1"/>
                    <p:nvPr/>
                  </p:nvSpPr>
                  <p:spPr>
                    <a:xfrm>
                      <a:off x="1415716" y="1796344"/>
                      <a:ext cx="4009226" cy="5093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6E5F0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Use Case: </a:t>
                      </a: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Useful For Fixed Values Like </a:t>
                      </a:r>
                      <a:b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Tax Rates, Conversion Factors, Constants.</a:t>
                      </a:r>
                      <a:endParaRPr/>
                    </a:p>
                  </p:txBody>
                </p:sp>
              </p:grpSp>
              <p:grpSp>
                <p:nvGrpSpPr>
                  <p:cNvPr id="682" name="Google Shape;682;p22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683" name="Google Shape;683;p22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84" name="Google Shape;684;p22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4</a:t>
                      </a:r>
                      <a:endParaRPr/>
                    </a:p>
                  </p:txBody>
                </p:sp>
              </p:grpSp>
            </p:grpSp>
          </p:grpSp>
        </p:grpSp>
        <p:pic>
          <p:nvPicPr>
            <p:cNvPr id="685" name="Google Shape;68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19901" y="2242961"/>
              <a:ext cx="4448432" cy="29656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23"/>
          <p:cNvGrpSpPr/>
          <p:nvPr/>
        </p:nvGrpSpPr>
        <p:grpSpPr>
          <a:xfrm>
            <a:off x="2733368" y="0"/>
            <a:ext cx="6725264" cy="882869"/>
            <a:chOff x="2733368" y="0"/>
            <a:chExt cx="6725264" cy="882869"/>
          </a:xfrm>
        </p:grpSpPr>
        <p:sp>
          <p:nvSpPr>
            <p:cNvPr id="691" name="Google Shape;691;p23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3"/>
            <p:cNvSpPr txBox="1"/>
            <p:nvPr/>
          </p:nvSpPr>
          <p:spPr>
            <a:xfrm>
              <a:off x="2839656" y="118291"/>
              <a:ext cx="651268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Mixed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Cell Reference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693" name="Google Shape;693;p23"/>
          <p:cNvGrpSpPr/>
          <p:nvPr/>
        </p:nvGrpSpPr>
        <p:grpSpPr>
          <a:xfrm>
            <a:off x="776748" y="1236980"/>
            <a:ext cx="10638504" cy="4977582"/>
            <a:chOff x="776748" y="1236980"/>
            <a:chExt cx="10638504" cy="4977582"/>
          </a:xfrm>
        </p:grpSpPr>
        <p:grpSp>
          <p:nvGrpSpPr>
            <p:cNvPr id="694" name="Google Shape;694;p23"/>
            <p:cNvGrpSpPr/>
            <p:nvPr/>
          </p:nvGrpSpPr>
          <p:grpSpPr>
            <a:xfrm>
              <a:off x="776748" y="1236980"/>
              <a:ext cx="10638504" cy="4977582"/>
              <a:chOff x="776748" y="1236980"/>
              <a:chExt cx="10638504" cy="4977582"/>
            </a:xfrm>
          </p:grpSpPr>
          <p:sp>
            <p:nvSpPr>
              <p:cNvPr id="695" name="Google Shape;695;p23"/>
              <p:cNvSpPr/>
              <p:nvPr/>
            </p:nvSpPr>
            <p:spPr>
              <a:xfrm>
                <a:off x="776748" y="1236980"/>
                <a:ext cx="10638504" cy="4977582"/>
              </a:xfrm>
              <a:prstGeom prst="roundRect">
                <a:avLst>
                  <a:gd fmla="val 10242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982680" y="1535021"/>
                <a:ext cx="5626465" cy="4381500"/>
                <a:chOff x="982680" y="1562100"/>
                <a:chExt cx="4433761" cy="3452705"/>
              </a:xfrm>
            </p:grpSpPr>
            <p:grpSp>
              <p:nvGrpSpPr>
                <p:cNvPr id="697" name="Google Shape;697;p23"/>
                <p:cNvGrpSpPr/>
                <p:nvPr/>
              </p:nvGrpSpPr>
              <p:grpSpPr>
                <a:xfrm>
                  <a:off x="982680" y="1562100"/>
                  <a:ext cx="4329628" cy="780623"/>
                  <a:chOff x="991181" y="1660693"/>
                  <a:chExt cx="4329628" cy="780623"/>
                </a:xfrm>
              </p:grpSpPr>
              <p:grpSp>
                <p:nvGrpSpPr>
                  <p:cNvPr id="698" name="Google Shape;698;p23"/>
                  <p:cNvGrpSpPr/>
                  <p:nvPr/>
                </p:nvGrpSpPr>
                <p:grpSpPr>
                  <a:xfrm>
                    <a:off x="1187927" y="1660693"/>
                    <a:ext cx="4132882" cy="780623"/>
                    <a:chOff x="1187927" y="1660693"/>
                    <a:chExt cx="4132882" cy="780623"/>
                  </a:xfrm>
                </p:grpSpPr>
                <p:sp>
                  <p:nvSpPr>
                    <p:cNvPr id="699" name="Google Shape;699;p23"/>
                    <p:cNvSpPr/>
                    <p:nvPr/>
                  </p:nvSpPr>
                  <p:spPr>
                    <a:xfrm>
                      <a:off x="1187927" y="1660693"/>
                      <a:ext cx="4132882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025698">
                        <a:alpha val="5098"/>
                      </a:srgbClr>
                    </a:solidFill>
                    <a:ln cap="flat" cmpd="sng" w="9525">
                      <a:solidFill>
                        <a:srgbClr val="0070C0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508000" rotWithShape="0" algn="l" dist="38100">
                        <a:srgbClr val="000000">
                          <a:alpha val="10980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00" name="Google Shape;700;p23"/>
                    <p:cNvSpPr txBox="1"/>
                    <p:nvPr/>
                  </p:nvSpPr>
                  <p:spPr>
                    <a:xfrm>
                      <a:off x="1506925" y="1915952"/>
                      <a:ext cx="3717353" cy="291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Combination of relative and absolute.</a:t>
                      </a:r>
                      <a:endParaRPr/>
                    </a:p>
                  </p:txBody>
                </p:sp>
              </p:grpSp>
              <p:grpSp>
                <p:nvGrpSpPr>
                  <p:cNvPr id="701" name="Google Shape;701;p23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702" name="Google Shape;702;p23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03" name="Google Shape;703;p23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1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704" name="Google Shape;704;p23"/>
                <p:cNvGrpSpPr/>
                <p:nvPr/>
              </p:nvGrpSpPr>
              <p:grpSpPr>
                <a:xfrm>
                  <a:off x="982680" y="2452794"/>
                  <a:ext cx="4329628" cy="780623"/>
                  <a:chOff x="991181" y="1660693"/>
                  <a:chExt cx="4329628" cy="780623"/>
                </a:xfrm>
              </p:grpSpPr>
              <p:grpSp>
                <p:nvGrpSpPr>
                  <p:cNvPr id="705" name="Google Shape;705;p23"/>
                  <p:cNvGrpSpPr/>
                  <p:nvPr/>
                </p:nvGrpSpPr>
                <p:grpSpPr>
                  <a:xfrm>
                    <a:off x="1187927" y="1660693"/>
                    <a:ext cx="4132882" cy="780623"/>
                    <a:chOff x="1187927" y="1660693"/>
                    <a:chExt cx="4132882" cy="780623"/>
                  </a:xfrm>
                </p:grpSpPr>
                <p:sp>
                  <p:nvSpPr>
                    <p:cNvPr id="706" name="Google Shape;706;p23"/>
                    <p:cNvSpPr/>
                    <p:nvPr/>
                  </p:nvSpPr>
                  <p:spPr>
                    <a:xfrm>
                      <a:off x="1187927" y="1660693"/>
                      <a:ext cx="4132882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FFF9E5">
                        <a:alpha val="56078"/>
                      </a:srgbClr>
                    </a:solidFill>
                    <a:ln cap="flat" cmpd="sng" w="9525">
                      <a:solidFill>
                        <a:srgbClr val="8F7C0B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07" name="Google Shape;707;p23"/>
                    <p:cNvSpPr txBox="1"/>
                    <p:nvPr/>
                  </p:nvSpPr>
                  <p:spPr>
                    <a:xfrm>
                      <a:off x="1415714" y="1905483"/>
                      <a:ext cx="3604860" cy="291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6E5F0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$A1 → column A fixed, row changes.</a:t>
                      </a:r>
                      <a:endParaRPr sz="18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p:txBody>
                </p:sp>
              </p:grpSp>
              <p:grpSp>
                <p:nvGrpSpPr>
                  <p:cNvPr id="708" name="Google Shape;708;p23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709" name="Google Shape;709;p23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0" name="Google Shape;710;p23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2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711" name="Google Shape;711;p23"/>
                <p:cNvGrpSpPr/>
                <p:nvPr/>
              </p:nvGrpSpPr>
              <p:grpSpPr>
                <a:xfrm>
                  <a:off x="982680" y="3343488"/>
                  <a:ext cx="4329628" cy="780623"/>
                  <a:chOff x="991181" y="1660693"/>
                  <a:chExt cx="4329628" cy="780623"/>
                </a:xfrm>
              </p:grpSpPr>
              <p:grpSp>
                <p:nvGrpSpPr>
                  <p:cNvPr id="712" name="Google Shape;712;p23"/>
                  <p:cNvGrpSpPr/>
                  <p:nvPr/>
                </p:nvGrpSpPr>
                <p:grpSpPr>
                  <a:xfrm>
                    <a:off x="1187927" y="1660693"/>
                    <a:ext cx="4132882" cy="780623"/>
                    <a:chOff x="1187927" y="1660693"/>
                    <a:chExt cx="4132882" cy="780623"/>
                  </a:xfrm>
                </p:grpSpPr>
                <p:sp>
                  <p:nvSpPr>
                    <p:cNvPr id="713" name="Google Shape;713;p23"/>
                    <p:cNvSpPr/>
                    <p:nvPr/>
                  </p:nvSpPr>
                  <p:spPr>
                    <a:xfrm>
                      <a:off x="1187927" y="1660693"/>
                      <a:ext cx="4132882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025698">
                        <a:alpha val="5098"/>
                      </a:srgbClr>
                    </a:solidFill>
                    <a:ln cap="flat" cmpd="sng" w="9525">
                      <a:solidFill>
                        <a:srgbClr val="0070C0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508000" rotWithShape="0" algn="l" dist="38100">
                        <a:srgbClr val="000000">
                          <a:alpha val="10980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4" name="Google Shape;714;p23"/>
                    <p:cNvSpPr txBox="1"/>
                    <p:nvPr/>
                  </p:nvSpPr>
                  <p:spPr>
                    <a:xfrm>
                      <a:off x="1415715" y="1905484"/>
                      <a:ext cx="3671748" cy="291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A$1 → Row 1 Fixed, Column Changes.</a:t>
                      </a:r>
                      <a:endParaRPr sz="18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p:txBody>
                </p:sp>
              </p:grpSp>
              <p:grpSp>
                <p:nvGrpSpPr>
                  <p:cNvPr id="715" name="Google Shape;715;p23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716" name="Google Shape;716;p23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7" name="Google Shape;717;p23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718" name="Google Shape;718;p23"/>
                <p:cNvGrpSpPr/>
                <p:nvPr/>
              </p:nvGrpSpPr>
              <p:grpSpPr>
                <a:xfrm>
                  <a:off x="982680" y="4234182"/>
                  <a:ext cx="4433761" cy="780623"/>
                  <a:chOff x="991181" y="1660693"/>
                  <a:chExt cx="4433761" cy="780623"/>
                </a:xfrm>
              </p:grpSpPr>
              <p:grpSp>
                <p:nvGrpSpPr>
                  <p:cNvPr id="719" name="Google Shape;719;p23"/>
                  <p:cNvGrpSpPr/>
                  <p:nvPr/>
                </p:nvGrpSpPr>
                <p:grpSpPr>
                  <a:xfrm>
                    <a:off x="1187927" y="1660693"/>
                    <a:ext cx="4237015" cy="780623"/>
                    <a:chOff x="1187927" y="1660693"/>
                    <a:chExt cx="4237015" cy="780623"/>
                  </a:xfrm>
                </p:grpSpPr>
                <p:sp>
                  <p:nvSpPr>
                    <p:cNvPr id="720" name="Google Shape;720;p23"/>
                    <p:cNvSpPr/>
                    <p:nvPr/>
                  </p:nvSpPr>
                  <p:spPr>
                    <a:xfrm>
                      <a:off x="1187927" y="1660693"/>
                      <a:ext cx="4132882" cy="780623"/>
                    </a:xfrm>
                    <a:prstGeom prst="roundRect">
                      <a:avLst>
                        <a:gd fmla="val 21261" name="adj"/>
                      </a:avLst>
                    </a:prstGeom>
                    <a:solidFill>
                      <a:srgbClr val="FFF9E5">
                        <a:alpha val="56078"/>
                      </a:srgbClr>
                    </a:solidFill>
                    <a:ln cap="flat" cmpd="sng" w="9525">
                      <a:solidFill>
                        <a:srgbClr val="8F7C0B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1" name="Google Shape;721;p23"/>
                    <p:cNvSpPr txBox="1"/>
                    <p:nvPr/>
                  </p:nvSpPr>
                  <p:spPr>
                    <a:xfrm>
                      <a:off x="1415716" y="1796344"/>
                      <a:ext cx="4009226" cy="5093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6E5F0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Use case: </a:t>
                      </a:r>
                      <a:r>
                        <a:rPr lang="en-US" sz="1800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Helpful in tables or multiplying across both rows and columns.</a:t>
                      </a:r>
                      <a:endParaRPr/>
                    </a:p>
                  </p:txBody>
                </p:sp>
              </p:grpSp>
              <p:grpSp>
                <p:nvGrpSpPr>
                  <p:cNvPr id="722" name="Google Shape;722;p23"/>
                  <p:cNvGrpSpPr/>
                  <p:nvPr/>
                </p:nvGrpSpPr>
                <p:grpSpPr>
                  <a:xfrm>
                    <a:off x="991181" y="1866339"/>
                    <a:ext cx="370342" cy="369331"/>
                    <a:chOff x="897675" y="1686797"/>
                    <a:chExt cx="542600" cy="606903"/>
                  </a:xfrm>
                </p:grpSpPr>
                <p:sp>
                  <p:nvSpPr>
                    <p:cNvPr id="723" name="Google Shape;723;p23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4" name="Google Shape;724;p23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4</a:t>
                      </a:r>
                      <a:endParaRPr/>
                    </a:p>
                  </p:txBody>
                </p:sp>
              </p:grpSp>
            </p:grpSp>
          </p:grpSp>
        </p:grpSp>
        <p:pic>
          <p:nvPicPr>
            <p:cNvPr id="725" name="Google Shape;72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81800" y="2266248"/>
              <a:ext cx="4378570" cy="2919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24"/>
          <p:cNvGrpSpPr/>
          <p:nvPr/>
        </p:nvGrpSpPr>
        <p:grpSpPr>
          <a:xfrm>
            <a:off x="921774" y="1524000"/>
            <a:ext cx="10348452" cy="4690562"/>
            <a:chOff x="921774" y="1524000"/>
            <a:chExt cx="10348452" cy="4690562"/>
          </a:xfrm>
        </p:grpSpPr>
        <p:sp>
          <p:nvSpPr>
            <p:cNvPr id="731" name="Google Shape;731;p24"/>
            <p:cNvSpPr/>
            <p:nvPr/>
          </p:nvSpPr>
          <p:spPr>
            <a:xfrm>
              <a:off x="921774" y="1524000"/>
              <a:ext cx="10348452" cy="4690562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2" name="Google Shape;732;p24"/>
            <p:cNvGrpSpPr/>
            <p:nvPr/>
          </p:nvGrpSpPr>
          <p:grpSpPr>
            <a:xfrm>
              <a:off x="1107577" y="1804855"/>
              <a:ext cx="9976846" cy="4128852"/>
              <a:chOff x="982680" y="1562100"/>
              <a:chExt cx="8821834" cy="3452705"/>
            </a:xfrm>
          </p:grpSpPr>
          <p:grpSp>
            <p:nvGrpSpPr>
              <p:cNvPr id="733" name="Google Shape;733;p24"/>
              <p:cNvGrpSpPr/>
              <p:nvPr/>
            </p:nvGrpSpPr>
            <p:grpSpPr>
              <a:xfrm>
                <a:off x="982680" y="1562100"/>
                <a:ext cx="8749724" cy="780623"/>
                <a:chOff x="991181" y="1660693"/>
                <a:chExt cx="8749724" cy="780623"/>
              </a:xfrm>
            </p:grpSpPr>
            <p:grpSp>
              <p:nvGrpSpPr>
                <p:cNvPr id="734" name="Google Shape;734;p24"/>
                <p:cNvGrpSpPr/>
                <p:nvPr/>
              </p:nvGrpSpPr>
              <p:grpSpPr>
                <a:xfrm>
                  <a:off x="1187926" y="1660693"/>
                  <a:ext cx="8552979" cy="780623"/>
                  <a:chOff x="1187926" y="1660693"/>
                  <a:chExt cx="8552979" cy="780623"/>
                </a:xfrm>
              </p:grpSpPr>
              <p:sp>
                <p:nvSpPr>
                  <p:cNvPr id="735" name="Google Shape;735;p24"/>
                  <p:cNvSpPr/>
                  <p:nvPr/>
                </p:nvSpPr>
                <p:spPr>
                  <a:xfrm>
                    <a:off x="1187926" y="1660693"/>
                    <a:ext cx="8552979" cy="780623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6" name="Google Shape;736;p24"/>
                  <p:cNvSpPr txBox="1"/>
                  <p:nvPr/>
                </p:nvSpPr>
                <p:spPr>
                  <a:xfrm>
                    <a:off x="1519016" y="1894178"/>
                    <a:ext cx="7840077" cy="3345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Relative </a:t>
                    </a: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ensures formulas adapt automatically (saves time).</a:t>
                    </a:r>
                    <a:endParaRPr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  <p:grpSp>
              <p:nvGrpSpPr>
                <p:cNvPr id="737" name="Google Shape;737;p24"/>
                <p:cNvGrpSpPr/>
                <p:nvPr/>
              </p:nvGrpSpPr>
              <p:grpSpPr>
                <a:xfrm>
                  <a:off x="991181" y="1866339"/>
                  <a:ext cx="370342" cy="355007"/>
                  <a:chOff x="897675" y="1686797"/>
                  <a:chExt cx="542600" cy="583365"/>
                </a:xfrm>
              </p:grpSpPr>
              <p:sp>
                <p:nvSpPr>
                  <p:cNvPr id="738" name="Google Shape;738;p24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9" name="Google Shape;739;p24"/>
                  <p:cNvSpPr txBox="1"/>
                  <p:nvPr/>
                </p:nvSpPr>
                <p:spPr>
                  <a:xfrm>
                    <a:off x="983455" y="1686797"/>
                    <a:ext cx="240300" cy="5076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</p:grpSp>
          <p:grpSp>
            <p:nvGrpSpPr>
              <p:cNvPr id="740" name="Google Shape;740;p24"/>
              <p:cNvGrpSpPr/>
              <p:nvPr/>
            </p:nvGrpSpPr>
            <p:grpSpPr>
              <a:xfrm>
                <a:off x="982680" y="2452794"/>
                <a:ext cx="8749724" cy="780623"/>
                <a:chOff x="991181" y="1660693"/>
                <a:chExt cx="8749724" cy="780623"/>
              </a:xfrm>
            </p:grpSpPr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1187926" y="1660693"/>
                  <a:ext cx="8552979" cy="780623"/>
                  <a:chOff x="1187926" y="1660693"/>
                  <a:chExt cx="8552979" cy="780623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1187926" y="1660693"/>
                    <a:ext cx="8552979" cy="780623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3" name="Google Shape;743;p24"/>
                  <p:cNvSpPr txBox="1"/>
                  <p:nvPr/>
                </p:nvSpPr>
                <p:spPr>
                  <a:xfrm>
                    <a:off x="1519016" y="1883710"/>
                    <a:ext cx="7755068" cy="3345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88760A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Absolute </a:t>
                    </a: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prevents errors when you always need the same value</a:t>
                    </a:r>
                    <a:endParaRPr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  <p:grpSp>
              <p:nvGrpSpPr>
                <p:cNvPr id="744" name="Google Shape;744;p24"/>
                <p:cNvGrpSpPr/>
                <p:nvPr/>
              </p:nvGrpSpPr>
              <p:grpSpPr>
                <a:xfrm>
                  <a:off x="991181" y="1866339"/>
                  <a:ext cx="370342" cy="355007"/>
                  <a:chOff x="897675" y="1686797"/>
                  <a:chExt cx="542600" cy="583365"/>
                </a:xfrm>
              </p:grpSpPr>
              <p:sp>
                <p:nvSpPr>
                  <p:cNvPr id="745" name="Google Shape;745;p24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6" name="Google Shape;746;p24"/>
                  <p:cNvSpPr txBox="1"/>
                  <p:nvPr/>
                </p:nvSpPr>
                <p:spPr>
                  <a:xfrm>
                    <a:off x="983455" y="1686797"/>
                    <a:ext cx="240300" cy="5076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</p:grpSp>
          <p:grpSp>
            <p:nvGrpSpPr>
              <p:cNvPr id="747" name="Google Shape;747;p24"/>
              <p:cNvGrpSpPr/>
              <p:nvPr/>
            </p:nvGrpSpPr>
            <p:grpSpPr>
              <a:xfrm>
                <a:off x="982680" y="3343488"/>
                <a:ext cx="8749724" cy="780623"/>
                <a:chOff x="991181" y="1660693"/>
                <a:chExt cx="8749724" cy="780623"/>
              </a:xfrm>
            </p:grpSpPr>
            <p:grpSp>
              <p:nvGrpSpPr>
                <p:cNvPr id="748" name="Google Shape;748;p24"/>
                <p:cNvGrpSpPr/>
                <p:nvPr/>
              </p:nvGrpSpPr>
              <p:grpSpPr>
                <a:xfrm>
                  <a:off x="1187926" y="1660693"/>
                  <a:ext cx="8552979" cy="780623"/>
                  <a:chOff x="1187926" y="1660693"/>
                  <a:chExt cx="8552979" cy="780623"/>
                </a:xfrm>
              </p:grpSpPr>
              <p:sp>
                <p:nvSpPr>
                  <p:cNvPr id="749" name="Google Shape;749;p24"/>
                  <p:cNvSpPr/>
                  <p:nvPr/>
                </p:nvSpPr>
                <p:spPr>
                  <a:xfrm>
                    <a:off x="1187926" y="1660693"/>
                    <a:ext cx="8552979" cy="780623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0" name="Google Shape;750;p24"/>
                  <p:cNvSpPr txBox="1"/>
                  <p:nvPr/>
                </p:nvSpPr>
                <p:spPr>
                  <a:xfrm>
                    <a:off x="1519016" y="1883711"/>
                    <a:ext cx="7900189" cy="3345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Mixed </a:t>
                    </a: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gives flexibility in row/column operations.</a:t>
                    </a:r>
                    <a:endParaRPr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  <p:grpSp>
              <p:nvGrpSpPr>
                <p:cNvPr id="751" name="Google Shape;751;p24"/>
                <p:cNvGrpSpPr/>
                <p:nvPr/>
              </p:nvGrpSpPr>
              <p:grpSpPr>
                <a:xfrm>
                  <a:off x="991181" y="1866339"/>
                  <a:ext cx="370342" cy="355007"/>
                  <a:chOff x="897675" y="1686797"/>
                  <a:chExt cx="542600" cy="583365"/>
                </a:xfrm>
              </p:grpSpPr>
              <p:sp>
                <p:nvSpPr>
                  <p:cNvPr id="752" name="Google Shape;752;p24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3" name="Google Shape;753;p24"/>
                  <p:cNvSpPr txBox="1"/>
                  <p:nvPr/>
                </p:nvSpPr>
                <p:spPr>
                  <a:xfrm>
                    <a:off x="983455" y="1686797"/>
                    <a:ext cx="240300" cy="5076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</p:grpSp>
          <p:grpSp>
            <p:nvGrpSpPr>
              <p:cNvPr id="754" name="Google Shape;754;p24"/>
              <p:cNvGrpSpPr/>
              <p:nvPr/>
            </p:nvGrpSpPr>
            <p:grpSpPr>
              <a:xfrm>
                <a:off x="982680" y="4234182"/>
                <a:ext cx="8821834" cy="780623"/>
                <a:chOff x="991181" y="1660693"/>
                <a:chExt cx="8821834" cy="780623"/>
              </a:xfrm>
            </p:grpSpPr>
            <p:grpSp>
              <p:nvGrpSpPr>
                <p:cNvPr id="755" name="Google Shape;755;p24"/>
                <p:cNvGrpSpPr/>
                <p:nvPr/>
              </p:nvGrpSpPr>
              <p:grpSpPr>
                <a:xfrm>
                  <a:off x="1187926" y="1660693"/>
                  <a:ext cx="8625089" cy="780623"/>
                  <a:chOff x="1187926" y="1660693"/>
                  <a:chExt cx="8625089" cy="780623"/>
                </a:xfrm>
              </p:grpSpPr>
              <p:sp>
                <p:nvSpPr>
                  <p:cNvPr id="756" name="Google Shape;756;p24"/>
                  <p:cNvSpPr/>
                  <p:nvPr/>
                </p:nvSpPr>
                <p:spPr>
                  <a:xfrm>
                    <a:off x="1187926" y="1660693"/>
                    <a:ext cx="8552979" cy="780623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7" name="Google Shape;757;p24"/>
                  <p:cNvSpPr txBox="1"/>
                  <p:nvPr/>
                </p:nvSpPr>
                <p:spPr>
                  <a:xfrm>
                    <a:off x="1519016" y="1883710"/>
                    <a:ext cx="8293999" cy="3345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Without correct referencing, copied formulas may give </a:t>
                    </a:r>
                    <a:r>
                      <a:rPr lang="en-US" sz="2000">
                        <a:solidFill>
                          <a:srgbClr val="88760A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wrong results.</a:t>
                    </a:r>
                    <a:endParaRPr/>
                  </a:p>
                </p:txBody>
              </p:sp>
            </p:grpSp>
            <p:grpSp>
              <p:nvGrpSpPr>
                <p:cNvPr id="758" name="Google Shape;758;p24"/>
                <p:cNvGrpSpPr/>
                <p:nvPr/>
              </p:nvGrpSpPr>
              <p:grpSpPr>
                <a:xfrm>
                  <a:off x="991181" y="1866339"/>
                  <a:ext cx="370342" cy="355007"/>
                  <a:chOff x="897675" y="1686797"/>
                  <a:chExt cx="542600" cy="583365"/>
                </a:xfrm>
              </p:grpSpPr>
              <p:sp>
                <p:nvSpPr>
                  <p:cNvPr id="759" name="Google Shape;759;p24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0" name="Google Shape;760;p24"/>
                  <p:cNvSpPr txBox="1"/>
                  <p:nvPr/>
                </p:nvSpPr>
                <p:spPr>
                  <a:xfrm>
                    <a:off x="983455" y="1686797"/>
                    <a:ext cx="240300" cy="5076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4</a:t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761" name="Google Shape;761;p24"/>
          <p:cNvGrpSpPr/>
          <p:nvPr/>
        </p:nvGrpSpPr>
        <p:grpSpPr>
          <a:xfrm>
            <a:off x="1879600" y="-2"/>
            <a:ext cx="8432800" cy="1228531"/>
            <a:chOff x="3335172" y="-39546"/>
            <a:chExt cx="5521654" cy="922413"/>
          </a:xfrm>
        </p:grpSpPr>
        <p:sp>
          <p:nvSpPr>
            <p:cNvPr id="762" name="Google Shape;762;p24"/>
            <p:cNvSpPr/>
            <p:nvPr/>
          </p:nvSpPr>
          <p:spPr>
            <a:xfrm rot="10800000">
              <a:off x="3335172" y="-39546"/>
              <a:ext cx="5521654" cy="922413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4"/>
            <p:cNvSpPr txBox="1"/>
            <p:nvPr/>
          </p:nvSpPr>
          <p:spPr>
            <a:xfrm>
              <a:off x="3701067" y="37053"/>
              <a:ext cx="4789867" cy="808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Why </a:t>
              </a:r>
              <a:r>
                <a:rPr lang="en-US" sz="32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References Matter</a:t>
              </a:r>
              <a:r>
                <a:rPr lang="en-US" sz="32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When Copying Formulas</a:t>
              </a:r>
              <a:endPara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Google Shape;768;p25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769" name="Google Shape;769;p25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5"/>
            <p:cNvSpPr txBox="1"/>
            <p:nvPr/>
          </p:nvSpPr>
          <p:spPr>
            <a:xfrm>
              <a:off x="2928155" y="118292"/>
              <a:ext cx="63356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Hands-on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Practice</a:t>
              </a:r>
              <a:endParaRPr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771" name="Google Shape;771;p25"/>
          <p:cNvGrpSpPr/>
          <p:nvPr/>
        </p:nvGrpSpPr>
        <p:grpSpPr>
          <a:xfrm>
            <a:off x="776748" y="1524000"/>
            <a:ext cx="10638504" cy="4315420"/>
            <a:chOff x="776748" y="1524000"/>
            <a:chExt cx="10638504" cy="4315420"/>
          </a:xfrm>
        </p:grpSpPr>
        <p:sp>
          <p:nvSpPr>
            <p:cNvPr id="772" name="Google Shape;772;p25"/>
            <p:cNvSpPr/>
            <p:nvPr/>
          </p:nvSpPr>
          <p:spPr>
            <a:xfrm>
              <a:off x="776748" y="1524000"/>
              <a:ext cx="10638504" cy="431542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3" name="Google Shape;773;p25"/>
            <p:cNvGrpSpPr/>
            <p:nvPr/>
          </p:nvGrpSpPr>
          <p:grpSpPr>
            <a:xfrm>
              <a:off x="1013293" y="1877238"/>
              <a:ext cx="10165415" cy="3608944"/>
              <a:chOff x="1019271" y="1877238"/>
              <a:chExt cx="10165415" cy="3608944"/>
            </a:xfrm>
          </p:grpSpPr>
          <p:grpSp>
            <p:nvGrpSpPr>
              <p:cNvPr id="774" name="Google Shape;774;p25"/>
              <p:cNvGrpSpPr/>
              <p:nvPr/>
            </p:nvGrpSpPr>
            <p:grpSpPr>
              <a:xfrm>
                <a:off x="1019271" y="1877238"/>
                <a:ext cx="5112315" cy="3608944"/>
                <a:chOff x="1019271" y="1877238"/>
                <a:chExt cx="5112315" cy="3608944"/>
              </a:xfrm>
            </p:grpSpPr>
            <p:grpSp>
              <p:nvGrpSpPr>
                <p:cNvPr id="775" name="Google Shape;775;p25"/>
                <p:cNvGrpSpPr/>
                <p:nvPr/>
              </p:nvGrpSpPr>
              <p:grpSpPr>
                <a:xfrm>
                  <a:off x="1019271" y="2601010"/>
                  <a:ext cx="5112315" cy="1299361"/>
                  <a:chOff x="996840" y="1927248"/>
                  <a:chExt cx="5112315" cy="1299361"/>
                </a:xfrm>
              </p:grpSpPr>
              <p:grpSp>
                <p:nvGrpSpPr>
                  <p:cNvPr id="776" name="Google Shape;776;p25"/>
                  <p:cNvGrpSpPr/>
                  <p:nvPr/>
                </p:nvGrpSpPr>
                <p:grpSpPr>
                  <a:xfrm>
                    <a:off x="996840" y="2386000"/>
                    <a:ext cx="370342" cy="369396"/>
                    <a:chOff x="897675" y="1686797"/>
                    <a:chExt cx="542600" cy="587100"/>
                  </a:xfrm>
                </p:grpSpPr>
                <p:sp>
                  <p:nvSpPr>
                    <p:cNvPr id="777" name="Google Shape;777;p25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78" name="Google Shape;778;p25"/>
                    <p:cNvSpPr txBox="1"/>
                    <p:nvPr/>
                  </p:nvSpPr>
                  <p:spPr>
                    <a:xfrm>
                      <a:off x="994202" y="1686797"/>
                      <a:ext cx="240300" cy="587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1</a:t>
                      </a:r>
                      <a:endParaRPr/>
                    </a:p>
                  </p:txBody>
                </p:sp>
              </p:grpSp>
              <p:sp>
                <p:nvSpPr>
                  <p:cNvPr id="779" name="Google Shape;779;p25"/>
                  <p:cNvSpPr/>
                  <p:nvPr/>
                </p:nvSpPr>
                <p:spPr>
                  <a:xfrm>
                    <a:off x="1201082" y="1927248"/>
                    <a:ext cx="4908073" cy="1299361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0" name="Google Shape;780;p25"/>
                  <p:cNvSpPr txBox="1"/>
                  <p:nvPr/>
                </p:nvSpPr>
                <p:spPr>
                  <a:xfrm>
                    <a:off x="1506814" y="2135942"/>
                    <a:ext cx="4257606" cy="88197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Relative Cell Reference : </a:t>
                    </a:r>
                    <a:r>
                      <a:rPr lang="en-US" sz="18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In a new column</a:t>
                    </a:r>
                    <a:r>
                      <a:rPr lang="en-US" sz="18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 </a:t>
                    </a:r>
                    <a:r>
                      <a:rPr lang="en-US" sz="18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Total, </a:t>
                    </a:r>
                    <a:r>
                      <a:rPr lang="en-US" sz="18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calculate Price × Quantity.</a:t>
                    </a:r>
                    <a:endParaRPr/>
                  </a:p>
                </p:txBody>
              </p:sp>
            </p:grpSp>
            <p:grpSp>
              <p:nvGrpSpPr>
                <p:cNvPr id="781" name="Google Shape;781;p25"/>
                <p:cNvGrpSpPr/>
                <p:nvPr/>
              </p:nvGrpSpPr>
              <p:grpSpPr>
                <a:xfrm>
                  <a:off x="1019271" y="4186821"/>
                  <a:ext cx="5112315" cy="1299361"/>
                  <a:chOff x="1019271" y="4186821"/>
                  <a:chExt cx="5112315" cy="1299361"/>
                </a:xfrm>
              </p:grpSpPr>
              <p:sp>
                <p:nvSpPr>
                  <p:cNvPr id="782" name="Google Shape;782;p25"/>
                  <p:cNvSpPr/>
                  <p:nvPr/>
                </p:nvSpPr>
                <p:spPr>
                  <a:xfrm>
                    <a:off x="1223513" y="4186821"/>
                    <a:ext cx="4908073" cy="1299361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83" name="Google Shape;783;p25"/>
                  <p:cNvGrpSpPr/>
                  <p:nvPr/>
                </p:nvGrpSpPr>
                <p:grpSpPr>
                  <a:xfrm>
                    <a:off x="1019271" y="4645573"/>
                    <a:ext cx="370342" cy="369396"/>
                    <a:chOff x="897675" y="1686797"/>
                    <a:chExt cx="542600" cy="587100"/>
                  </a:xfrm>
                </p:grpSpPr>
                <p:sp>
                  <p:nvSpPr>
                    <p:cNvPr id="784" name="Google Shape;784;p25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85" name="Google Shape;785;p25"/>
                    <p:cNvSpPr txBox="1"/>
                    <p:nvPr/>
                  </p:nvSpPr>
                  <p:spPr>
                    <a:xfrm>
                      <a:off x="994202" y="1686797"/>
                      <a:ext cx="240300" cy="587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2</a:t>
                      </a:r>
                      <a:endParaRPr/>
                    </a:p>
                  </p:txBody>
                </p:sp>
              </p:grpSp>
              <p:sp>
                <p:nvSpPr>
                  <p:cNvPr id="786" name="Google Shape;786;p25"/>
                  <p:cNvSpPr txBox="1"/>
                  <p:nvPr/>
                </p:nvSpPr>
                <p:spPr>
                  <a:xfrm>
                    <a:off x="1529245" y="4355368"/>
                    <a:ext cx="4257606" cy="4649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Absolute Cell Reference : Assume Tax Rate = 10% in E1.</a:t>
                    </a:r>
                    <a:endParaRPr/>
                  </a:p>
                </p:txBody>
              </p:sp>
              <p:sp>
                <p:nvSpPr>
                  <p:cNvPr id="787" name="Google Shape;787;p25"/>
                  <p:cNvSpPr txBox="1"/>
                  <p:nvPr/>
                </p:nvSpPr>
                <p:spPr>
                  <a:xfrm>
                    <a:off x="1529245" y="4888731"/>
                    <a:ext cx="4257606" cy="523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4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In column With Tax, calculate Total × (1 + Tax Rate).</a:t>
                    </a:r>
                    <a:endParaRPr/>
                  </a:p>
                </p:txBody>
              </p:sp>
            </p:grpSp>
            <p:grpSp>
              <p:nvGrpSpPr>
                <p:cNvPr id="788" name="Google Shape;788;p25"/>
                <p:cNvGrpSpPr/>
                <p:nvPr/>
              </p:nvGrpSpPr>
              <p:grpSpPr>
                <a:xfrm>
                  <a:off x="2319804" y="1877238"/>
                  <a:ext cx="2511248" cy="437322"/>
                  <a:chOff x="2374857" y="1673775"/>
                  <a:chExt cx="2511248" cy="437322"/>
                </a:xfrm>
              </p:grpSpPr>
              <p:sp>
                <p:nvSpPr>
                  <p:cNvPr id="789" name="Google Shape;789;p25"/>
                  <p:cNvSpPr/>
                  <p:nvPr/>
                </p:nvSpPr>
                <p:spPr>
                  <a:xfrm>
                    <a:off x="2374857" y="1673775"/>
                    <a:ext cx="2511248" cy="437322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595959"/>
                  </a:solidFill>
                  <a:ln cap="flat" cmpd="sng" w="19050">
                    <a:solidFill>
                      <a:srgbClr val="082836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0" name="Google Shape;790;p25"/>
                  <p:cNvSpPr txBox="1"/>
                  <p:nvPr/>
                </p:nvSpPr>
                <p:spPr>
                  <a:xfrm>
                    <a:off x="2500561" y="1692381"/>
                    <a:ext cx="2259841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FFE697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Questions </a:t>
                    </a:r>
                    <a:endParaRPr/>
                  </a:p>
                </p:txBody>
              </p:sp>
            </p:grpSp>
          </p:grpSp>
          <p:pic>
            <p:nvPicPr>
              <p:cNvPr id="791" name="Google Shape;791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477000" y="1877238"/>
                <a:ext cx="4707686" cy="3099089"/>
              </a:xfrm>
              <a:prstGeom prst="roundRect">
                <a:avLst>
                  <a:gd fmla="val 11580" name="adj"/>
                </a:avLst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6" name="Google Shape;796;p26"/>
          <p:cNvGrpSpPr/>
          <p:nvPr/>
        </p:nvGrpSpPr>
        <p:grpSpPr>
          <a:xfrm>
            <a:off x="3372091" y="0"/>
            <a:ext cx="5447818" cy="882869"/>
            <a:chOff x="2733368" y="0"/>
            <a:chExt cx="6725264" cy="882869"/>
          </a:xfrm>
        </p:grpSpPr>
        <p:sp>
          <p:nvSpPr>
            <p:cNvPr id="797" name="Google Shape;797;p26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6"/>
            <p:cNvSpPr txBox="1"/>
            <p:nvPr/>
          </p:nvSpPr>
          <p:spPr>
            <a:xfrm>
              <a:off x="4290848" y="118292"/>
              <a:ext cx="3610304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Solution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799" name="Google Shape;799;p26"/>
          <p:cNvGrpSpPr/>
          <p:nvPr/>
        </p:nvGrpSpPr>
        <p:grpSpPr>
          <a:xfrm>
            <a:off x="1143000" y="1181100"/>
            <a:ext cx="9906000" cy="5001220"/>
            <a:chOff x="1219200" y="1181100"/>
            <a:chExt cx="9753600" cy="5001220"/>
          </a:xfrm>
        </p:grpSpPr>
        <p:sp>
          <p:nvSpPr>
            <p:cNvPr id="800" name="Google Shape;800;p26"/>
            <p:cNvSpPr/>
            <p:nvPr/>
          </p:nvSpPr>
          <p:spPr>
            <a:xfrm>
              <a:off x="1219200" y="1181100"/>
              <a:ext cx="9753600" cy="5001220"/>
            </a:xfrm>
            <a:prstGeom prst="roundRect">
              <a:avLst>
                <a:gd fmla="val 746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1" name="Google Shape;80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8922" y="1344209"/>
              <a:ext cx="9374156" cy="4675002"/>
            </a:xfrm>
            <a:prstGeom prst="roundRect">
              <a:avLst>
                <a:gd fmla="val 2951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6" name="Google Shape;806;p27"/>
          <p:cNvGrpSpPr/>
          <p:nvPr/>
        </p:nvGrpSpPr>
        <p:grpSpPr>
          <a:xfrm>
            <a:off x="776748" y="647700"/>
            <a:ext cx="10638504" cy="5562600"/>
            <a:chOff x="776748" y="781050"/>
            <a:chExt cx="10638504" cy="5295900"/>
          </a:xfrm>
        </p:grpSpPr>
        <p:grpSp>
          <p:nvGrpSpPr>
            <p:cNvPr id="807" name="Google Shape;807;p27"/>
            <p:cNvGrpSpPr/>
            <p:nvPr/>
          </p:nvGrpSpPr>
          <p:grpSpPr>
            <a:xfrm>
              <a:off x="776748" y="781050"/>
              <a:ext cx="10638504" cy="5295900"/>
              <a:chOff x="776748" y="781050"/>
              <a:chExt cx="10638504" cy="5295900"/>
            </a:xfrm>
          </p:grpSpPr>
          <p:sp>
            <p:nvSpPr>
              <p:cNvPr id="808" name="Google Shape;808;p27"/>
              <p:cNvSpPr/>
              <p:nvPr/>
            </p:nvSpPr>
            <p:spPr>
              <a:xfrm>
                <a:off x="776748" y="781050"/>
                <a:ext cx="10638504" cy="5295900"/>
              </a:xfrm>
              <a:prstGeom prst="roundRect">
                <a:avLst>
                  <a:gd fmla="val 10242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09" name="Google Shape;809;p27"/>
              <p:cNvGrpSpPr/>
              <p:nvPr/>
            </p:nvGrpSpPr>
            <p:grpSpPr>
              <a:xfrm>
                <a:off x="976289" y="954292"/>
                <a:ext cx="10239423" cy="4949417"/>
                <a:chOff x="983576" y="954292"/>
                <a:chExt cx="10239423" cy="4949417"/>
              </a:xfrm>
            </p:grpSpPr>
            <p:sp>
              <p:nvSpPr>
                <p:cNvPr id="810" name="Google Shape;810;p27"/>
                <p:cNvSpPr/>
                <p:nvPr/>
              </p:nvSpPr>
              <p:spPr>
                <a:xfrm>
                  <a:off x="983576" y="954292"/>
                  <a:ext cx="5089274" cy="4949417"/>
                </a:xfrm>
                <a:prstGeom prst="roundRect">
                  <a:avLst>
                    <a:gd fmla="val 8999" name="adj"/>
                  </a:avLst>
                </a:prstGeom>
                <a:solidFill>
                  <a:srgbClr val="025698">
                    <a:alpha val="5098"/>
                  </a:srgbClr>
                </a:solidFill>
                <a:ln>
                  <a:noFill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811" name="Google Shape;811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6302414" y="968708"/>
                  <a:ext cx="4920585" cy="4920585"/>
                </a:xfrm>
                <a:prstGeom prst="roundRect">
                  <a:avLst>
                    <a:gd fmla="val 7493" name="adj"/>
                  </a:avLst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812" name="Google Shape;812;p27"/>
            <p:cNvSpPr txBox="1"/>
            <p:nvPr/>
          </p:nvSpPr>
          <p:spPr>
            <a:xfrm>
              <a:off x="1644451" y="2828836"/>
              <a:ext cx="375295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Data Entry and</a:t>
              </a:r>
              <a:b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Formatting</a:t>
              </a:r>
              <a:endParaRPr i="1" sz="3600">
                <a:solidFill>
                  <a:srgbClr val="095698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oogle Shape;817;p28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818" name="Google Shape;818;p28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8"/>
            <p:cNvSpPr txBox="1"/>
            <p:nvPr/>
          </p:nvSpPr>
          <p:spPr>
            <a:xfrm>
              <a:off x="3811767" y="118292"/>
              <a:ext cx="456846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Entering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Data</a:t>
              </a:r>
              <a:endParaRPr/>
            </a:p>
          </p:txBody>
        </p:sp>
      </p:grpSp>
      <p:grpSp>
        <p:nvGrpSpPr>
          <p:cNvPr id="820" name="Google Shape;820;p28"/>
          <p:cNvGrpSpPr/>
          <p:nvPr/>
        </p:nvGrpSpPr>
        <p:grpSpPr>
          <a:xfrm>
            <a:off x="776748" y="1524000"/>
            <a:ext cx="10638504" cy="4381500"/>
            <a:chOff x="776748" y="1722353"/>
            <a:chExt cx="10638504" cy="3946695"/>
          </a:xfrm>
        </p:grpSpPr>
        <p:sp>
          <p:nvSpPr>
            <p:cNvPr id="821" name="Google Shape;821;p28"/>
            <p:cNvSpPr/>
            <p:nvPr/>
          </p:nvSpPr>
          <p:spPr>
            <a:xfrm>
              <a:off x="776748" y="1722353"/>
              <a:ext cx="10638504" cy="3946695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2" name="Google Shape;822;p28"/>
            <p:cNvGrpSpPr/>
            <p:nvPr/>
          </p:nvGrpSpPr>
          <p:grpSpPr>
            <a:xfrm>
              <a:off x="1040047" y="1960423"/>
              <a:ext cx="10111907" cy="3470555"/>
              <a:chOff x="1013293" y="1933916"/>
              <a:chExt cx="10111907" cy="3470555"/>
            </a:xfrm>
          </p:grpSpPr>
          <p:grpSp>
            <p:nvGrpSpPr>
              <p:cNvPr id="823" name="Google Shape;823;p28"/>
              <p:cNvGrpSpPr/>
              <p:nvPr/>
            </p:nvGrpSpPr>
            <p:grpSpPr>
              <a:xfrm>
                <a:off x="1013293" y="1933916"/>
                <a:ext cx="5112315" cy="3470555"/>
                <a:chOff x="1013293" y="2152060"/>
                <a:chExt cx="5112315" cy="3470555"/>
              </a:xfrm>
            </p:grpSpPr>
            <p:grpSp>
              <p:nvGrpSpPr>
                <p:cNvPr id="824" name="Google Shape;824;p28"/>
                <p:cNvGrpSpPr/>
                <p:nvPr/>
              </p:nvGrpSpPr>
              <p:grpSpPr>
                <a:xfrm>
                  <a:off x="1013293" y="2152060"/>
                  <a:ext cx="5112315" cy="1572227"/>
                  <a:chOff x="996840" y="1790815"/>
                  <a:chExt cx="5112315" cy="1572227"/>
                </a:xfrm>
              </p:grpSpPr>
              <p:sp>
                <p:nvSpPr>
                  <p:cNvPr id="825" name="Google Shape;825;p28"/>
                  <p:cNvSpPr/>
                  <p:nvPr/>
                </p:nvSpPr>
                <p:spPr>
                  <a:xfrm>
                    <a:off x="1201082" y="1790815"/>
                    <a:ext cx="4908073" cy="1572227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26" name="Google Shape;826;p28"/>
                  <p:cNvGrpSpPr/>
                  <p:nvPr/>
                </p:nvGrpSpPr>
                <p:grpSpPr>
                  <a:xfrm>
                    <a:off x="996840" y="2386000"/>
                    <a:ext cx="370342" cy="381856"/>
                    <a:chOff x="897675" y="1686797"/>
                    <a:chExt cx="542600" cy="606903"/>
                  </a:xfrm>
                </p:grpSpPr>
                <p:sp>
                  <p:nvSpPr>
                    <p:cNvPr id="827" name="Google Shape;827;p28"/>
                    <p:cNvSpPr/>
                    <p:nvPr/>
                  </p:nvSpPr>
                  <p:spPr>
                    <a:xfrm>
                      <a:off x="897675" y="1710505"/>
                      <a:ext cx="542600" cy="54846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28" name="Google Shape;828;p28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1</a:t>
                      </a:r>
                      <a:endParaRPr/>
                    </a:p>
                  </p:txBody>
                </p:sp>
              </p:grpSp>
              <p:sp>
                <p:nvSpPr>
                  <p:cNvPr id="829" name="Google Shape;829;p28"/>
                  <p:cNvSpPr txBox="1"/>
                  <p:nvPr/>
                </p:nvSpPr>
                <p:spPr>
                  <a:xfrm>
                    <a:off x="1506814" y="2222986"/>
                    <a:ext cx="4257606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13970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Entering text, numbers, or formulas into cells.</a:t>
                    </a:r>
                    <a:endParaRPr/>
                  </a:p>
                </p:txBody>
              </p:sp>
            </p:grpSp>
            <p:grpSp>
              <p:nvGrpSpPr>
                <p:cNvPr id="830" name="Google Shape;830;p28"/>
                <p:cNvGrpSpPr/>
                <p:nvPr/>
              </p:nvGrpSpPr>
              <p:grpSpPr>
                <a:xfrm>
                  <a:off x="1013293" y="4050388"/>
                  <a:ext cx="5112315" cy="1572227"/>
                  <a:chOff x="1019271" y="4050388"/>
                  <a:chExt cx="5112315" cy="1572227"/>
                </a:xfrm>
              </p:grpSpPr>
              <p:sp>
                <p:nvSpPr>
                  <p:cNvPr id="831" name="Google Shape;831;p28"/>
                  <p:cNvSpPr/>
                  <p:nvPr/>
                </p:nvSpPr>
                <p:spPr>
                  <a:xfrm>
                    <a:off x="1223513" y="4050388"/>
                    <a:ext cx="4908073" cy="1572227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32" name="Google Shape;832;p28"/>
                  <p:cNvGrpSpPr/>
                  <p:nvPr/>
                </p:nvGrpSpPr>
                <p:grpSpPr>
                  <a:xfrm>
                    <a:off x="1019271" y="4645573"/>
                    <a:ext cx="370342" cy="381856"/>
                    <a:chOff x="897675" y="1686797"/>
                    <a:chExt cx="542600" cy="606903"/>
                  </a:xfrm>
                </p:grpSpPr>
                <p:sp>
                  <p:nvSpPr>
                    <p:cNvPr id="833" name="Google Shape;833;p28"/>
                    <p:cNvSpPr/>
                    <p:nvPr/>
                  </p:nvSpPr>
                  <p:spPr>
                    <a:xfrm>
                      <a:off x="897675" y="1710505"/>
                      <a:ext cx="542600" cy="54846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4" name="Google Shape;834;p28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2</a:t>
                      </a:r>
                      <a:endParaRPr/>
                    </a:p>
                  </p:txBody>
                </p:sp>
              </p:grpSp>
              <p:sp>
                <p:nvSpPr>
                  <p:cNvPr id="835" name="Google Shape;835;p28"/>
                  <p:cNvSpPr txBox="1"/>
                  <p:nvPr/>
                </p:nvSpPr>
                <p:spPr>
                  <a:xfrm>
                    <a:off x="1529245" y="4497948"/>
                    <a:ext cx="4257606" cy="677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Editing directly in the cell or formula bar.</a:t>
                    </a:r>
                    <a:endParaRPr/>
                  </a:p>
                </p:txBody>
              </p:sp>
            </p:grpSp>
          </p:grpSp>
          <p:grpSp>
            <p:nvGrpSpPr>
              <p:cNvPr id="836" name="Google Shape;836;p28"/>
              <p:cNvGrpSpPr/>
              <p:nvPr/>
            </p:nvGrpSpPr>
            <p:grpSpPr>
              <a:xfrm>
                <a:off x="6477000" y="1950353"/>
                <a:ext cx="4648200" cy="3437680"/>
                <a:chOff x="3123375" y="1177766"/>
                <a:chExt cx="5800868" cy="3775575"/>
              </a:xfrm>
            </p:grpSpPr>
            <p:pic>
              <p:nvPicPr>
                <p:cNvPr id="837" name="Google Shape;837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123375" y="1177766"/>
                  <a:ext cx="5800868" cy="3775575"/>
                </a:xfrm>
                <a:prstGeom prst="roundRect">
                  <a:avLst>
                    <a:gd fmla="val 672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838" name="Google Shape;838;p28"/>
                <p:cNvSpPr/>
                <p:nvPr/>
              </p:nvSpPr>
              <p:spPr>
                <a:xfrm>
                  <a:off x="3340550" y="3908200"/>
                  <a:ext cx="870000" cy="293700"/>
                </a:xfrm>
                <a:prstGeom prst="wedgeRoundRectCallout">
                  <a:avLst>
                    <a:gd fmla="val -15003" name="adj1"/>
                    <a:gd fmla="val -124055" name="adj2"/>
                    <a:gd fmla="val 0" name="adj3"/>
                  </a:avLst>
                </a:prstGeom>
                <a:solidFill>
                  <a:srgbClr val="EFF3F7"/>
                </a:solidFill>
                <a:ln cap="flat" cmpd="sng" w="9525">
                  <a:solidFill>
                    <a:srgbClr val="09569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09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Text</a:t>
                  </a:r>
                  <a:endParaRPr b="1" sz="1200">
                    <a:solidFill>
                      <a:srgbClr val="09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839" name="Google Shape;839;p28"/>
                <p:cNvSpPr/>
                <p:nvPr/>
              </p:nvSpPr>
              <p:spPr>
                <a:xfrm>
                  <a:off x="4525850" y="3843125"/>
                  <a:ext cx="1044000" cy="293700"/>
                </a:xfrm>
                <a:prstGeom prst="wedgeRoundRectCallout">
                  <a:avLst>
                    <a:gd fmla="val -15003" name="adj1"/>
                    <a:gd fmla="val -124055" name="adj2"/>
                    <a:gd fmla="val 0" name="adj3"/>
                  </a:avLst>
                </a:prstGeom>
                <a:solidFill>
                  <a:srgbClr val="EFF3F7"/>
                </a:solidFill>
                <a:ln cap="flat" cmpd="sng" w="9525">
                  <a:solidFill>
                    <a:srgbClr val="09569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09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Number</a:t>
                  </a:r>
                  <a:endParaRPr b="1" sz="1200">
                    <a:solidFill>
                      <a:srgbClr val="09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840" name="Google Shape;840;p28"/>
                <p:cNvSpPr/>
                <p:nvPr/>
              </p:nvSpPr>
              <p:spPr>
                <a:xfrm>
                  <a:off x="6298675" y="3256075"/>
                  <a:ext cx="1174200" cy="293700"/>
                </a:xfrm>
                <a:prstGeom prst="wedgeRoundRectCallout">
                  <a:avLst>
                    <a:gd fmla="val -78784" name="adj1"/>
                    <a:gd fmla="val 35044" name="adj2"/>
                    <a:gd fmla="val 0" name="adj3"/>
                  </a:avLst>
                </a:prstGeom>
                <a:solidFill>
                  <a:srgbClr val="EFF3F7"/>
                </a:solidFill>
                <a:ln cap="flat" cmpd="sng" w="9525">
                  <a:solidFill>
                    <a:srgbClr val="09569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09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Formula</a:t>
                  </a:r>
                  <a:endParaRPr b="1" sz="1200">
                    <a:solidFill>
                      <a:srgbClr val="09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oogle Shape;845;p29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846" name="Google Shape;846;p29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9"/>
            <p:cNvSpPr txBox="1"/>
            <p:nvPr/>
          </p:nvSpPr>
          <p:spPr>
            <a:xfrm>
              <a:off x="3811767" y="118292"/>
              <a:ext cx="456846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Editing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Data</a:t>
              </a:r>
              <a:endParaRPr/>
            </a:p>
          </p:txBody>
        </p:sp>
      </p:grpSp>
      <p:grpSp>
        <p:nvGrpSpPr>
          <p:cNvPr id="848" name="Google Shape;848;p29"/>
          <p:cNvGrpSpPr/>
          <p:nvPr/>
        </p:nvGrpSpPr>
        <p:grpSpPr>
          <a:xfrm>
            <a:off x="776748" y="1524000"/>
            <a:ext cx="10638504" cy="4381500"/>
            <a:chOff x="776748" y="1524000"/>
            <a:chExt cx="10638504" cy="4381500"/>
          </a:xfrm>
        </p:grpSpPr>
        <p:sp>
          <p:nvSpPr>
            <p:cNvPr id="849" name="Google Shape;849;p29"/>
            <p:cNvSpPr/>
            <p:nvPr/>
          </p:nvSpPr>
          <p:spPr>
            <a:xfrm>
              <a:off x="776748" y="1524000"/>
              <a:ext cx="10638504" cy="43815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0" name="Google Shape;850;p29"/>
            <p:cNvGrpSpPr/>
            <p:nvPr/>
          </p:nvGrpSpPr>
          <p:grpSpPr>
            <a:xfrm>
              <a:off x="865876" y="1746353"/>
              <a:ext cx="5436953" cy="3936794"/>
              <a:chOff x="865876" y="1727303"/>
              <a:chExt cx="5436953" cy="3936794"/>
            </a:xfrm>
          </p:grpSpPr>
          <p:grpSp>
            <p:nvGrpSpPr>
              <p:cNvPr id="851" name="Google Shape;851;p29"/>
              <p:cNvGrpSpPr/>
              <p:nvPr/>
            </p:nvGrpSpPr>
            <p:grpSpPr>
              <a:xfrm>
                <a:off x="865876" y="1727303"/>
                <a:ext cx="5436953" cy="1181237"/>
                <a:chOff x="996840" y="1986310"/>
                <a:chExt cx="5436953" cy="1181237"/>
              </a:xfrm>
            </p:grpSpPr>
            <p:grpSp>
              <p:nvGrpSpPr>
                <p:cNvPr id="852" name="Google Shape;852;p29"/>
                <p:cNvGrpSpPr/>
                <p:nvPr/>
              </p:nvGrpSpPr>
              <p:grpSpPr>
                <a:xfrm>
                  <a:off x="996840" y="2386000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853" name="Google Shape;853;p29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" name="Google Shape;854;p2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  <p:sp>
              <p:nvSpPr>
                <p:cNvPr id="855" name="Google Shape;855;p29"/>
                <p:cNvSpPr/>
                <p:nvPr/>
              </p:nvSpPr>
              <p:spPr>
                <a:xfrm>
                  <a:off x="1201082" y="1986310"/>
                  <a:ext cx="5232711" cy="1181237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6" name="Google Shape;856;p29"/>
                <p:cNvSpPr txBox="1"/>
                <p:nvPr/>
              </p:nvSpPr>
              <p:spPr>
                <a:xfrm>
                  <a:off x="1625373" y="2218976"/>
                  <a:ext cx="2371201" cy="2186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Direct Editing:</a:t>
                  </a:r>
                  <a:endParaRPr/>
                </a:p>
              </p:txBody>
            </p:sp>
            <p:sp>
              <p:nvSpPr>
                <p:cNvPr id="857" name="Google Shape;857;p29"/>
                <p:cNvSpPr txBox="1"/>
                <p:nvPr/>
              </p:nvSpPr>
              <p:spPr>
                <a:xfrm>
                  <a:off x="1506814" y="2499802"/>
                  <a:ext cx="4690358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171450" lvl="0" marL="17145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lang="en-US" sz="1400">
                      <a:solidFill>
                        <a:srgbClr val="595959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Double-click the cell to edit its content in place.</a:t>
                  </a:r>
                  <a:endParaRPr/>
                </a:p>
                <a:p>
                  <a:pPr indent="-171450" lvl="0" marL="17145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lang="en-US" sz="1400">
                      <a:solidFill>
                        <a:srgbClr val="595959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Use the F2 key to enable editing.</a:t>
                  </a:r>
                  <a:endParaRPr/>
                </a:p>
              </p:txBody>
            </p:sp>
          </p:grpSp>
          <p:grpSp>
            <p:nvGrpSpPr>
              <p:cNvPr id="858" name="Google Shape;858;p29"/>
              <p:cNvGrpSpPr/>
              <p:nvPr/>
            </p:nvGrpSpPr>
            <p:grpSpPr>
              <a:xfrm>
                <a:off x="865876" y="3105081"/>
                <a:ext cx="5436953" cy="1181237"/>
                <a:chOff x="1019271" y="4245883"/>
                <a:chExt cx="5436953" cy="1181237"/>
              </a:xfrm>
            </p:grpSpPr>
            <p:sp>
              <p:nvSpPr>
                <p:cNvPr id="859" name="Google Shape;859;p29"/>
                <p:cNvSpPr/>
                <p:nvPr/>
              </p:nvSpPr>
              <p:spPr>
                <a:xfrm>
                  <a:off x="1223513" y="4245883"/>
                  <a:ext cx="5232711" cy="1181237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" name="Google Shape;860;p29"/>
                <p:cNvGrpSpPr/>
                <p:nvPr/>
              </p:nvGrpSpPr>
              <p:grpSpPr>
                <a:xfrm>
                  <a:off x="1019271" y="4645573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861" name="Google Shape;861;p29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" name="Google Shape;862;p2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  <p:sp>
              <p:nvSpPr>
                <p:cNvPr id="863" name="Google Shape;863;p29"/>
                <p:cNvSpPr txBox="1"/>
                <p:nvPr/>
              </p:nvSpPr>
              <p:spPr>
                <a:xfrm>
                  <a:off x="1529245" y="4419847"/>
                  <a:ext cx="4257606" cy="3554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Formula Bar Editing:</a:t>
                  </a:r>
                  <a:endParaRPr/>
                </a:p>
              </p:txBody>
            </p:sp>
            <p:sp>
              <p:nvSpPr>
                <p:cNvPr id="864" name="Google Shape;864;p29"/>
                <p:cNvSpPr txBox="1"/>
                <p:nvPr/>
              </p:nvSpPr>
              <p:spPr>
                <a:xfrm>
                  <a:off x="1529245" y="4703685"/>
                  <a:ext cx="4257606" cy="5016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171450" lvl="0" marL="17145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lang="en-US" sz="1400">
                      <a:solidFill>
                        <a:srgbClr val="595959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Click the cell, and edit the content in the formula bar.</a:t>
                  </a:r>
                  <a:endParaRPr/>
                </a:p>
              </p:txBody>
            </p:sp>
          </p:grpSp>
          <p:grpSp>
            <p:nvGrpSpPr>
              <p:cNvPr id="865" name="Google Shape;865;p29"/>
              <p:cNvGrpSpPr/>
              <p:nvPr/>
            </p:nvGrpSpPr>
            <p:grpSpPr>
              <a:xfrm>
                <a:off x="865876" y="4482860"/>
                <a:ext cx="5436953" cy="1181237"/>
                <a:chOff x="996840" y="1986310"/>
                <a:chExt cx="5436953" cy="1181237"/>
              </a:xfrm>
            </p:grpSpPr>
            <p:grpSp>
              <p:nvGrpSpPr>
                <p:cNvPr id="866" name="Google Shape;866;p29"/>
                <p:cNvGrpSpPr/>
                <p:nvPr/>
              </p:nvGrpSpPr>
              <p:grpSpPr>
                <a:xfrm>
                  <a:off x="996840" y="2386000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867" name="Google Shape;867;p29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" name="Google Shape;868;p2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  <p:sp>
              <p:nvSpPr>
                <p:cNvPr id="869" name="Google Shape;869;p29"/>
                <p:cNvSpPr/>
                <p:nvPr/>
              </p:nvSpPr>
              <p:spPr>
                <a:xfrm>
                  <a:off x="1201082" y="1986310"/>
                  <a:ext cx="5232711" cy="1181237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0" name="Google Shape;870;p29"/>
                <p:cNvSpPr txBox="1"/>
                <p:nvPr/>
              </p:nvSpPr>
              <p:spPr>
                <a:xfrm>
                  <a:off x="1506813" y="2267613"/>
                  <a:ext cx="4926980" cy="6186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Correcting errors using Undo (Ctrl + Z) </a:t>
                  </a:r>
                  <a:b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</a:b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or Backspace.</a:t>
                  </a:r>
                  <a:endParaRPr sz="18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</p:grpSp>
        <p:pic>
          <p:nvPicPr>
            <p:cNvPr id="871" name="Google Shape;871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47756" y="2123622"/>
              <a:ext cx="4773387" cy="31822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" name="Google Shape;876;p30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877" name="Google Shape;877;p30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0"/>
            <p:cNvSpPr txBox="1"/>
            <p:nvPr/>
          </p:nvSpPr>
          <p:spPr>
            <a:xfrm>
              <a:off x="3811767" y="118292"/>
              <a:ext cx="456846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Deleting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Data</a:t>
              </a:r>
              <a:endParaRPr/>
            </a:p>
          </p:txBody>
        </p:sp>
      </p:grpSp>
      <p:grpSp>
        <p:nvGrpSpPr>
          <p:cNvPr id="879" name="Google Shape;879;p30"/>
          <p:cNvGrpSpPr/>
          <p:nvPr/>
        </p:nvGrpSpPr>
        <p:grpSpPr>
          <a:xfrm>
            <a:off x="776748" y="1219200"/>
            <a:ext cx="10755345" cy="4979633"/>
            <a:chOff x="776748" y="1485899"/>
            <a:chExt cx="10755345" cy="4979633"/>
          </a:xfrm>
        </p:grpSpPr>
        <p:sp>
          <p:nvSpPr>
            <p:cNvPr id="880" name="Google Shape;880;p30"/>
            <p:cNvSpPr/>
            <p:nvPr/>
          </p:nvSpPr>
          <p:spPr>
            <a:xfrm>
              <a:off x="776748" y="1485899"/>
              <a:ext cx="10638504" cy="4979633"/>
            </a:xfrm>
            <a:prstGeom prst="roundRect">
              <a:avLst>
                <a:gd fmla="val 649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" name="Google Shape;881;p30"/>
            <p:cNvGrpSpPr/>
            <p:nvPr/>
          </p:nvGrpSpPr>
          <p:grpSpPr>
            <a:xfrm>
              <a:off x="966338" y="1628444"/>
              <a:ext cx="10565755" cy="4618342"/>
              <a:chOff x="874913" y="1591958"/>
              <a:chExt cx="10565755" cy="4618342"/>
            </a:xfrm>
          </p:grpSpPr>
          <p:grpSp>
            <p:nvGrpSpPr>
              <p:cNvPr id="882" name="Google Shape;882;p30"/>
              <p:cNvGrpSpPr/>
              <p:nvPr/>
            </p:nvGrpSpPr>
            <p:grpSpPr>
              <a:xfrm>
                <a:off x="874913" y="1591958"/>
                <a:ext cx="10565755" cy="500959"/>
                <a:chOff x="996840" y="2326449"/>
                <a:chExt cx="10565755" cy="500959"/>
              </a:xfrm>
            </p:grpSpPr>
            <p:grpSp>
              <p:nvGrpSpPr>
                <p:cNvPr id="883" name="Google Shape;883;p30"/>
                <p:cNvGrpSpPr/>
                <p:nvPr/>
              </p:nvGrpSpPr>
              <p:grpSpPr>
                <a:xfrm>
                  <a:off x="996840" y="2386000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884" name="Google Shape;884;p30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5" name="Google Shape;885;p30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  <p:sp>
              <p:nvSpPr>
                <p:cNvPr id="886" name="Google Shape;886;p30"/>
                <p:cNvSpPr/>
                <p:nvPr/>
              </p:nvSpPr>
              <p:spPr>
                <a:xfrm>
                  <a:off x="1201082" y="2326449"/>
                  <a:ext cx="10055082" cy="500959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7" name="Google Shape;887;p30"/>
                <p:cNvSpPr txBox="1"/>
                <p:nvPr/>
              </p:nvSpPr>
              <p:spPr>
                <a:xfrm>
                  <a:off x="1506814" y="2392262"/>
                  <a:ext cx="1005578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Use The Delete Key To Clear The Content Of A Cell Without Affecting Its Formatting.</a:t>
                  </a:r>
                  <a:endParaRPr/>
                </a:p>
              </p:txBody>
            </p:sp>
          </p:grpSp>
          <p:grpSp>
            <p:nvGrpSpPr>
              <p:cNvPr id="888" name="Google Shape;888;p30"/>
              <p:cNvGrpSpPr/>
              <p:nvPr/>
            </p:nvGrpSpPr>
            <p:grpSpPr>
              <a:xfrm>
                <a:off x="874913" y="2234206"/>
                <a:ext cx="10259324" cy="1565437"/>
                <a:chOff x="1019271" y="4245883"/>
                <a:chExt cx="10259324" cy="1565437"/>
              </a:xfrm>
            </p:grpSpPr>
            <p:sp>
              <p:nvSpPr>
                <p:cNvPr id="889" name="Google Shape;889;p30"/>
                <p:cNvSpPr/>
                <p:nvPr/>
              </p:nvSpPr>
              <p:spPr>
                <a:xfrm>
                  <a:off x="1223513" y="4245883"/>
                  <a:ext cx="10055082" cy="1565437"/>
                </a:xfrm>
                <a:prstGeom prst="roundRect">
                  <a:avLst>
                    <a:gd fmla="val 9211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90" name="Google Shape;890;p30"/>
                <p:cNvGrpSpPr/>
                <p:nvPr/>
              </p:nvGrpSpPr>
              <p:grpSpPr>
                <a:xfrm>
                  <a:off x="1019271" y="4645573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891" name="Google Shape;891;p30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2" name="Google Shape;892;p30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  <p:sp>
              <p:nvSpPr>
                <p:cNvPr id="893" name="Google Shape;893;p30"/>
                <p:cNvSpPr txBox="1"/>
                <p:nvPr/>
              </p:nvSpPr>
              <p:spPr>
                <a:xfrm>
                  <a:off x="1529245" y="4304438"/>
                  <a:ext cx="8214464" cy="3554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Use The Clear Option From The Ribbon For More Options:</a:t>
                  </a:r>
                  <a:endParaRPr/>
                </a:p>
              </p:txBody>
            </p:sp>
            <p:sp>
              <p:nvSpPr>
                <p:cNvPr id="894" name="Google Shape;894;p30"/>
                <p:cNvSpPr txBox="1"/>
                <p:nvPr/>
              </p:nvSpPr>
              <p:spPr>
                <a:xfrm>
                  <a:off x="1529245" y="4794885"/>
                  <a:ext cx="7137835" cy="8286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171450" lvl="1" marL="171450" marR="0" rtl="0" algn="l">
                    <a:lnSpc>
                      <a:spcPct val="625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b="0" i="0" lang="en-US" sz="1600" u="none" cap="none" strike="noStrike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Clear All:</a:t>
                  </a:r>
                  <a:r>
                    <a:rPr b="0" i="0" lang="en-US" sz="1600" u="none" cap="none" strike="noStrike">
                      <a:solidFill>
                        <a:srgbClr val="595959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 Removes everything (content, formatting, comments).</a:t>
                  </a:r>
                  <a:endParaRPr/>
                </a:p>
                <a:p>
                  <a:pPr indent="-171450" lvl="1" marL="171450" marR="0" rtl="0" algn="l">
                    <a:lnSpc>
                      <a:spcPct val="62500"/>
                    </a:lnSpc>
                    <a:spcBef>
                      <a:spcPts val="1333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b="0" i="0" lang="en-US" sz="1600" u="none" cap="none" strike="noStrike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Clear Contents: </a:t>
                  </a:r>
                  <a:r>
                    <a:rPr b="0" i="0" lang="en-US" sz="1600" u="none" cap="none" strike="noStrike">
                      <a:solidFill>
                        <a:srgbClr val="595959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Removes data but keeps formatting.</a:t>
                  </a:r>
                  <a:endParaRPr/>
                </a:p>
                <a:p>
                  <a:pPr indent="-171450" lvl="1" marL="171450" marR="0" rtl="0" algn="l">
                    <a:lnSpc>
                      <a:spcPct val="62500"/>
                    </a:lnSpc>
                    <a:spcBef>
                      <a:spcPts val="1333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b="0" i="0" lang="en-US" sz="1600" u="none" cap="none" strike="noStrike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Clear Formats: </a:t>
                  </a:r>
                  <a:r>
                    <a:rPr b="0" i="0" lang="en-US" sz="1600" u="none" cap="none" strike="noStrike">
                      <a:solidFill>
                        <a:srgbClr val="595959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Removes styling but keeps data.</a:t>
                  </a:r>
                  <a:endParaRPr/>
                </a:p>
              </p:txBody>
            </p:sp>
          </p:grpSp>
          <p:grpSp>
            <p:nvGrpSpPr>
              <p:cNvPr id="895" name="Google Shape;895;p30"/>
              <p:cNvGrpSpPr/>
              <p:nvPr/>
            </p:nvGrpSpPr>
            <p:grpSpPr>
              <a:xfrm>
                <a:off x="983728" y="4023009"/>
                <a:ext cx="10041695" cy="2187291"/>
                <a:chOff x="1101579" y="4474766"/>
                <a:chExt cx="10041695" cy="2187291"/>
              </a:xfrm>
            </p:grpSpPr>
            <p:pic>
              <p:nvPicPr>
                <p:cNvPr id="896" name="Google Shape;896;p3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101579" y="4474766"/>
                  <a:ext cx="10041695" cy="2187291"/>
                </a:xfrm>
                <a:prstGeom prst="roundRect">
                  <a:avLst>
                    <a:gd fmla="val 6520" name="adj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  <p:grpSp>
              <p:nvGrpSpPr>
                <p:cNvPr id="897" name="Google Shape;897;p30"/>
                <p:cNvGrpSpPr/>
                <p:nvPr/>
              </p:nvGrpSpPr>
              <p:grpSpPr>
                <a:xfrm>
                  <a:off x="7086578" y="5227025"/>
                  <a:ext cx="3697100" cy="1386839"/>
                  <a:chOff x="5069550" y="3060000"/>
                  <a:chExt cx="3697100" cy="1630975"/>
                </a:xfrm>
              </p:grpSpPr>
              <p:sp>
                <p:nvSpPr>
                  <p:cNvPr id="898" name="Google Shape;898;p30"/>
                  <p:cNvSpPr/>
                  <p:nvPr/>
                </p:nvSpPr>
                <p:spPr>
                  <a:xfrm>
                    <a:off x="7646750" y="3060000"/>
                    <a:ext cx="1119900" cy="1305000"/>
                  </a:xfrm>
                  <a:prstGeom prst="rect">
                    <a:avLst/>
                  </a:prstGeom>
                  <a:noFill/>
                  <a:ln cap="flat" cmpd="sng" w="19050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9" name="Google Shape;899;p30"/>
                  <p:cNvSpPr/>
                  <p:nvPr/>
                </p:nvSpPr>
                <p:spPr>
                  <a:xfrm>
                    <a:off x="5069550" y="3832075"/>
                    <a:ext cx="1533300" cy="858900"/>
                  </a:xfrm>
                  <a:prstGeom prst="wedgeRoundRectCallout">
                    <a:avLst>
                      <a:gd fmla="val 125630" name="adj1"/>
                      <a:gd fmla="val -62500" name="adj2"/>
                      <a:gd fmla="val 0" name="adj3"/>
                    </a:avLst>
                  </a:prstGeom>
                  <a:solidFill>
                    <a:srgbClr val="EFF3F7"/>
                  </a:solidFill>
                  <a:ln cap="flat" cmpd="sng" w="9525">
                    <a:solidFill>
                      <a:srgbClr val="095698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US" sz="1200">
                        <a:solidFill>
                          <a:srgbClr val="09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In </a:t>
                    </a:r>
                    <a:r>
                      <a:rPr b="1" lang="en-US" sz="1200">
                        <a:solidFill>
                          <a:srgbClr val="095698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Home Tab, </a:t>
                    </a:r>
                    <a:r>
                      <a:rPr b="1" lang="en-US" sz="1200">
                        <a:solidFill>
                          <a:srgbClr val="09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click on </a:t>
                    </a:r>
                    <a:r>
                      <a:rPr b="1" lang="en-US" sz="1200">
                        <a:solidFill>
                          <a:srgbClr val="095698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Clear</a:t>
                    </a:r>
                    <a:r>
                      <a:rPr b="1" lang="en-US" sz="1200">
                        <a:solidFill>
                          <a:srgbClr val="09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 Option</a:t>
                    </a:r>
                    <a:endParaRPr b="1" sz="1200">
                      <a:solidFill>
                        <a:srgbClr val="09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4" name="Google Shape;904;p31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905" name="Google Shape;905;p31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1"/>
            <p:cNvSpPr txBox="1"/>
            <p:nvPr/>
          </p:nvSpPr>
          <p:spPr>
            <a:xfrm>
              <a:off x="3811767" y="118292"/>
              <a:ext cx="456846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Formatting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Basics</a:t>
              </a:r>
              <a:endParaRPr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907" name="Google Shape;907;p31"/>
          <p:cNvGrpSpPr/>
          <p:nvPr/>
        </p:nvGrpSpPr>
        <p:grpSpPr>
          <a:xfrm>
            <a:off x="776748" y="1524000"/>
            <a:ext cx="10638504" cy="4381500"/>
            <a:chOff x="776748" y="1524000"/>
            <a:chExt cx="10638504" cy="4381500"/>
          </a:xfrm>
        </p:grpSpPr>
        <p:sp>
          <p:nvSpPr>
            <p:cNvPr id="908" name="Google Shape;908;p31"/>
            <p:cNvSpPr/>
            <p:nvPr/>
          </p:nvSpPr>
          <p:spPr>
            <a:xfrm>
              <a:off x="776748" y="1524000"/>
              <a:ext cx="10638504" cy="43815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9" name="Google Shape;909;p31"/>
            <p:cNvGrpSpPr/>
            <p:nvPr/>
          </p:nvGrpSpPr>
          <p:grpSpPr>
            <a:xfrm>
              <a:off x="941366" y="1971905"/>
              <a:ext cx="10309269" cy="3485690"/>
              <a:chOff x="865876" y="2050391"/>
              <a:chExt cx="10309269" cy="3485690"/>
            </a:xfrm>
          </p:grpSpPr>
          <p:grpSp>
            <p:nvGrpSpPr>
              <p:cNvPr id="910" name="Google Shape;910;p31"/>
              <p:cNvGrpSpPr/>
              <p:nvPr/>
            </p:nvGrpSpPr>
            <p:grpSpPr>
              <a:xfrm>
                <a:off x="865876" y="2050391"/>
                <a:ext cx="5436953" cy="3485690"/>
                <a:chOff x="865876" y="2050391"/>
                <a:chExt cx="5436953" cy="3485690"/>
              </a:xfrm>
            </p:grpSpPr>
            <p:grpSp>
              <p:nvGrpSpPr>
                <p:cNvPr id="911" name="Google Shape;911;p31"/>
                <p:cNvGrpSpPr/>
                <p:nvPr/>
              </p:nvGrpSpPr>
              <p:grpSpPr>
                <a:xfrm>
                  <a:off x="865876" y="2050391"/>
                  <a:ext cx="5436953" cy="2113177"/>
                  <a:chOff x="865876" y="2050391"/>
                  <a:chExt cx="5436953" cy="2113177"/>
                </a:xfrm>
              </p:grpSpPr>
              <p:grpSp>
                <p:nvGrpSpPr>
                  <p:cNvPr id="912" name="Google Shape;912;p31"/>
                  <p:cNvGrpSpPr/>
                  <p:nvPr/>
                </p:nvGrpSpPr>
                <p:grpSpPr>
                  <a:xfrm>
                    <a:off x="1070118" y="2050391"/>
                    <a:ext cx="5232711" cy="2113177"/>
                    <a:chOff x="1070118" y="1727303"/>
                    <a:chExt cx="5232711" cy="2113177"/>
                  </a:xfrm>
                </p:grpSpPr>
                <p:sp>
                  <p:nvSpPr>
                    <p:cNvPr id="913" name="Google Shape;913;p31"/>
                    <p:cNvSpPr/>
                    <p:nvPr/>
                  </p:nvSpPr>
                  <p:spPr>
                    <a:xfrm>
                      <a:off x="1070118" y="1727303"/>
                      <a:ext cx="5232711" cy="2113177"/>
                    </a:xfrm>
                    <a:prstGeom prst="roundRect">
                      <a:avLst>
                        <a:gd fmla="val 13022" name="adj"/>
                      </a:avLst>
                    </a:prstGeom>
                    <a:solidFill>
                      <a:srgbClr val="025698">
                        <a:alpha val="5098"/>
                      </a:srgbClr>
                    </a:solidFill>
                    <a:ln cap="flat" cmpd="sng" w="9525">
                      <a:solidFill>
                        <a:srgbClr val="0070C0">
                          <a:alpha val="4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508000" rotWithShape="0" algn="l" dist="38100">
                        <a:srgbClr val="000000">
                          <a:alpha val="10980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14" name="Google Shape;914;p31"/>
                    <p:cNvSpPr txBox="1"/>
                    <p:nvPr/>
                  </p:nvSpPr>
                  <p:spPr>
                    <a:xfrm>
                      <a:off x="1275950" y="1834976"/>
                      <a:ext cx="4983372" cy="46859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2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Formatting Cells To Improve Readability:</a:t>
                      </a:r>
                      <a:endParaRPr/>
                    </a:p>
                  </p:txBody>
                </p:sp>
                <p:sp>
                  <p:nvSpPr>
                    <p:cNvPr id="915" name="Google Shape;915;p31"/>
                    <p:cNvSpPr txBox="1"/>
                    <p:nvPr/>
                  </p:nvSpPr>
                  <p:spPr>
                    <a:xfrm>
                      <a:off x="1275950" y="2411683"/>
                      <a:ext cx="4821047" cy="10464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-285750" lvl="1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Adjust text alignment: Left, center, or right.</a:t>
                      </a:r>
                      <a:endParaRPr/>
                    </a:p>
                    <a:p>
                      <a:pPr indent="-285750" lvl="1" marL="28575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Apply font styles: Bold, italAic, underline.</a:t>
                      </a:r>
                      <a:endParaRPr/>
                    </a:p>
                    <a:p>
                      <a:pPr indent="-285750" lvl="1" marL="28575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cap="none" strike="noStrike">
                          <a:solidFill>
                            <a:srgbClr val="59595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Add borders and shading for emphasis.</a:t>
                      </a:r>
                      <a:endParaRPr/>
                    </a:p>
                  </p:txBody>
                </p:sp>
              </p:grpSp>
              <p:grpSp>
                <p:nvGrpSpPr>
                  <p:cNvPr id="916" name="Google Shape;916;p31"/>
                  <p:cNvGrpSpPr/>
                  <p:nvPr/>
                </p:nvGrpSpPr>
                <p:grpSpPr>
                  <a:xfrm>
                    <a:off x="865876" y="2916051"/>
                    <a:ext cx="370342" cy="381856"/>
                    <a:chOff x="897675" y="1686797"/>
                    <a:chExt cx="542600" cy="606903"/>
                  </a:xfrm>
                </p:grpSpPr>
                <p:sp>
                  <p:nvSpPr>
                    <p:cNvPr id="917" name="Google Shape;917;p31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C4283"/>
                        </a:gs>
                        <a:gs pos="100000">
                          <a:srgbClr val="025698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1F5CA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18" name="Google Shape;918;p31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1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919" name="Google Shape;919;p31"/>
                <p:cNvGrpSpPr/>
                <p:nvPr/>
              </p:nvGrpSpPr>
              <p:grpSpPr>
                <a:xfrm>
                  <a:off x="865876" y="4354844"/>
                  <a:ext cx="5436953" cy="1181237"/>
                  <a:chOff x="865876" y="4354844"/>
                  <a:chExt cx="5436953" cy="1181237"/>
                </a:xfrm>
              </p:grpSpPr>
              <p:sp>
                <p:nvSpPr>
                  <p:cNvPr id="920" name="Google Shape;920;p31"/>
                  <p:cNvSpPr/>
                  <p:nvPr/>
                </p:nvSpPr>
                <p:spPr>
                  <a:xfrm>
                    <a:off x="1070118" y="4354844"/>
                    <a:ext cx="5232711" cy="1181237"/>
                  </a:xfrm>
                  <a:prstGeom prst="roundRect">
                    <a:avLst>
                      <a:gd fmla="val 21261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1" name="Google Shape;921;p31"/>
                  <p:cNvSpPr txBox="1"/>
                  <p:nvPr/>
                </p:nvSpPr>
                <p:spPr>
                  <a:xfrm>
                    <a:off x="1375849" y="4622297"/>
                    <a:ext cx="492698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Use Of Cell Styles (From The Home Tab) To Apply Predefined Formatting.</a:t>
                    </a:r>
                    <a:endParaRPr/>
                  </a:p>
                </p:txBody>
              </p:sp>
              <p:grpSp>
                <p:nvGrpSpPr>
                  <p:cNvPr id="922" name="Google Shape;922;p31"/>
                  <p:cNvGrpSpPr/>
                  <p:nvPr/>
                </p:nvGrpSpPr>
                <p:grpSpPr>
                  <a:xfrm>
                    <a:off x="865876" y="4754534"/>
                    <a:ext cx="370342" cy="381856"/>
                    <a:chOff x="897675" y="1686797"/>
                    <a:chExt cx="542600" cy="606903"/>
                  </a:xfrm>
                </p:grpSpPr>
                <p:sp>
                  <p:nvSpPr>
                    <p:cNvPr id="923" name="Google Shape;923;p31"/>
                    <p:cNvSpPr/>
                    <p:nvPr/>
                  </p:nvSpPr>
                  <p:spPr>
                    <a:xfrm>
                      <a:off x="897675" y="1699312"/>
                      <a:ext cx="542600" cy="570850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D1B90E"/>
                        </a:gs>
                        <a:gs pos="100000">
                          <a:srgbClr val="BBA50D"/>
                        </a:gs>
                      </a:gsLst>
                      <a:lin ang="8100000" scaled="0"/>
                    </a:gradFill>
                    <a:ln cap="flat" cmpd="sng" w="9525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12700" rotWithShape="0" algn="tl" dir="2700000" dist="38100">
                        <a:srgbClr val="000000">
                          <a:alpha val="18824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24" name="Google Shape;924;p31"/>
                    <p:cNvSpPr txBox="1"/>
                    <p:nvPr/>
                  </p:nvSpPr>
                  <p:spPr>
                    <a:xfrm>
                      <a:off x="1054249" y="1686797"/>
                      <a:ext cx="240326" cy="6069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12700" rotWithShape="0" algn="t" dir="5400000" dist="12700">
                        <a:srgbClr val="000000">
                          <a:alpha val="25098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2</a:t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925" name="Google Shape;925;p31"/>
              <p:cNvGrpSpPr/>
              <p:nvPr/>
            </p:nvGrpSpPr>
            <p:grpSpPr>
              <a:xfrm>
                <a:off x="6477000" y="2432524"/>
                <a:ext cx="4698145" cy="2721425"/>
                <a:chOff x="3933175" y="1301400"/>
                <a:chExt cx="5145575" cy="2980601"/>
              </a:xfrm>
            </p:grpSpPr>
            <p:pic>
              <p:nvPicPr>
                <p:cNvPr id="926" name="Google Shape;926;p3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933175" y="1717925"/>
                  <a:ext cx="5145426" cy="2564076"/>
                </a:xfrm>
                <a:prstGeom prst="roundRect">
                  <a:avLst>
                    <a:gd fmla="val 7003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927" name="Google Shape;927;p31"/>
                <p:cNvSpPr/>
                <p:nvPr/>
              </p:nvSpPr>
              <p:spPr>
                <a:xfrm>
                  <a:off x="5015175" y="2157775"/>
                  <a:ext cx="1348500" cy="714000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" name="Google Shape;928;p31"/>
                <p:cNvSpPr/>
                <p:nvPr/>
              </p:nvSpPr>
              <p:spPr>
                <a:xfrm>
                  <a:off x="6363675" y="2157775"/>
                  <a:ext cx="1783200" cy="714000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" name="Google Shape;929;p31"/>
                <p:cNvSpPr/>
                <p:nvPr/>
              </p:nvSpPr>
              <p:spPr>
                <a:xfrm>
                  <a:off x="8146950" y="2157775"/>
                  <a:ext cx="931800" cy="714000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" name="Google Shape;930;p31"/>
                <p:cNvSpPr/>
                <p:nvPr/>
              </p:nvSpPr>
              <p:spPr>
                <a:xfrm>
                  <a:off x="4572000" y="1345550"/>
                  <a:ext cx="1631100" cy="572700"/>
                </a:xfrm>
                <a:prstGeom prst="wedgeRoundRectCallout">
                  <a:avLst>
                    <a:gd fmla="val 15172" name="adj1"/>
                    <a:gd fmla="val 93666" name="adj2"/>
                    <a:gd fmla="val 0" name="adj3"/>
                  </a:avLst>
                </a:prstGeom>
                <a:solidFill>
                  <a:srgbClr val="EFF3F7"/>
                </a:solidFill>
                <a:ln cap="flat" cmpd="sng" w="9525">
                  <a:solidFill>
                    <a:srgbClr val="09569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09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Bold, Italic and Underline</a:t>
                  </a:r>
                  <a:endParaRPr b="1" sz="1200">
                    <a:solidFill>
                      <a:srgbClr val="09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931" name="Google Shape;931;p31"/>
                <p:cNvSpPr/>
                <p:nvPr/>
              </p:nvSpPr>
              <p:spPr>
                <a:xfrm>
                  <a:off x="7290725" y="1301400"/>
                  <a:ext cx="1631100" cy="572700"/>
                </a:xfrm>
                <a:prstGeom prst="wedgeRoundRectCallout">
                  <a:avLst>
                    <a:gd fmla="val 15172" name="adj1"/>
                    <a:gd fmla="val 93666" name="adj2"/>
                    <a:gd fmla="val 0" name="adj3"/>
                  </a:avLst>
                </a:prstGeom>
                <a:solidFill>
                  <a:srgbClr val="EFF3F7"/>
                </a:solidFill>
                <a:ln cap="flat" cmpd="sng" w="9525">
                  <a:solidFill>
                    <a:srgbClr val="09569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09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Formatting </a:t>
                  </a:r>
                  <a:endParaRPr b="1" sz="1200">
                    <a:solidFill>
                      <a:srgbClr val="09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932" name="Google Shape;932;p31"/>
                <p:cNvSpPr/>
                <p:nvPr/>
              </p:nvSpPr>
              <p:spPr>
                <a:xfrm>
                  <a:off x="6203100" y="3190500"/>
                  <a:ext cx="1631100" cy="924300"/>
                </a:xfrm>
                <a:prstGeom prst="wedgeRoundRectCallout">
                  <a:avLst>
                    <a:gd fmla="val 29174" name="adj1"/>
                    <a:gd fmla="val -117151" name="adj2"/>
                    <a:gd fmla="val 0" name="adj3"/>
                  </a:avLst>
                </a:prstGeom>
                <a:solidFill>
                  <a:srgbClr val="EFF3F7"/>
                </a:solidFill>
                <a:ln cap="flat" cmpd="sng" w="9525">
                  <a:solidFill>
                    <a:srgbClr val="09569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09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Text Alignment left, right and center , Merge the cells</a:t>
                  </a:r>
                  <a:endParaRPr b="1" sz="1200">
                    <a:solidFill>
                      <a:srgbClr val="09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7" name="Google Shape;937;p32"/>
          <p:cNvGrpSpPr/>
          <p:nvPr/>
        </p:nvGrpSpPr>
        <p:grpSpPr>
          <a:xfrm>
            <a:off x="776748" y="1524000"/>
            <a:ext cx="10638504" cy="4343400"/>
            <a:chOff x="776748" y="1724465"/>
            <a:chExt cx="10638504" cy="3942471"/>
          </a:xfrm>
        </p:grpSpPr>
        <p:sp>
          <p:nvSpPr>
            <p:cNvPr id="938" name="Google Shape;938;p32"/>
            <p:cNvSpPr/>
            <p:nvPr/>
          </p:nvSpPr>
          <p:spPr>
            <a:xfrm>
              <a:off x="776748" y="1724465"/>
              <a:ext cx="10638504" cy="3942471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9" name="Google Shape;93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19900" y="2531511"/>
              <a:ext cx="4305300" cy="2328378"/>
            </a:xfrm>
            <a:prstGeom prst="roundRect">
              <a:avLst>
                <a:gd fmla="val 7296" name="adj"/>
              </a:avLst>
            </a:prstGeom>
            <a:noFill/>
            <a:ln>
              <a:noFill/>
            </a:ln>
          </p:spPr>
        </p:pic>
      </p:grpSp>
      <p:grpSp>
        <p:nvGrpSpPr>
          <p:cNvPr id="940" name="Google Shape;940;p32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941" name="Google Shape;941;p32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2"/>
            <p:cNvSpPr txBox="1"/>
            <p:nvPr/>
          </p:nvSpPr>
          <p:spPr>
            <a:xfrm>
              <a:off x="3811767" y="118292"/>
              <a:ext cx="456846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Formatting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Numbers</a:t>
              </a:r>
              <a:endParaRPr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943" name="Google Shape;943;p32"/>
          <p:cNvGrpSpPr/>
          <p:nvPr/>
        </p:nvGrpSpPr>
        <p:grpSpPr>
          <a:xfrm>
            <a:off x="941366" y="1952855"/>
            <a:ext cx="5436953" cy="3485690"/>
            <a:chOff x="865876" y="2050391"/>
            <a:chExt cx="5436953" cy="3485690"/>
          </a:xfrm>
        </p:grpSpPr>
        <p:grpSp>
          <p:nvGrpSpPr>
            <p:cNvPr id="944" name="Google Shape;944;p32"/>
            <p:cNvGrpSpPr/>
            <p:nvPr/>
          </p:nvGrpSpPr>
          <p:grpSpPr>
            <a:xfrm>
              <a:off x="865876" y="2050391"/>
              <a:ext cx="5436953" cy="2113177"/>
              <a:chOff x="865876" y="2050391"/>
              <a:chExt cx="5436953" cy="2113177"/>
            </a:xfrm>
          </p:grpSpPr>
          <p:grpSp>
            <p:nvGrpSpPr>
              <p:cNvPr id="945" name="Google Shape;945;p32"/>
              <p:cNvGrpSpPr/>
              <p:nvPr/>
            </p:nvGrpSpPr>
            <p:grpSpPr>
              <a:xfrm>
                <a:off x="1070118" y="2050391"/>
                <a:ext cx="5232711" cy="2113177"/>
                <a:chOff x="1070118" y="1727303"/>
                <a:chExt cx="5232711" cy="2113177"/>
              </a:xfrm>
            </p:grpSpPr>
            <p:sp>
              <p:nvSpPr>
                <p:cNvPr id="946" name="Google Shape;946;p32"/>
                <p:cNvSpPr/>
                <p:nvPr/>
              </p:nvSpPr>
              <p:spPr>
                <a:xfrm>
                  <a:off x="1070118" y="1727303"/>
                  <a:ext cx="5232711" cy="2113177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32"/>
                <p:cNvSpPr txBox="1"/>
                <p:nvPr/>
              </p:nvSpPr>
              <p:spPr>
                <a:xfrm>
                  <a:off x="1275950" y="1835072"/>
                  <a:ext cx="4983372" cy="4683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Number Formats Enhance Clarity:</a:t>
                  </a:r>
                  <a:endParaRPr sz="18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948" name="Google Shape;948;p32"/>
                <p:cNvSpPr txBox="1"/>
                <p:nvPr/>
              </p:nvSpPr>
              <p:spPr>
                <a:xfrm>
                  <a:off x="1275950" y="2365516"/>
                  <a:ext cx="4821047" cy="11387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285750" lvl="1" marL="28575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b="0" i="0" lang="en-US" sz="16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Currency format for monetary values.</a:t>
                  </a:r>
                  <a:endParaRPr/>
                </a:p>
                <a:p>
                  <a:pPr indent="-285750" lvl="1" marL="285750" marR="0" rtl="0" algn="l">
                    <a:spcBef>
                      <a:spcPts val="12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b="0" i="0" lang="en-US" sz="16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Percentage format for proportions.</a:t>
                  </a:r>
                  <a:endParaRPr/>
                </a:p>
                <a:p>
                  <a:pPr indent="-285750" lvl="1" marL="285750" marR="0" rtl="0" algn="l">
                    <a:spcBef>
                      <a:spcPts val="12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b="0" i="0" lang="en-US" sz="16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Date format for calendar entries.</a:t>
                  </a:r>
                  <a:endParaRPr/>
                </a:p>
              </p:txBody>
            </p:sp>
          </p:grpSp>
          <p:grpSp>
            <p:nvGrpSpPr>
              <p:cNvPr id="949" name="Google Shape;949;p32"/>
              <p:cNvGrpSpPr/>
              <p:nvPr/>
            </p:nvGrpSpPr>
            <p:grpSpPr>
              <a:xfrm>
                <a:off x="865876" y="2916051"/>
                <a:ext cx="370342" cy="381856"/>
                <a:chOff x="897675" y="1686797"/>
                <a:chExt cx="542600" cy="606903"/>
              </a:xfrm>
            </p:grpSpPr>
            <p:sp>
              <p:nvSpPr>
                <p:cNvPr id="950" name="Google Shape;950;p3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32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952" name="Google Shape;952;p32"/>
            <p:cNvGrpSpPr/>
            <p:nvPr/>
          </p:nvGrpSpPr>
          <p:grpSpPr>
            <a:xfrm>
              <a:off x="865876" y="4354844"/>
              <a:ext cx="5436953" cy="1181237"/>
              <a:chOff x="865876" y="4354844"/>
              <a:chExt cx="5436953" cy="1181237"/>
            </a:xfrm>
          </p:grpSpPr>
          <p:sp>
            <p:nvSpPr>
              <p:cNvPr id="953" name="Google Shape;953;p32"/>
              <p:cNvSpPr/>
              <p:nvPr/>
            </p:nvSpPr>
            <p:spPr>
              <a:xfrm>
                <a:off x="1070118" y="4354844"/>
                <a:ext cx="5232711" cy="1181237"/>
              </a:xfrm>
              <a:prstGeom prst="roundRect">
                <a:avLst>
                  <a:gd fmla="val 21261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32"/>
              <p:cNvSpPr txBox="1"/>
              <p:nvPr/>
            </p:nvSpPr>
            <p:spPr>
              <a:xfrm>
                <a:off x="1375849" y="4514575"/>
                <a:ext cx="4926980" cy="861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How to access number formats: </a:t>
                </a:r>
                <a:br>
                  <a:rPr lang="en-US" sz="18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</a:b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Ribbon (Home &gt; Number group) or Ctrl + 1 </a:t>
                </a:r>
                <a:b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</a:b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for custom formats.</a:t>
                </a:r>
                <a:endParaRPr sz="1800">
                  <a:solidFill>
                    <a:srgbClr val="595959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grpSp>
            <p:nvGrpSpPr>
              <p:cNvPr id="955" name="Google Shape;955;p32"/>
              <p:cNvGrpSpPr/>
              <p:nvPr/>
            </p:nvGrpSpPr>
            <p:grpSpPr>
              <a:xfrm>
                <a:off x="865876" y="4754534"/>
                <a:ext cx="370342" cy="381856"/>
                <a:chOff x="897675" y="1686797"/>
                <a:chExt cx="542600" cy="606903"/>
              </a:xfrm>
            </p:grpSpPr>
            <p:sp>
              <p:nvSpPr>
                <p:cNvPr id="956" name="Google Shape;956;p3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" name="Google Shape;957;p32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33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3" name="Google Shape;963;p33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964" name="Google Shape;964;p33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3"/>
            <p:cNvSpPr txBox="1"/>
            <p:nvPr/>
          </p:nvSpPr>
          <p:spPr>
            <a:xfrm>
              <a:off x="3811767" y="118292"/>
              <a:ext cx="456846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Using Format 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Painter</a:t>
              </a:r>
              <a:endParaRPr b="1"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pic>
        <p:nvPicPr>
          <p:cNvPr id="966" name="Google Shape;96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9568" y="2315182"/>
            <a:ext cx="4666875" cy="2761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7" name="Google Shape;967;p33"/>
          <p:cNvGrpSpPr/>
          <p:nvPr/>
        </p:nvGrpSpPr>
        <p:grpSpPr>
          <a:xfrm>
            <a:off x="899134" y="1698331"/>
            <a:ext cx="5479185" cy="4070152"/>
            <a:chOff x="899134" y="1698331"/>
            <a:chExt cx="5479185" cy="4070152"/>
          </a:xfrm>
        </p:grpSpPr>
        <p:grpSp>
          <p:nvGrpSpPr>
            <p:cNvPr id="968" name="Google Shape;968;p33"/>
            <p:cNvGrpSpPr/>
            <p:nvPr/>
          </p:nvGrpSpPr>
          <p:grpSpPr>
            <a:xfrm>
              <a:off x="899134" y="1698331"/>
              <a:ext cx="5479185" cy="1026015"/>
              <a:chOff x="899134" y="1952855"/>
              <a:chExt cx="5479185" cy="1026015"/>
            </a:xfrm>
          </p:grpSpPr>
          <p:grpSp>
            <p:nvGrpSpPr>
              <p:cNvPr id="969" name="Google Shape;969;p33"/>
              <p:cNvGrpSpPr/>
              <p:nvPr/>
            </p:nvGrpSpPr>
            <p:grpSpPr>
              <a:xfrm>
                <a:off x="1145608" y="1952855"/>
                <a:ext cx="5232711" cy="1026015"/>
                <a:chOff x="1070118" y="1727303"/>
                <a:chExt cx="5232711" cy="1026015"/>
              </a:xfrm>
            </p:grpSpPr>
            <p:sp>
              <p:nvSpPr>
                <p:cNvPr id="970" name="Google Shape;970;p33"/>
                <p:cNvSpPr/>
                <p:nvPr/>
              </p:nvSpPr>
              <p:spPr>
                <a:xfrm>
                  <a:off x="1070118" y="1727303"/>
                  <a:ext cx="5232711" cy="1026015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1" name="Google Shape;971;p33"/>
                <p:cNvSpPr txBox="1"/>
                <p:nvPr/>
              </p:nvSpPr>
              <p:spPr>
                <a:xfrm>
                  <a:off x="1275950" y="1925215"/>
                  <a:ext cx="4983372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Format Painter Allows Copying Styles From One Cell Or Range To Another.</a:t>
                  </a:r>
                  <a:endParaRPr sz="18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grpSp>
            <p:nvGrpSpPr>
              <p:cNvPr id="972" name="Google Shape;972;p33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973" name="Google Shape;973;p33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4" name="Google Shape;974;p33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975" name="Google Shape;975;p33"/>
            <p:cNvGrpSpPr/>
            <p:nvPr/>
          </p:nvGrpSpPr>
          <p:grpSpPr>
            <a:xfrm>
              <a:off x="941366" y="4587246"/>
              <a:ext cx="5436953" cy="1181237"/>
              <a:chOff x="941366" y="4257308"/>
              <a:chExt cx="5436953" cy="1181237"/>
            </a:xfrm>
          </p:grpSpPr>
          <p:sp>
            <p:nvSpPr>
              <p:cNvPr id="976" name="Google Shape;976;p33"/>
              <p:cNvSpPr/>
              <p:nvPr/>
            </p:nvSpPr>
            <p:spPr>
              <a:xfrm>
                <a:off x="1145608" y="4257308"/>
                <a:ext cx="5232711" cy="1181237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33"/>
              <p:cNvSpPr txBox="1"/>
              <p:nvPr/>
            </p:nvSpPr>
            <p:spPr>
              <a:xfrm>
                <a:off x="1451339" y="4524761"/>
                <a:ext cx="492698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1397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Use double-click to lock the tool for multiple applications.</a:t>
                </a:r>
                <a:endParaRPr/>
              </a:p>
            </p:txBody>
          </p:sp>
          <p:grpSp>
            <p:nvGrpSpPr>
              <p:cNvPr id="978" name="Google Shape;978;p33"/>
              <p:cNvGrpSpPr/>
              <p:nvPr/>
            </p:nvGrpSpPr>
            <p:grpSpPr>
              <a:xfrm>
                <a:off x="941366" y="4656998"/>
                <a:ext cx="370342" cy="381856"/>
                <a:chOff x="897675" y="1686797"/>
                <a:chExt cx="542600" cy="606903"/>
              </a:xfrm>
            </p:grpSpPr>
            <p:sp>
              <p:nvSpPr>
                <p:cNvPr id="979" name="Google Shape;979;p33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0" name="Google Shape;980;p33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981" name="Google Shape;981;p33"/>
            <p:cNvGrpSpPr/>
            <p:nvPr/>
          </p:nvGrpSpPr>
          <p:grpSpPr>
            <a:xfrm>
              <a:off x="899134" y="2896413"/>
              <a:ext cx="5479185" cy="1518766"/>
              <a:chOff x="899134" y="2864698"/>
              <a:chExt cx="5479185" cy="1518766"/>
            </a:xfrm>
          </p:grpSpPr>
          <p:grpSp>
            <p:nvGrpSpPr>
              <p:cNvPr id="982" name="Google Shape;982;p33"/>
              <p:cNvGrpSpPr/>
              <p:nvPr/>
            </p:nvGrpSpPr>
            <p:grpSpPr>
              <a:xfrm>
                <a:off x="1145608" y="2864698"/>
                <a:ext cx="5232711" cy="1518766"/>
                <a:chOff x="1070118" y="1727303"/>
                <a:chExt cx="5232711" cy="1518766"/>
              </a:xfrm>
            </p:grpSpPr>
            <p:sp>
              <p:nvSpPr>
                <p:cNvPr id="983" name="Google Shape;983;p33"/>
                <p:cNvSpPr/>
                <p:nvPr/>
              </p:nvSpPr>
              <p:spPr>
                <a:xfrm>
                  <a:off x="1070118" y="1727303"/>
                  <a:ext cx="5232711" cy="1518766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4" name="Google Shape;984;p33"/>
                <p:cNvSpPr txBox="1"/>
                <p:nvPr/>
              </p:nvSpPr>
              <p:spPr>
                <a:xfrm>
                  <a:off x="1275950" y="1828044"/>
                  <a:ext cx="175940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How to use it:</a:t>
                  </a:r>
                  <a:endParaRPr/>
                </a:p>
              </p:txBody>
            </p:sp>
            <p:sp>
              <p:nvSpPr>
                <p:cNvPr id="985" name="Google Shape;985;p33"/>
                <p:cNvSpPr txBox="1"/>
                <p:nvPr/>
              </p:nvSpPr>
              <p:spPr>
                <a:xfrm>
                  <a:off x="1275950" y="2181678"/>
                  <a:ext cx="5011653" cy="9441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lang="en-US" sz="14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Select the formatted cell.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lang="en-US" sz="14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Click the Format Painter tool.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lang="en-US" sz="14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Drag over the cells to apply the format.</a:t>
                  </a:r>
                  <a:endParaRPr/>
                </a:p>
              </p:txBody>
            </p:sp>
          </p:grpSp>
          <p:grpSp>
            <p:nvGrpSpPr>
              <p:cNvPr id="986" name="Google Shape;986;p33"/>
              <p:cNvGrpSpPr/>
              <p:nvPr/>
            </p:nvGrpSpPr>
            <p:grpSpPr>
              <a:xfrm>
                <a:off x="899134" y="3433153"/>
                <a:ext cx="370342" cy="381856"/>
                <a:chOff x="897675" y="1686797"/>
                <a:chExt cx="542600" cy="606903"/>
              </a:xfrm>
            </p:grpSpPr>
            <p:sp>
              <p:nvSpPr>
                <p:cNvPr id="987" name="Google Shape;987;p33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33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4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4" name="Google Shape;994;p34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995" name="Google Shape;995;p34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34"/>
            <p:cNvSpPr txBox="1"/>
            <p:nvPr/>
          </p:nvSpPr>
          <p:spPr>
            <a:xfrm>
              <a:off x="3811766" y="54172"/>
              <a:ext cx="4568468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Hands on </a:t>
              </a:r>
              <a:r>
                <a:rPr b="1"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Activity</a:t>
              </a:r>
              <a:endParaRPr/>
            </a:p>
          </p:txBody>
        </p:sp>
      </p:grpSp>
      <p:sp>
        <p:nvSpPr>
          <p:cNvPr id="997" name="Google Shape;997;p34"/>
          <p:cNvSpPr txBox="1"/>
          <p:nvPr/>
        </p:nvSpPr>
        <p:spPr>
          <a:xfrm>
            <a:off x="1351440" y="1736550"/>
            <a:ext cx="49833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139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Apply the following formatting</a:t>
            </a:r>
            <a:endParaRPr sz="2000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998" name="Google Shape;998;p34"/>
          <p:cNvGrpSpPr/>
          <p:nvPr/>
        </p:nvGrpSpPr>
        <p:grpSpPr>
          <a:xfrm>
            <a:off x="899134" y="2329927"/>
            <a:ext cx="5479185" cy="3345007"/>
            <a:chOff x="899134" y="2329927"/>
            <a:chExt cx="5479185" cy="3345007"/>
          </a:xfrm>
        </p:grpSpPr>
        <p:grpSp>
          <p:nvGrpSpPr>
            <p:cNvPr id="999" name="Google Shape;999;p34"/>
            <p:cNvGrpSpPr/>
            <p:nvPr/>
          </p:nvGrpSpPr>
          <p:grpSpPr>
            <a:xfrm>
              <a:off x="899134" y="2329927"/>
              <a:ext cx="5479185" cy="1026015"/>
              <a:chOff x="899134" y="2329927"/>
              <a:chExt cx="5479185" cy="1026015"/>
            </a:xfrm>
          </p:grpSpPr>
          <p:sp>
            <p:nvSpPr>
              <p:cNvPr id="1000" name="Google Shape;1000;p34"/>
              <p:cNvSpPr/>
              <p:nvPr/>
            </p:nvSpPr>
            <p:spPr>
              <a:xfrm>
                <a:off x="1145608" y="2329927"/>
                <a:ext cx="5232711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34"/>
              <p:cNvSpPr txBox="1"/>
              <p:nvPr/>
            </p:nvSpPr>
            <p:spPr>
              <a:xfrm>
                <a:off x="1351440" y="2666339"/>
                <a:ext cx="498337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1397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Headers: </a:t>
                </a:r>
                <a:r>
                  <a:rPr lang="en-US" sz="18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Make them bold and centered.</a:t>
                </a:r>
                <a:endParaRPr/>
              </a:p>
            </p:txBody>
          </p:sp>
          <p:grpSp>
            <p:nvGrpSpPr>
              <p:cNvPr id="1002" name="Google Shape;1002;p34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03" name="Google Shape;1003;p34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34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005" name="Google Shape;1005;p34"/>
            <p:cNvGrpSpPr/>
            <p:nvPr/>
          </p:nvGrpSpPr>
          <p:grpSpPr>
            <a:xfrm>
              <a:off x="899134" y="3489423"/>
              <a:ext cx="5479185" cy="1026015"/>
              <a:chOff x="899134" y="2329927"/>
              <a:chExt cx="5479185" cy="1026015"/>
            </a:xfrm>
          </p:grpSpPr>
          <p:sp>
            <p:nvSpPr>
              <p:cNvPr id="1006" name="Google Shape;1006;p34"/>
              <p:cNvSpPr/>
              <p:nvPr/>
            </p:nvSpPr>
            <p:spPr>
              <a:xfrm>
                <a:off x="1145608" y="2329927"/>
                <a:ext cx="5232711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34"/>
              <p:cNvSpPr txBox="1"/>
              <p:nvPr/>
            </p:nvSpPr>
            <p:spPr>
              <a:xfrm>
                <a:off x="1351440" y="2527839"/>
                <a:ext cx="498337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1397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Sales (USD): </a:t>
                </a:r>
                <a:r>
                  <a:rPr lang="en-US" sz="18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Format the column with a currency style.</a:t>
                </a:r>
                <a:endParaRPr sz="1800">
                  <a:solidFill>
                    <a:srgbClr val="59595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grpSp>
            <p:nvGrpSpPr>
              <p:cNvPr id="1008" name="Google Shape;1008;p34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09" name="Google Shape;1009;p34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0" name="Google Shape;1010;p34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011" name="Google Shape;1011;p34"/>
            <p:cNvGrpSpPr/>
            <p:nvPr/>
          </p:nvGrpSpPr>
          <p:grpSpPr>
            <a:xfrm>
              <a:off x="899134" y="4648919"/>
              <a:ext cx="5479185" cy="1026015"/>
              <a:chOff x="899134" y="2329927"/>
              <a:chExt cx="5479185" cy="1026015"/>
            </a:xfrm>
          </p:grpSpPr>
          <p:sp>
            <p:nvSpPr>
              <p:cNvPr id="1012" name="Google Shape;1012;p34"/>
              <p:cNvSpPr/>
              <p:nvPr/>
            </p:nvSpPr>
            <p:spPr>
              <a:xfrm>
                <a:off x="1145608" y="2329927"/>
                <a:ext cx="5232711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34"/>
              <p:cNvSpPr txBox="1"/>
              <p:nvPr/>
            </p:nvSpPr>
            <p:spPr>
              <a:xfrm>
                <a:off x="1351440" y="2527839"/>
                <a:ext cx="498337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1397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Borders: </a:t>
                </a:r>
                <a:r>
                  <a:rPr lang="en-US" sz="18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Apply borders around the table to improve readability.</a:t>
                </a:r>
                <a:endParaRPr/>
              </a:p>
            </p:txBody>
          </p:sp>
          <p:grpSp>
            <p:nvGrpSpPr>
              <p:cNvPr id="1014" name="Google Shape;1014;p34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15" name="Google Shape;1015;p34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34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</p:grpSp>
      </p:grpSp>
      <p:pic>
        <p:nvPicPr>
          <p:cNvPr id="1017" name="Google Shape;10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2557463"/>
            <a:ext cx="4419600" cy="2276475"/>
          </a:xfrm>
          <a:prstGeom prst="roundRect">
            <a:avLst>
              <a:gd fmla="val 71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022;p35"/>
          <p:cNvGrpSpPr/>
          <p:nvPr/>
        </p:nvGrpSpPr>
        <p:grpSpPr>
          <a:xfrm>
            <a:off x="776748" y="647700"/>
            <a:ext cx="10638504" cy="5562600"/>
            <a:chOff x="776748" y="781050"/>
            <a:chExt cx="10638504" cy="5295900"/>
          </a:xfrm>
        </p:grpSpPr>
        <p:grpSp>
          <p:nvGrpSpPr>
            <p:cNvPr id="1023" name="Google Shape;1023;p35"/>
            <p:cNvGrpSpPr/>
            <p:nvPr/>
          </p:nvGrpSpPr>
          <p:grpSpPr>
            <a:xfrm>
              <a:off x="776748" y="781050"/>
              <a:ext cx="10638504" cy="5295900"/>
              <a:chOff x="776748" y="781050"/>
              <a:chExt cx="10638504" cy="5295900"/>
            </a:xfrm>
          </p:grpSpPr>
          <p:sp>
            <p:nvSpPr>
              <p:cNvPr id="1024" name="Google Shape;1024;p35"/>
              <p:cNvSpPr/>
              <p:nvPr/>
            </p:nvSpPr>
            <p:spPr>
              <a:xfrm>
                <a:off x="776748" y="781050"/>
                <a:ext cx="10638504" cy="5295900"/>
              </a:xfrm>
              <a:prstGeom prst="roundRect">
                <a:avLst>
                  <a:gd fmla="val 10242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35"/>
              <p:cNvSpPr/>
              <p:nvPr/>
            </p:nvSpPr>
            <p:spPr>
              <a:xfrm>
                <a:off x="989937" y="954292"/>
                <a:ext cx="5089274" cy="4949417"/>
              </a:xfrm>
              <a:prstGeom prst="roundRect">
                <a:avLst>
                  <a:gd fmla="val 8999" name="adj"/>
                </a:avLst>
              </a:prstGeom>
              <a:solidFill>
                <a:srgbClr val="025698">
                  <a:alpha val="5098"/>
                </a:srgbClr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35"/>
              <p:cNvSpPr/>
              <p:nvPr/>
            </p:nvSpPr>
            <p:spPr>
              <a:xfrm>
                <a:off x="6380804" y="954292"/>
                <a:ext cx="4826284" cy="4949417"/>
              </a:xfrm>
              <a:prstGeom prst="roundRect">
                <a:avLst>
                  <a:gd fmla="val 8999" name="adj"/>
                </a:avLst>
              </a:prstGeom>
              <a:solidFill>
                <a:srgbClr val="C9DCD3">
                  <a:alpha val="90980"/>
                </a:srgbClr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7" name="Google Shape;1027;p35"/>
            <p:cNvSpPr txBox="1"/>
            <p:nvPr/>
          </p:nvSpPr>
          <p:spPr>
            <a:xfrm>
              <a:off x="1613215" y="2551837"/>
              <a:ext cx="3842719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Excel </a:t>
              </a:r>
              <a:b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Basics: Sorting </a:t>
              </a:r>
              <a:b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Filtering</a:t>
              </a:r>
              <a:endParaRPr/>
            </a:p>
          </p:txBody>
        </p:sp>
      </p:grpSp>
      <p:pic>
        <p:nvPicPr>
          <p:cNvPr id="1028" name="Google Shape;10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1932302"/>
            <a:ext cx="4480948" cy="2993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6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6"/>
          <p:cNvSpPr/>
          <p:nvPr/>
        </p:nvSpPr>
        <p:spPr>
          <a:xfrm>
            <a:off x="7360356" y="1708856"/>
            <a:ext cx="3764844" cy="3973689"/>
          </a:xfrm>
          <a:prstGeom prst="roundRect">
            <a:avLst>
              <a:gd fmla="val 8999" name="adj"/>
            </a:avLst>
          </a:prstGeom>
          <a:solidFill>
            <a:srgbClr val="025698">
              <a:alpha val="5098"/>
            </a:srgbClr>
          </a:solidFill>
          <a:ln cap="flat" cmpd="sng" w="9525">
            <a:solidFill>
              <a:srgbClr val="007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5" name="Google Shape;1035;p36"/>
          <p:cNvGrpSpPr/>
          <p:nvPr/>
        </p:nvGrpSpPr>
        <p:grpSpPr>
          <a:xfrm>
            <a:off x="1478507" y="-13648"/>
            <a:ext cx="9234986" cy="896517"/>
            <a:chOff x="2475692" y="-13648"/>
            <a:chExt cx="7240615" cy="896517"/>
          </a:xfrm>
        </p:grpSpPr>
        <p:sp>
          <p:nvSpPr>
            <p:cNvPr id="1036" name="Google Shape;1036;p36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36"/>
            <p:cNvSpPr txBox="1"/>
            <p:nvPr/>
          </p:nvSpPr>
          <p:spPr>
            <a:xfrm>
              <a:off x="2475692" y="-13648"/>
              <a:ext cx="7240615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Sorting Alphabetically 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By Name</a:t>
              </a:r>
              <a:endParaRPr/>
            </a:p>
          </p:txBody>
        </p:sp>
      </p:grpSp>
      <p:grpSp>
        <p:nvGrpSpPr>
          <p:cNvPr id="1038" name="Google Shape;1038;p36"/>
          <p:cNvGrpSpPr/>
          <p:nvPr/>
        </p:nvGrpSpPr>
        <p:grpSpPr>
          <a:xfrm>
            <a:off x="899134" y="1718042"/>
            <a:ext cx="6566334" cy="3955316"/>
            <a:chOff x="899134" y="2329927"/>
            <a:chExt cx="5553142" cy="3345007"/>
          </a:xfrm>
        </p:grpSpPr>
        <p:grpSp>
          <p:nvGrpSpPr>
            <p:cNvPr id="1039" name="Google Shape;1039;p36"/>
            <p:cNvGrpSpPr/>
            <p:nvPr/>
          </p:nvGrpSpPr>
          <p:grpSpPr>
            <a:xfrm>
              <a:off x="899134" y="2329927"/>
              <a:ext cx="5553142" cy="1026015"/>
              <a:chOff x="899134" y="2329927"/>
              <a:chExt cx="5553142" cy="1026015"/>
            </a:xfrm>
          </p:grpSpPr>
          <p:sp>
            <p:nvSpPr>
              <p:cNvPr id="1040" name="Google Shape;1040;p36"/>
              <p:cNvSpPr/>
              <p:nvPr/>
            </p:nvSpPr>
            <p:spPr>
              <a:xfrm>
                <a:off x="1145609" y="2329927"/>
                <a:ext cx="4925080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36"/>
              <p:cNvSpPr txBox="1"/>
              <p:nvPr/>
            </p:nvSpPr>
            <p:spPr>
              <a:xfrm>
                <a:off x="1468904" y="2681820"/>
                <a:ext cx="4983372" cy="338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Click Anywhere In The </a:t>
                </a: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"Name" </a:t>
                </a:r>
                <a:r>
                  <a:rPr lang="en-US" sz="20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Column.</a:t>
                </a:r>
                <a:endParaRPr/>
              </a:p>
            </p:txBody>
          </p:sp>
          <p:grpSp>
            <p:nvGrpSpPr>
              <p:cNvPr id="1042" name="Google Shape;1042;p36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43" name="Google Shape;1043;p36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4" name="Google Shape;1044;p36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045" name="Google Shape;1045;p36"/>
            <p:cNvGrpSpPr/>
            <p:nvPr/>
          </p:nvGrpSpPr>
          <p:grpSpPr>
            <a:xfrm>
              <a:off x="899134" y="3489423"/>
              <a:ext cx="5171555" cy="1026015"/>
              <a:chOff x="899134" y="2329927"/>
              <a:chExt cx="5171555" cy="1026015"/>
            </a:xfrm>
          </p:grpSpPr>
          <p:sp>
            <p:nvSpPr>
              <p:cNvPr id="1046" name="Google Shape;1046;p36"/>
              <p:cNvSpPr/>
              <p:nvPr/>
            </p:nvSpPr>
            <p:spPr>
              <a:xfrm>
                <a:off x="1145609" y="2329927"/>
                <a:ext cx="4925080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36"/>
              <p:cNvSpPr txBox="1"/>
              <p:nvPr/>
            </p:nvSpPr>
            <p:spPr>
              <a:xfrm>
                <a:off x="1468904" y="2669346"/>
                <a:ext cx="4264890" cy="363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-596900" lvl="1" marL="59690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00" u="none" cap="none" strike="noStrike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Go to the </a:t>
                </a:r>
                <a:r>
                  <a:rPr b="0" i="0" lang="en-US" sz="2000" u="none" cap="none" strike="noStrike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Data</a:t>
                </a:r>
                <a:r>
                  <a:rPr b="0" i="0" lang="en-US" sz="2000" u="none" cap="none" strike="noStrike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tab on the Ribbon.</a:t>
                </a:r>
                <a:endParaRPr/>
              </a:p>
            </p:txBody>
          </p:sp>
          <p:grpSp>
            <p:nvGrpSpPr>
              <p:cNvPr id="1048" name="Google Shape;1048;p36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49" name="Google Shape;1049;p36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0" name="Google Shape;1050;p36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051" name="Google Shape;1051;p36"/>
            <p:cNvGrpSpPr/>
            <p:nvPr/>
          </p:nvGrpSpPr>
          <p:grpSpPr>
            <a:xfrm>
              <a:off x="899134" y="4648919"/>
              <a:ext cx="5553142" cy="1026015"/>
              <a:chOff x="899134" y="2329927"/>
              <a:chExt cx="5553142" cy="1026015"/>
            </a:xfrm>
          </p:grpSpPr>
          <p:sp>
            <p:nvSpPr>
              <p:cNvPr id="1052" name="Google Shape;1052;p36"/>
              <p:cNvSpPr/>
              <p:nvPr/>
            </p:nvSpPr>
            <p:spPr>
              <a:xfrm>
                <a:off x="1145609" y="2329927"/>
                <a:ext cx="4925080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36"/>
              <p:cNvSpPr txBox="1"/>
              <p:nvPr/>
            </p:nvSpPr>
            <p:spPr>
              <a:xfrm>
                <a:off x="1468904" y="2533943"/>
                <a:ext cx="4983372" cy="6341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Click </a:t>
                </a: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Sort A to Z </a:t>
                </a:r>
                <a:r>
                  <a:rPr lang="en-US" sz="18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to sort names alphabetically </a:t>
                </a:r>
                <a:br>
                  <a:rPr lang="en-US" sz="18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</a:br>
                <a:r>
                  <a:rPr lang="en-US" sz="18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in ascending order.</a:t>
                </a:r>
                <a:endParaRPr/>
              </a:p>
            </p:txBody>
          </p:sp>
          <p:grpSp>
            <p:nvGrpSpPr>
              <p:cNvPr id="1054" name="Google Shape;1054;p36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55" name="Google Shape;1055;p36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6" name="Google Shape;1056;p36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</p:grpSp>
      </p:grpSp>
      <p:graphicFrame>
        <p:nvGraphicFramePr>
          <p:cNvPr id="1057" name="Google Shape;1057;p36"/>
          <p:cNvGraphicFramePr/>
          <p:nvPr/>
        </p:nvGraphicFramePr>
        <p:xfrm>
          <a:off x="7369804" y="1708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{5209E166-228F-4204-9806-82BCB6DFEF5D}</a:tableStyleId>
              </a:tblPr>
              <a:tblGrid>
                <a:gridCol w="1406975"/>
                <a:gridCol w="932000"/>
                <a:gridCol w="1406975"/>
              </a:tblGrid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Name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Score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Date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Anu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15-01-2023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Komal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92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20-03-2023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Monika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05-03-2023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Niru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78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10-02-2023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5698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9569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Rushi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88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25-01-2023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7"/>
          <p:cNvSpPr/>
          <p:nvPr/>
        </p:nvSpPr>
        <p:spPr>
          <a:xfrm>
            <a:off x="776748" y="1524000"/>
            <a:ext cx="10638504" cy="43815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7"/>
          <p:cNvSpPr/>
          <p:nvPr/>
        </p:nvSpPr>
        <p:spPr>
          <a:xfrm>
            <a:off x="7360356" y="1708856"/>
            <a:ext cx="3764844" cy="3973689"/>
          </a:xfrm>
          <a:prstGeom prst="roundRect">
            <a:avLst>
              <a:gd fmla="val 8999" name="adj"/>
            </a:avLst>
          </a:prstGeom>
          <a:solidFill>
            <a:srgbClr val="025698">
              <a:alpha val="5098"/>
            </a:srgbClr>
          </a:solidFill>
          <a:ln cap="flat" cmpd="sng" w="9525">
            <a:solidFill>
              <a:srgbClr val="007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4" name="Google Shape;1064;p37"/>
          <p:cNvGrpSpPr/>
          <p:nvPr/>
        </p:nvGrpSpPr>
        <p:grpSpPr>
          <a:xfrm>
            <a:off x="1478507" y="-13647"/>
            <a:ext cx="9234986" cy="896516"/>
            <a:chOff x="2475692" y="-13647"/>
            <a:chExt cx="7240615" cy="896516"/>
          </a:xfrm>
        </p:grpSpPr>
        <p:sp>
          <p:nvSpPr>
            <p:cNvPr id="1065" name="Google Shape;1065;p37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7"/>
            <p:cNvSpPr txBox="1"/>
            <p:nvPr/>
          </p:nvSpPr>
          <p:spPr>
            <a:xfrm>
              <a:off x="2475692" y="-13647"/>
              <a:ext cx="7240615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Sorting Numerically 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By Score</a:t>
              </a:r>
              <a:endParaRPr/>
            </a:p>
          </p:txBody>
        </p:sp>
      </p:grpSp>
      <p:grpSp>
        <p:nvGrpSpPr>
          <p:cNvPr id="1067" name="Google Shape;1067;p37"/>
          <p:cNvGrpSpPr/>
          <p:nvPr/>
        </p:nvGrpSpPr>
        <p:grpSpPr>
          <a:xfrm>
            <a:off x="899133" y="1718042"/>
            <a:ext cx="6473568" cy="3887628"/>
            <a:chOff x="899133" y="1718042"/>
            <a:chExt cx="6473568" cy="2584265"/>
          </a:xfrm>
        </p:grpSpPr>
        <p:grpSp>
          <p:nvGrpSpPr>
            <p:cNvPr id="1068" name="Google Shape;1068;p37"/>
            <p:cNvGrpSpPr/>
            <p:nvPr/>
          </p:nvGrpSpPr>
          <p:grpSpPr>
            <a:xfrm>
              <a:off x="899133" y="1718042"/>
              <a:ext cx="6473568" cy="1213215"/>
              <a:chOff x="899134" y="2329927"/>
              <a:chExt cx="5474694" cy="1026015"/>
            </a:xfrm>
          </p:grpSpPr>
          <p:sp>
            <p:nvSpPr>
              <p:cNvPr id="1069" name="Google Shape;1069;p37"/>
              <p:cNvSpPr/>
              <p:nvPr/>
            </p:nvSpPr>
            <p:spPr>
              <a:xfrm>
                <a:off x="1145610" y="2329927"/>
                <a:ext cx="4925084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37"/>
              <p:cNvSpPr txBox="1"/>
              <p:nvPr/>
            </p:nvSpPr>
            <p:spPr>
              <a:xfrm>
                <a:off x="1390453" y="2669348"/>
                <a:ext cx="4983375" cy="363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Click anywhere in the </a:t>
                </a: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"Score" </a:t>
                </a:r>
                <a:r>
                  <a:rPr lang="en-US" sz="20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column.</a:t>
                </a:r>
                <a:endParaRPr/>
              </a:p>
            </p:txBody>
          </p:sp>
          <p:grpSp>
            <p:nvGrpSpPr>
              <p:cNvPr id="1071" name="Google Shape;1071;p37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72" name="Google Shape;1072;p37"/>
                <p:cNvSpPr/>
                <p:nvPr/>
              </p:nvSpPr>
              <p:spPr>
                <a:xfrm>
                  <a:off x="897675" y="1789789"/>
                  <a:ext cx="542600" cy="389897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3" name="Google Shape;1073;p3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074" name="Google Shape;1074;p37"/>
            <p:cNvGrpSpPr/>
            <p:nvPr/>
          </p:nvGrpSpPr>
          <p:grpSpPr>
            <a:xfrm>
              <a:off x="899133" y="3089092"/>
              <a:ext cx="6270292" cy="1213215"/>
              <a:chOff x="899134" y="2329925"/>
              <a:chExt cx="5302783" cy="1026014"/>
            </a:xfrm>
          </p:grpSpPr>
          <p:sp>
            <p:nvSpPr>
              <p:cNvPr id="1075" name="Google Shape;1075;p37"/>
              <p:cNvSpPr/>
              <p:nvPr/>
            </p:nvSpPr>
            <p:spPr>
              <a:xfrm>
                <a:off x="1145610" y="2329925"/>
                <a:ext cx="4925084" cy="1026014"/>
              </a:xfrm>
              <a:prstGeom prst="roundRect">
                <a:avLst>
                  <a:gd fmla="val 13022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37"/>
              <p:cNvSpPr txBox="1"/>
              <p:nvPr/>
            </p:nvSpPr>
            <p:spPr>
              <a:xfrm>
                <a:off x="1390452" y="2519680"/>
                <a:ext cx="4811465" cy="662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1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00" u="none" cap="none" strike="noStrike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In the </a:t>
                </a:r>
                <a:r>
                  <a:rPr b="0" i="0" lang="en-US" sz="2000" u="none" cap="none" strike="noStrike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Data</a:t>
                </a:r>
                <a:r>
                  <a:rPr b="0" i="0" lang="en-US" sz="2000" u="none" cap="none" strike="noStrike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tab, click </a:t>
                </a:r>
                <a:r>
                  <a:rPr b="0" i="0" lang="en-US" sz="2000" u="none" cap="none" strike="noStrike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Sort Smallest to Largest</a:t>
                </a:r>
                <a:r>
                  <a:rPr b="0" i="0" lang="en-US" sz="2000" u="none" cap="none" strike="noStrike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to sort scores in ascending order.</a:t>
                </a:r>
                <a:endParaRPr/>
              </a:p>
            </p:txBody>
          </p:sp>
          <p:grpSp>
            <p:nvGrpSpPr>
              <p:cNvPr id="1077" name="Google Shape;1077;p37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78" name="Google Shape;1078;p37"/>
                <p:cNvSpPr/>
                <p:nvPr/>
              </p:nvSpPr>
              <p:spPr>
                <a:xfrm>
                  <a:off x="897675" y="1789789"/>
                  <a:ext cx="542600" cy="389897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9" name="Google Shape;1079;p3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  <p:graphicFrame>
        <p:nvGraphicFramePr>
          <p:cNvPr id="1080" name="Google Shape;1080;p37"/>
          <p:cNvGraphicFramePr/>
          <p:nvPr/>
        </p:nvGraphicFramePr>
        <p:xfrm>
          <a:off x="7369804" y="1708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{5209E166-228F-4204-9806-82BCB6DFEF5D}</a:tableStyleId>
              </a:tblPr>
              <a:tblGrid>
                <a:gridCol w="1406975"/>
                <a:gridCol w="932000"/>
                <a:gridCol w="1406975"/>
              </a:tblGrid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Name</a:t>
                      </a:r>
                      <a:endParaRPr b="0" sz="1800" u="none" cap="none" strike="noStrike">
                        <a:solidFill>
                          <a:srgbClr val="29468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Score</a:t>
                      </a:r>
                      <a:endParaRPr b="0" sz="1800" u="none" cap="none" strike="noStrike">
                        <a:solidFill>
                          <a:srgbClr val="29468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Date</a:t>
                      </a:r>
                      <a:endParaRPr b="0" sz="1800" u="none" cap="none" strike="noStrike">
                        <a:solidFill>
                          <a:srgbClr val="29468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Niru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78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10-02-2023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Anu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15-01-2023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Rushi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88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25-01-2023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Komal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92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20-03-2023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Monika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05-03-2023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8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8"/>
          <p:cNvSpPr/>
          <p:nvPr/>
        </p:nvSpPr>
        <p:spPr>
          <a:xfrm>
            <a:off x="7360356" y="1708856"/>
            <a:ext cx="3764844" cy="3973689"/>
          </a:xfrm>
          <a:prstGeom prst="roundRect">
            <a:avLst>
              <a:gd fmla="val 8999" name="adj"/>
            </a:avLst>
          </a:prstGeom>
          <a:solidFill>
            <a:srgbClr val="025698">
              <a:alpha val="5098"/>
            </a:srgbClr>
          </a:solidFill>
          <a:ln cap="flat" cmpd="sng" w="9525">
            <a:solidFill>
              <a:srgbClr val="007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7" name="Google Shape;1087;p38"/>
          <p:cNvGrpSpPr/>
          <p:nvPr/>
        </p:nvGrpSpPr>
        <p:grpSpPr>
          <a:xfrm>
            <a:off x="1478507" y="-13647"/>
            <a:ext cx="9234986" cy="896516"/>
            <a:chOff x="2475692" y="-13647"/>
            <a:chExt cx="7240615" cy="896516"/>
          </a:xfrm>
        </p:grpSpPr>
        <p:sp>
          <p:nvSpPr>
            <p:cNvPr id="1088" name="Google Shape;1088;p38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38"/>
            <p:cNvSpPr txBox="1"/>
            <p:nvPr/>
          </p:nvSpPr>
          <p:spPr>
            <a:xfrm>
              <a:off x="2475692" y="-13647"/>
              <a:ext cx="7240615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Sorting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by Date</a:t>
              </a:r>
              <a:endParaRPr b="1"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090" name="Google Shape;1090;p38"/>
          <p:cNvGrpSpPr/>
          <p:nvPr/>
        </p:nvGrpSpPr>
        <p:grpSpPr>
          <a:xfrm>
            <a:off x="899133" y="1718042"/>
            <a:ext cx="6473568" cy="3887628"/>
            <a:chOff x="899133" y="1718042"/>
            <a:chExt cx="6473568" cy="2584265"/>
          </a:xfrm>
        </p:grpSpPr>
        <p:grpSp>
          <p:nvGrpSpPr>
            <p:cNvPr id="1091" name="Google Shape;1091;p38"/>
            <p:cNvGrpSpPr/>
            <p:nvPr/>
          </p:nvGrpSpPr>
          <p:grpSpPr>
            <a:xfrm>
              <a:off x="899133" y="1718042"/>
              <a:ext cx="6473568" cy="1213215"/>
              <a:chOff x="899134" y="2329927"/>
              <a:chExt cx="5474694" cy="1026015"/>
            </a:xfrm>
          </p:grpSpPr>
          <p:sp>
            <p:nvSpPr>
              <p:cNvPr id="1092" name="Google Shape;1092;p38"/>
              <p:cNvSpPr/>
              <p:nvPr/>
            </p:nvSpPr>
            <p:spPr>
              <a:xfrm>
                <a:off x="1145610" y="2329927"/>
                <a:ext cx="4925084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38"/>
              <p:cNvSpPr txBox="1"/>
              <p:nvPr/>
            </p:nvSpPr>
            <p:spPr>
              <a:xfrm>
                <a:off x="1390453" y="2730251"/>
                <a:ext cx="4983375" cy="241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Click anywhere in the "</a:t>
                </a: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Date</a:t>
                </a:r>
                <a:r>
                  <a:rPr lang="en-US" sz="20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" column.</a:t>
                </a:r>
                <a:endParaRPr/>
              </a:p>
            </p:txBody>
          </p:sp>
          <p:grpSp>
            <p:nvGrpSpPr>
              <p:cNvPr id="1094" name="Google Shape;1094;p38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095" name="Google Shape;1095;p38"/>
                <p:cNvSpPr/>
                <p:nvPr/>
              </p:nvSpPr>
              <p:spPr>
                <a:xfrm>
                  <a:off x="897675" y="1789789"/>
                  <a:ext cx="542600" cy="389897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6" name="Google Shape;1096;p38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097" name="Google Shape;1097;p38"/>
            <p:cNvGrpSpPr/>
            <p:nvPr/>
          </p:nvGrpSpPr>
          <p:grpSpPr>
            <a:xfrm>
              <a:off x="899133" y="3089092"/>
              <a:ext cx="6270292" cy="1213215"/>
              <a:chOff x="899134" y="2329925"/>
              <a:chExt cx="5302783" cy="1026014"/>
            </a:xfrm>
          </p:grpSpPr>
          <p:sp>
            <p:nvSpPr>
              <p:cNvPr id="1098" name="Google Shape;1098;p38"/>
              <p:cNvSpPr/>
              <p:nvPr/>
            </p:nvSpPr>
            <p:spPr>
              <a:xfrm>
                <a:off x="1145610" y="2329925"/>
                <a:ext cx="4925084" cy="1026014"/>
              </a:xfrm>
              <a:prstGeom prst="roundRect">
                <a:avLst>
                  <a:gd fmla="val 13022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38"/>
              <p:cNvSpPr txBox="1"/>
              <p:nvPr/>
            </p:nvSpPr>
            <p:spPr>
              <a:xfrm>
                <a:off x="1390452" y="2630759"/>
                <a:ext cx="4811465" cy="440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1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00" u="none" cap="none" strike="noStrike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Go to the Data tab, click </a:t>
                </a:r>
                <a:r>
                  <a:rPr b="0" i="0" lang="en-US" sz="2000" u="none" cap="none" strike="noStrike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Sort Oldest to Newest</a:t>
                </a:r>
                <a:r>
                  <a:rPr b="0" i="0" lang="en-US" sz="2000" u="none" cap="none" strike="noStrike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to arrange dates chronologically.</a:t>
                </a:r>
                <a:endParaRPr/>
              </a:p>
            </p:txBody>
          </p:sp>
          <p:grpSp>
            <p:nvGrpSpPr>
              <p:cNvPr id="1100" name="Google Shape;1100;p38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101" name="Google Shape;1101;p38"/>
                <p:cNvSpPr/>
                <p:nvPr/>
              </p:nvSpPr>
              <p:spPr>
                <a:xfrm>
                  <a:off x="897675" y="1789789"/>
                  <a:ext cx="542600" cy="389897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2" name="Google Shape;1102;p38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  <p:graphicFrame>
        <p:nvGraphicFramePr>
          <p:cNvPr id="1103" name="Google Shape;1103;p38"/>
          <p:cNvGraphicFramePr/>
          <p:nvPr/>
        </p:nvGraphicFramePr>
        <p:xfrm>
          <a:off x="7369804" y="1708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{5209E166-228F-4204-9806-82BCB6DFEF5D}</a:tableStyleId>
              </a:tblPr>
              <a:tblGrid>
                <a:gridCol w="1406975"/>
                <a:gridCol w="932000"/>
                <a:gridCol w="1406975"/>
              </a:tblGrid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Name</a:t>
                      </a:r>
                      <a:endParaRPr b="0" sz="1800" u="none" cap="none" strike="noStrike">
                        <a:solidFill>
                          <a:srgbClr val="29468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Score</a:t>
                      </a:r>
                      <a:endParaRPr b="0" sz="1800" u="none" cap="none" strike="noStrike">
                        <a:solidFill>
                          <a:srgbClr val="29468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Date</a:t>
                      </a:r>
                      <a:endParaRPr b="0" sz="1800" u="none" cap="none" strike="noStrike">
                        <a:solidFill>
                          <a:srgbClr val="29468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Anu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15-01-2023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Rushi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88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25-01-2023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Niru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78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10-02-2023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Monika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05-03-2023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Komal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92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20-03-2023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8" name="Google Shape;1108;p39"/>
          <p:cNvGrpSpPr/>
          <p:nvPr/>
        </p:nvGrpSpPr>
        <p:grpSpPr>
          <a:xfrm>
            <a:off x="1478507" y="-13646"/>
            <a:ext cx="9234986" cy="896515"/>
            <a:chOff x="2475692" y="-13646"/>
            <a:chExt cx="7240615" cy="896515"/>
          </a:xfrm>
        </p:grpSpPr>
        <p:sp>
          <p:nvSpPr>
            <p:cNvPr id="1109" name="Google Shape;1109;p39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39"/>
            <p:cNvSpPr txBox="1"/>
            <p:nvPr/>
          </p:nvSpPr>
          <p:spPr>
            <a:xfrm>
              <a:off x="2475692" y="-13646"/>
              <a:ext cx="7240615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Multi-Level 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Sorting</a:t>
              </a:r>
              <a:endParaRPr/>
            </a:p>
          </p:txBody>
        </p:sp>
      </p:grpSp>
      <p:grpSp>
        <p:nvGrpSpPr>
          <p:cNvPr id="1111" name="Google Shape;1111;p39"/>
          <p:cNvGrpSpPr/>
          <p:nvPr/>
        </p:nvGrpSpPr>
        <p:grpSpPr>
          <a:xfrm>
            <a:off x="776748" y="1524000"/>
            <a:ext cx="10638504" cy="4343400"/>
            <a:chOff x="776748" y="1524000"/>
            <a:chExt cx="10638504" cy="4343400"/>
          </a:xfrm>
        </p:grpSpPr>
        <p:sp>
          <p:nvSpPr>
            <p:cNvPr id="1112" name="Google Shape;1112;p39"/>
            <p:cNvSpPr/>
            <p:nvPr/>
          </p:nvSpPr>
          <p:spPr>
            <a:xfrm>
              <a:off x="776748" y="1524000"/>
              <a:ext cx="10638504" cy="43434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3" name="Google Shape;1113;p39"/>
            <p:cNvGrpSpPr/>
            <p:nvPr/>
          </p:nvGrpSpPr>
          <p:grpSpPr>
            <a:xfrm>
              <a:off x="982967" y="1822743"/>
              <a:ext cx="10226066" cy="3695115"/>
              <a:chOff x="982967" y="1822743"/>
              <a:chExt cx="10226066" cy="3695115"/>
            </a:xfrm>
          </p:grpSpPr>
          <p:grpSp>
            <p:nvGrpSpPr>
              <p:cNvPr id="1114" name="Google Shape;1114;p39"/>
              <p:cNvGrpSpPr/>
              <p:nvPr/>
            </p:nvGrpSpPr>
            <p:grpSpPr>
              <a:xfrm>
                <a:off x="982967" y="1822743"/>
                <a:ext cx="10226066" cy="1026015"/>
                <a:chOff x="899134" y="1952855"/>
                <a:chExt cx="10226066" cy="1026015"/>
              </a:xfrm>
            </p:grpSpPr>
            <p:grpSp>
              <p:nvGrpSpPr>
                <p:cNvPr id="1115" name="Google Shape;1115;p39"/>
                <p:cNvGrpSpPr/>
                <p:nvPr/>
              </p:nvGrpSpPr>
              <p:grpSpPr>
                <a:xfrm>
                  <a:off x="1145608" y="1952855"/>
                  <a:ext cx="9979592" cy="1026015"/>
                  <a:chOff x="1070118" y="1727303"/>
                  <a:chExt cx="9979592" cy="1026015"/>
                </a:xfrm>
              </p:grpSpPr>
              <p:sp>
                <p:nvSpPr>
                  <p:cNvPr id="1116" name="Google Shape;1116;p39"/>
                  <p:cNvSpPr/>
                  <p:nvPr/>
                </p:nvSpPr>
                <p:spPr>
                  <a:xfrm>
                    <a:off x="1070118" y="1727303"/>
                    <a:ext cx="9979592" cy="1026015"/>
                  </a:xfrm>
                  <a:prstGeom prst="roundRect">
                    <a:avLst>
                      <a:gd fmla="val 13022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7" name="Google Shape;1117;p39"/>
                  <p:cNvSpPr txBox="1"/>
                  <p:nvPr/>
                </p:nvSpPr>
                <p:spPr>
                  <a:xfrm>
                    <a:off x="1554246" y="1914719"/>
                    <a:ext cx="4983372" cy="3227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Sort Data Based On Multiple Criteria:</a:t>
                    </a:r>
                    <a:endParaRPr/>
                  </a:p>
                </p:txBody>
              </p:sp>
              <p:sp>
                <p:nvSpPr>
                  <p:cNvPr id="1118" name="Google Shape;1118;p39"/>
                  <p:cNvSpPr txBox="1"/>
                  <p:nvPr/>
                </p:nvSpPr>
                <p:spPr>
                  <a:xfrm>
                    <a:off x="1501237" y="2275749"/>
                    <a:ext cx="943583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DM Sans"/>
                      <a:buChar char="○"/>
                    </a:pPr>
                    <a:r>
                      <a:rPr lang="en-US" sz="18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Example: Sort by Name (A-Z) and then by Score (highest to lowest).</a:t>
                    </a:r>
                    <a:endParaRPr/>
                  </a:p>
                </p:txBody>
              </p:sp>
            </p:grpSp>
            <p:grpSp>
              <p:nvGrpSpPr>
                <p:cNvPr id="1119" name="Google Shape;1119;p39"/>
                <p:cNvGrpSpPr/>
                <p:nvPr/>
              </p:nvGrpSpPr>
              <p:grpSpPr>
                <a:xfrm>
                  <a:off x="899134" y="2274934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120" name="Google Shape;1120;p39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1" name="Google Shape;1121;p3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</p:grpSp>
          <p:grpSp>
            <p:nvGrpSpPr>
              <p:cNvPr id="1122" name="Google Shape;1122;p39"/>
              <p:cNvGrpSpPr/>
              <p:nvPr/>
            </p:nvGrpSpPr>
            <p:grpSpPr>
              <a:xfrm>
                <a:off x="1025199" y="4336621"/>
                <a:ext cx="10183834" cy="1181237"/>
                <a:chOff x="941366" y="4257308"/>
                <a:chExt cx="10183834" cy="1181237"/>
              </a:xfrm>
            </p:grpSpPr>
            <p:sp>
              <p:nvSpPr>
                <p:cNvPr id="1123" name="Google Shape;1123;p39"/>
                <p:cNvSpPr/>
                <p:nvPr/>
              </p:nvSpPr>
              <p:spPr>
                <a:xfrm>
                  <a:off x="1145608" y="4257308"/>
                  <a:ext cx="9979592" cy="1181237"/>
                </a:xfrm>
                <a:prstGeom prst="roundRect">
                  <a:avLst>
                    <a:gd fmla="val 21261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4" name="Google Shape;1124;p39"/>
                <p:cNvSpPr txBox="1"/>
                <p:nvPr/>
              </p:nvSpPr>
              <p:spPr>
                <a:xfrm>
                  <a:off x="1451339" y="4649988"/>
                  <a:ext cx="4926980" cy="3958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Steps:</a:t>
                  </a:r>
                  <a:endParaRPr/>
                </a:p>
              </p:txBody>
            </p:sp>
            <p:grpSp>
              <p:nvGrpSpPr>
                <p:cNvPr id="1125" name="Google Shape;1125;p39"/>
                <p:cNvGrpSpPr/>
                <p:nvPr/>
              </p:nvGrpSpPr>
              <p:grpSpPr>
                <a:xfrm>
                  <a:off x="941366" y="4656998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126" name="Google Shape;1126;p39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7" name="Google Shape;1127;p3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3</a:t>
                    </a:r>
                    <a:endParaRPr/>
                  </a:p>
                </p:txBody>
              </p:sp>
            </p:grpSp>
            <p:sp>
              <p:nvSpPr>
                <p:cNvPr id="1128" name="Google Shape;1128;p39"/>
                <p:cNvSpPr txBox="1"/>
                <p:nvPr/>
              </p:nvSpPr>
              <p:spPr>
                <a:xfrm>
                  <a:off x="2683790" y="4315793"/>
                  <a:ext cx="6632487" cy="10642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44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lang="en-US" sz="18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Select the dataset.</a:t>
                  </a:r>
                  <a:endParaRPr/>
                </a:p>
                <a:p>
                  <a:pPr indent="0" lvl="0" marL="0" marR="0" rtl="0" algn="l">
                    <a:lnSpc>
                      <a:spcPct val="94444"/>
                    </a:lnSpc>
                    <a:spcBef>
                      <a:spcPts val="12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lang="en-US" sz="18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Open the Sort dialog box (Data &gt; Sort).</a:t>
                  </a:r>
                  <a:endParaRPr/>
                </a:p>
                <a:p>
                  <a:pPr indent="0" lvl="0" marL="0" marR="0" rtl="0" algn="l">
                    <a:lnSpc>
                      <a:spcPct val="94444"/>
                    </a:lnSpc>
                    <a:spcBef>
                      <a:spcPts val="12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lang="en-US" sz="18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Add levels and define sorting rules</a:t>
                  </a:r>
                  <a:endParaRPr/>
                </a:p>
              </p:txBody>
            </p:sp>
          </p:grpSp>
          <p:grpSp>
            <p:nvGrpSpPr>
              <p:cNvPr id="1129" name="Google Shape;1129;p39"/>
              <p:cNvGrpSpPr/>
              <p:nvPr/>
            </p:nvGrpSpPr>
            <p:grpSpPr>
              <a:xfrm>
                <a:off x="982967" y="3022154"/>
                <a:ext cx="10226066" cy="1141071"/>
                <a:chOff x="899134" y="3053546"/>
                <a:chExt cx="10226066" cy="1141071"/>
              </a:xfrm>
            </p:grpSpPr>
            <p:grpSp>
              <p:nvGrpSpPr>
                <p:cNvPr id="1130" name="Google Shape;1130;p39"/>
                <p:cNvGrpSpPr/>
                <p:nvPr/>
              </p:nvGrpSpPr>
              <p:grpSpPr>
                <a:xfrm>
                  <a:off x="1145608" y="3053546"/>
                  <a:ext cx="9979592" cy="1141071"/>
                  <a:chOff x="1070118" y="1916151"/>
                  <a:chExt cx="9979592" cy="1141071"/>
                </a:xfrm>
              </p:grpSpPr>
              <p:sp>
                <p:nvSpPr>
                  <p:cNvPr id="1131" name="Google Shape;1131;p39"/>
                  <p:cNvSpPr/>
                  <p:nvPr/>
                </p:nvSpPr>
                <p:spPr>
                  <a:xfrm>
                    <a:off x="1070118" y="1916151"/>
                    <a:ext cx="9979592" cy="1141071"/>
                  </a:xfrm>
                  <a:prstGeom prst="roundRect">
                    <a:avLst>
                      <a:gd fmla="val 13022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2" name="Google Shape;1132;p39"/>
                  <p:cNvSpPr txBox="1"/>
                  <p:nvPr/>
                </p:nvSpPr>
                <p:spPr>
                  <a:xfrm>
                    <a:off x="1527742" y="2271884"/>
                    <a:ext cx="9382821" cy="4296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Use the </a:t>
                    </a:r>
                    <a:r>
                      <a:rPr lang="en-US" sz="20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Sort </a:t>
                    </a: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dialog box for advanced options.</a:t>
                    </a:r>
                    <a:endParaRPr/>
                  </a:p>
                </p:txBody>
              </p:sp>
            </p:grpSp>
            <p:grpSp>
              <p:nvGrpSpPr>
                <p:cNvPr id="1133" name="Google Shape;1133;p39"/>
                <p:cNvGrpSpPr/>
                <p:nvPr/>
              </p:nvGrpSpPr>
              <p:grpSpPr>
                <a:xfrm>
                  <a:off x="899134" y="3433153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134" name="Google Shape;1134;p39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5" name="Google Shape;1135;p39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oogle Shape;1140;p40"/>
          <p:cNvGrpSpPr/>
          <p:nvPr/>
        </p:nvGrpSpPr>
        <p:grpSpPr>
          <a:xfrm>
            <a:off x="1478507" y="-13646"/>
            <a:ext cx="9234986" cy="896515"/>
            <a:chOff x="2475692" y="-13646"/>
            <a:chExt cx="7240615" cy="896515"/>
          </a:xfrm>
        </p:grpSpPr>
        <p:sp>
          <p:nvSpPr>
            <p:cNvPr id="1141" name="Google Shape;1141;p40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40"/>
            <p:cNvSpPr txBox="1"/>
            <p:nvPr/>
          </p:nvSpPr>
          <p:spPr>
            <a:xfrm>
              <a:off x="2475692" y="-13646"/>
              <a:ext cx="7240615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Multi-Leve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l Sorting</a:t>
              </a:r>
              <a:endParaRPr b="1"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143" name="Google Shape;1143;p40"/>
          <p:cNvGrpSpPr/>
          <p:nvPr/>
        </p:nvGrpSpPr>
        <p:grpSpPr>
          <a:xfrm>
            <a:off x="1447800" y="1731385"/>
            <a:ext cx="9296400" cy="3928630"/>
            <a:chOff x="776748" y="1447800"/>
            <a:chExt cx="10638504" cy="4495800"/>
          </a:xfrm>
        </p:grpSpPr>
        <p:sp>
          <p:nvSpPr>
            <p:cNvPr id="1144" name="Google Shape;1144;p40"/>
            <p:cNvSpPr/>
            <p:nvPr/>
          </p:nvSpPr>
          <p:spPr>
            <a:xfrm>
              <a:off x="776748" y="1447800"/>
              <a:ext cx="10638504" cy="44958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5" name="Google Shape;1145;p40"/>
            <p:cNvPicPr preferRelativeResize="0"/>
            <p:nvPr/>
          </p:nvPicPr>
          <p:blipFill rotWithShape="1">
            <a:blip r:embed="rId3">
              <a:alphaModFix/>
            </a:blip>
            <a:srcRect b="3424" l="1066" r="1066" t="1688"/>
            <a:stretch/>
          </p:blipFill>
          <p:spPr>
            <a:xfrm>
              <a:off x="1061079" y="1669774"/>
              <a:ext cx="10069842" cy="4051852"/>
            </a:xfrm>
            <a:prstGeom prst="roundRect">
              <a:avLst>
                <a:gd fmla="val 572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Google Shape;1150;p41"/>
          <p:cNvGrpSpPr/>
          <p:nvPr/>
        </p:nvGrpSpPr>
        <p:grpSpPr>
          <a:xfrm>
            <a:off x="1807158" y="-13646"/>
            <a:ext cx="8577686" cy="896515"/>
            <a:chOff x="2733368" y="-13646"/>
            <a:chExt cx="6725264" cy="896515"/>
          </a:xfrm>
        </p:grpSpPr>
        <p:sp>
          <p:nvSpPr>
            <p:cNvPr id="1151" name="Google Shape;1151;p41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41"/>
            <p:cNvSpPr txBox="1"/>
            <p:nvPr/>
          </p:nvSpPr>
          <p:spPr>
            <a:xfrm>
              <a:off x="3711325" y="-13646"/>
              <a:ext cx="476935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Applying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Filters</a:t>
              </a:r>
              <a:endParaRPr b="1"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153" name="Google Shape;1153;p41"/>
          <p:cNvGrpSpPr/>
          <p:nvPr/>
        </p:nvGrpSpPr>
        <p:grpSpPr>
          <a:xfrm>
            <a:off x="776748" y="1524000"/>
            <a:ext cx="10638504" cy="4460240"/>
            <a:chOff x="776748" y="1524000"/>
            <a:chExt cx="10638504" cy="4460240"/>
          </a:xfrm>
        </p:grpSpPr>
        <p:sp>
          <p:nvSpPr>
            <p:cNvPr id="1154" name="Google Shape;1154;p41"/>
            <p:cNvSpPr/>
            <p:nvPr/>
          </p:nvSpPr>
          <p:spPr>
            <a:xfrm>
              <a:off x="776748" y="1524000"/>
              <a:ext cx="10638504" cy="446024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5" name="Google Shape;1155;p41"/>
            <p:cNvGrpSpPr/>
            <p:nvPr/>
          </p:nvGrpSpPr>
          <p:grpSpPr>
            <a:xfrm>
              <a:off x="903455" y="1832903"/>
              <a:ext cx="10254877" cy="3746262"/>
              <a:chOff x="982967" y="1832903"/>
              <a:chExt cx="10254877" cy="3746262"/>
            </a:xfrm>
          </p:grpSpPr>
          <p:grpSp>
            <p:nvGrpSpPr>
              <p:cNvPr id="1156" name="Google Shape;1156;p41"/>
              <p:cNvGrpSpPr/>
              <p:nvPr/>
            </p:nvGrpSpPr>
            <p:grpSpPr>
              <a:xfrm>
                <a:off x="982967" y="1832903"/>
                <a:ext cx="10226066" cy="1026015"/>
                <a:chOff x="899134" y="1952855"/>
                <a:chExt cx="10226066" cy="1026015"/>
              </a:xfrm>
            </p:grpSpPr>
            <p:grpSp>
              <p:nvGrpSpPr>
                <p:cNvPr id="1157" name="Google Shape;1157;p41"/>
                <p:cNvGrpSpPr/>
                <p:nvPr/>
              </p:nvGrpSpPr>
              <p:grpSpPr>
                <a:xfrm>
                  <a:off x="1145608" y="1952855"/>
                  <a:ext cx="9979592" cy="1026015"/>
                  <a:chOff x="1070118" y="1727303"/>
                  <a:chExt cx="9979592" cy="1026015"/>
                </a:xfrm>
              </p:grpSpPr>
              <p:sp>
                <p:nvSpPr>
                  <p:cNvPr id="1158" name="Google Shape;1158;p41"/>
                  <p:cNvSpPr/>
                  <p:nvPr/>
                </p:nvSpPr>
                <p:spPr>
                  <a:xfrm>
                    <a:off x="1070118" y="1727303"/>
                    <a:ext cx="9979592" cy="1026015"/>
                  </a:xfrm>
                  <a:prstGeom prst="roundRect">
                    <a:avLst>
                      <a:gd fmla="val 13022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9" name="Google Shape;1159;p41"/>
                  <p:cNvSpPr txBox="1"/>
                  <p:nvPr/>
                </p:nvSpPr>
                <p:spPr>
                  <a:xfrm>
                    <a:off x="1554245" y="2025508"/>
                    <a:ext cx="9073701" cy="4296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Filters hide unwanted data to focus on specific information.</a:t>
                    </a:r>
                    <a:endParaRPr/>
                  </a:p>
                </p:txBody>
              </p:sp>
            </p:grpSp>
            <p:grpSp>
              <p:nvGrpSpPr>
                <p:cNvPr id="1160" name="Google Shape;1160;p41"/>
                <p:cNvGrpSpPr/>
                <p:nvPr/>
              </p:nvGrpSpPr>
              <p:grpSpPr>
                <a:xfrm>
                  <a:off x="899134" y="2274934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161" name="Google Shape;1161;p41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2" name="Google Shape;1162;p41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</p:grpSp>
          <p:grpSp>
            <p:nvGrpSpPr>
              <p:cNvPr id="1163" name="Google Shape;1163;p41"/>
              <p:cNvGrpSpPr/>
              <p:nvPr/>
            </p:nvGrpSpPr>
            <p:grpSpPr>
              <a:xfrm>
                <a:off x="982967" y="3047554"/>
                <a:ext cx="10254877" cy="2531611"/>
                <a:chOff x="982967" y="3047554"/>
                <a:chExt cx="10254877" cy="2531611"/>
              </a:xfrm>
            </p:grpSpPr>
            <p:grpSp>
              <p:nvGrpSpPr>
                <p:cNvPr id="1164" name="Google Shape;1164;p41"/>
                <p:cNvGrpSpPr/>
                <p:nvPr/>
              </p:nvGrpSpPr>
              <p:grpSpPr>
                <a:xfrm>
                  <a:off x="1229441" y="3047554"/>
                  <a:ext cx="10008403" cy="2531611"/>
                  <a:chOff x="1070118" y="1916151"/>
                  <a:chExt cx="10008403" cy="2531611"/>
                </a:xfrm>
              </p:grpSpPr>
              <p:sp>
                <p:nvSpPr>
                  <p:cNvPr id="1165" name="Google Shape;1165;p41"/>
                  <p:cNvSpPr/>
                  <p:nvPr/>
                </p:nvSpPr>
                <p:spPr>
                  <a:xfrm>
                    <a:off x="1070118" y="1916151"/>
                    <a:ext cx="9979592" cy="2531611"/>
                  </a:xfrm>
                  <a:prstGeom prst="roundRect">
                    <a:avLst>
                      <a:gd fmla="val 7264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6" name="Google Shape;1166;p41"/>
                  <p:cNvSpPr txBox="1"/>
                  <p:nvPr/>
                </p:nvSpPr>
                <p:spPr>
                  <a:xfrm>
                    <a:off x="1527742" y="2271884"/>
                    <a:ext cx="9382821" cy="4296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How To Apply:</a:t>
                    </a:r>
                    <a:endParaRPr/>
                  </a:p>
                </p:txBody>
              </p:sp>
              <p:sp>
                <p:nvSpPr>
                  <p:cNvPr id="1167" name="Google Shape;1167;p41"/>
                  <p:cNvSpPr txBox="1"/>
                  <p:nvPr/>
                </p:nvSpPr>
                <p:spPr>
                  <a:xfrm>
                    <a:off x="1527743" y="2731462"/>
                    <a:ext cx="9550778" cy="144526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Montserrat"/>
                      <a:buChar char="○"/>
                    </a:pP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Select the header row.</a:t>
                    </a:r>
                    <a:endParaRPr/>
                  </a:p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Montserrat"/>
                      <a:buChar char="○"/>
                    </a:pP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Click Filter in the Data tab.</a:t>
                    </a:r>
                    <a:endParaRPr/>
                  </a:p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Montserrat"/>
                      <a:buChar char="○"/>
                    </a:pPr>
                    <a:r>
                      <a:rPr lang="en-US" sz="20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Use dropdown arrows to filter by criteria (e.g., greater than, contains).</a:t>
                    </a:r>
                    <a:endParaRPr/>
                  </a:p>
                </p:txBody>
              </p:sp>
            </p:grpSp>
            <p:grpSp>
              <p:nvGrpSpPr>
                <p:cNvPr id="1168" name="Google Shape;1168;p41"/>
                <p:cNvGrpSpPr/>
                <p:nvPr/>
              </p:nvGrpSpPr>
              <p:grpSpPr>
                <a:xfrm>
                  <a:off x="982967" y="4122431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169" name="Google Shape;1169;p41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0" name="Google Shape;1170;p41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42"/>
          <p:cNvGrpSpPr/>
          <p:nvPr/>
        </p:nvGrpSpPr>
        <p:grpSpPr>
          <a:xfrm>
            <a:off x="1478507" y="-13646"/>
            <a:ext cx="9234986" cy="896515"/>
            <a:chOff x="2475692" y="-13646"/>
            <a:chExt cx="7240615" cy="896515"/>
          </a:xfrm>
        </p:grpSpPr>
        <p:sp>
          <p:nvSpPr>
            <p:cNvPr id="1176" name="Google Shape;1176;p42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42"/>
            <p:cNvSpPr txBox="1"/>
            <p:nvPr/>
          </p:nvSpPr>
          <p:spPr>
            <a:xfrm>
              <a:off x="2475692" y="-13646"/>
              <a:ext cx="7240615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Applying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Filters</a:t>
              </a:r>
              <a:endParaRPr b="1"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178" name="Google Shape;1178;p42"/>
          <p:cNvGrpSpPr/>
          <p:nvPr/>
        </p:nvGrpSpPr>
        <p:grpSpPr>
          <a:xfrm>
            <a:off x="3005593" y="1731385"/>
            <a:ext cx="6180814" cy="3928630"/>
            <a:chOff x="3005593" y="1731385"/>
            <a:chExt cx="6180814" cy="3928630"/>
          </a:xfrm>
        </p:grpSpPr>
        <p:sp>
          <p:nvSpPr>
            <p:cNvPr id="1179" name="Google Shape;1179;p42"/>
            <p:cNvSpPr/>
            <p:nvPr/>
          </p:nvSpPr>
          <p:spPr>
            <a:xfrm>
              <a:off x="3005593" y="1731385"/>
              <a:ext cx="6180814" cy="392863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80" name="Google Shape;1180;p42"/>
            <p:cNvPicPr preferRelativeResize="0"/>
            <p:nvPr/>
          </p:nvPicPr>
          <p:blipFill rotWithShape="1">
            <a:blip r:embed="rId3">
              <a:alphaModFix/>
            </a:blip>
            <a:srcRect b="1987" l="1616" r="1751" t="906"/>
            <a:stretch/>
          </p:blipFill>
          <p:spPr>
            <a:xfrm>
              <a:off x="3177726" y="1923223"/>
              <a:ext cx="5836548" cy="3544954"/>
            </a:xfrm>
            <a:prstGeom prst="roundRect">
              <a:avLst>
                <a:gd fmla="val 1639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5" name="Google Shape;1185;p43"/>
          <p:cNvGrpSpPr/>
          <p:nvPr/>
        </p:nvGrpSpPr>
        <p:grpSpPr>
          <a:xfrm>
            <a:off x="1807157" y="-63500"/>
            <a:ext cx="8577686" cy="1259510"/>
            <a:chOff x="1807157" y="-130616"/>
            <a:chExt cx="8577686" cy="1259510"/>
          </a:xfrm>
        </p:grpSpPr>
        <p:sp>
          <p:nvSpPr>
            <p:cNvPr id="1186" name="Google Shape;1186;p43"/>
            <p:cNvSpPr/>
            <p:nvPr/>
          </p:nvSpPr>
          <p:spPr>
            <a:xfrm rot="10800000">
              <a:off x="1807157" y="-79816"/>
              <a:ext cx="8577686" cy="1208710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43"/>
            <p:cNvSpPr txBox="1"/>
            <p:nvPr/>
          </p:nvSpPr>
          <p:spPr>
            <a:xfrm>
              <a:off x="3330108" y="-130616"/>
              <a:ext cx="5531790" cy="1205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Common Mistakes in </a:t>
              </a:r>
              <a:r>
                <a:rPr lang="en-US" sz="32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Sorting/Filtering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188" name="Google Shape;1188;p43"/>
          <p:cNvGrpSpPr/>
          <p:nvPr/>
        </p:nvGrpSpPr>
        <p:grpSpPr>
          <a:xfrm>
            <a:off x="776748" y="1524000"/>
            <a:ext cx="10638504" cy="4343400"/>
            <a:chOff x="776748" y="1524000"/>
            <a:chExt cx="10638504" cy="4343400"/>
          </a:xfrm>
        </p:grpSpPr>
        <p:sp>
          <p:nvSpPr>
            <p:cNvPr id="1189" name="Google Shape;1189;p43"/>
            <p:cNvSpPr/>
            <p:nvPr/>
          </p:nvSpPr>
          <p:spPr>
            <a:xfrm>
              <a:off x="776748" y="1524000"/>
              <a:ext cx="10638504" cy="43434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0" name="Google Shape;1190;p43"/>
            <p:cNvGrpSpPr/>
            <p:nvPr/>
          </p:nvGrpSpPr>
          <p:grpSpPr>
            <a:xfrm>
              <a:off x="982967" y="1909225"/>
              <a:ext cx="10226066" cy="3572950"/>
              <a:chOff x="917860" y="1790358"/>
              <a:chExt cx="10226066" cy="3572950"/>
            </a:xfrm>
          </p:grpSpPr>
          <p:grpSp>
            <p:nvGrpSpPr>
              <p:cNvPr id="1191" name="Google Shape;1191;p43"/>
              <p:cNvGrpSpPr/>
              <p:nvPr/>
            </p:nvGrpSpPr>
            <p:grpSpPr>
              <a:xfrm>
                <a:off x="917860" y="1790358"/>
                <a:ext cx="10226066" cy="1638642"/>
                <a:chOff x="899134" y="1646542"/>
                <a:chExt cx="10226066" cy="1638642"/>
              </a:xfrm>
            </p:grpSpPr>
            <p:grpSp>
              <p:nvGrpSpPr>
                <p:cNvPr id="1192" name="Google Shape;1192;p43"/>
                <p:cNvGrpSpPr/>
                <p:nvPr/>
              </p:nvGrpSpPr>
              <p:grpSpPr>
                <a:xfrm>
                  <a:off x="1145608" y="1646542"/>
                  <a:ext cx="9979592" cy="1638642"/>
                  <a:chOff x="1070118" y="1420990"/>
                  <a:chExt cx="9979592" cy="1638642"/>
                </a:xfrm>
              </p:grpSpPr>
              <p:sp>
                <p:nvSpPr>
                  <p:cNvPr id="1193" name="Google Shape;1193;p43"/>
                  <p:cNvSpPr/>
                  <p:nvPr/>
                </p:nvSpPr>
                <p:spPr>
                  <a:xfrm>
                    <a:off x="1070118" y="1420990"/>
                    <a:ext cx="9979592" cy="1638642"/>
                  </a:xfrm>
                  <a:prstGeom prst="roundRect">
                    <a:avLst>
                      <a:gd fmla="val 13022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4" name="Google Shape;1194;p43"/>
                  <p:cNvSpPr txBox="1"/>
                  <p:nvPr/>
                </p:nvSpPr>
                <p:spPr>
                  <a:xfrm>
                    <a:off x="1554245" y="2025508"/>
                    <a:ext cx="9073701" cy="4296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Sorting Without Selecting All Relevant Columns Can Misalign Data.</a:t>
                    </a:r>
                    <a:endParaRPr/>
                  </a:p>
                </p:txBody>
              </p:sp>
            </p:grpSp>
            <p:grpSp>
              <p:nvGrpSpPr>
                <p:cNvPr id="1195" name="Google Shape;1195;p43"/>
                <p:cNvGrpSpPr/>
                <p:nvPr/>
              </p:nvGrpSpPr>
              <p:grpSpPr>
                <a:xfrm>
                  <a:off x="899134" y="2274934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196" name="Google Shape;1196;p43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7" name="Google Shape;1197;p43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</p:grpSp>
          <p:grpSp>
            <p:nvGrpSpPr>
              <p:cNvPr id="1198" name="Google Shape;1198;p43"/>
              <p:cNvGrpSpPr/>
              <p:nvPr/>
            </p:nvGrpSpPr>
            <p:grpSpPr>
              <a:xfrm>
                <a:off x="917860" y="3724666"/>
                <a:ext cx="10226066" cy="1638642"/>
                <a:chOff x="899134" y="1646542"/>
                <a:chExt cx="10226066" cy="1638642"/>
              </a:xfrm>
            </p:grpSpPr>
            <p:grpSp>
              <p:nvGrpSpPr>
                <p:cNvPr id="1199" name="Google Shape;1199;p43"/>
                <p:cNvGrpSpPr/>
                <p:nvPr/>
              </p:nvGrpSpPr>
              <p:grpSpPr>
                <a:xfrm>
                  <a:off x="1145608" y="1646542"/>
                  <a:ext cx="9979592" cy="1638642"/>
                  <a:chOff x="1070118" y="1420990"/>
                  <a:chExt cx="9979592" cy="1638642"/>
                </a:xfrm>
              </p:grpSpPr>
              <p:sp>
                <p:nvSpPr>
                  <p:cNvPr id="1200" name="Google Shape;1200;p43"/>
                  <p:cNvSpPr/>
                  <p:nvPr/>
                </p:nvSpPr>
                <p:spPr>
                  <a:xfrm>
                    <a:off x="1070118" y="1420990"/>
                    <a:ext cx="9979592" cy="1638642"/>
                  </a:xfrm>
                  <a:prstGeom prst="roundRect">
                    <a:avLst>
                      <a:gd fmla="val 13022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1" name="Google Shape;1201;p43"/>
                  <p:cNvSpPr txBox="1"/>
                  <p:nvPr/>
                </p:nvSpPr>
                <p:spPr>
                  <a:xfrm>
                    <a:off x="1554245" y="2025509"/>
                    <a:ext cx="9073701" cy="4296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Forgetting To Clear Filters Can Lead To Incomplete Views.</a:t>
                    </a:r>
                    <a:endParaRPr/>
                  </a:p>
                </p:txBody>
              </p:sp>
            </p:grpSp>
            <p:grpSp>
              <p:nvGrpSpPr>
                <p:cNvPr id="1202" name="Google Shape;1202;p43"/>
                <p:cNvGrpSpPr/>
                <p:nvPr/>
              </p:nvGrpSpPr>
              <p:grpSpPr>
                <a:xfrm>
                  <a:off x="899134" y="2274934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203" name="Google Shape;1203;p43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4" name="Google Shape;1204;p43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9" name="Google Shape;1209;p44"/>
          <p:cNvGrpSpPr/>
          <p:nvPr/>
        </p:nvGrpSpPr>
        <p:grpSpPr>
          <a:xfrm>
            <a:off x="776748" y="781050"/>
            <a:ext cx="10638504" cy="5295900"/>
            <a:chOff x="776748" y="781050"/>
            <a:chExt cx="10638504" cy="5295900"/>
          </a:xfrm>
        </p:grpSpPr>
        <p:sp>
          <p:nvSpPr>
            <p:cNvPr id="1210" name="Google Shape;1210;p44"/>
            <p:cNvSpPr/>
            <p:nvPr/>
          </p:nvSpPr>
          <p:spPr>
            <a:xfrm>
              <a:off x="776748" y="781050"/>
              <a:ext cx="10638504" cy="52959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44"/>
            <p:cNvSpPr/>
            <p:nvPr/>
          </p:nvSpPr>
          <p:spPr>
            <a:xfrm>
              <a:off x="989937" y="954292"/>
              <a:ext cx="5089274" cy="4949417"/>
            </a:xfrm>
            <a:prstGeom prst="roundRect">
              <a:avLst>
                <a:gd fmla="val 8999" name="adj"/>
              </a:avLst>
            </a:prstGeom>
            <a:solidFill>
              <a:srgbClr val="025698">
                <a:alpha val="5098"/>
              </a:srgbClr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44"/>
            <p:cNvSpPr txBox="1"/>
            <p:nvPr/>
          </p:nvSpPr>
          <p:spPr>
            <a:xfrm>
              <a:off x="1523296" y="2828836"/>
              <a:ext cx="406553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Basic Functions </a:t>
              </a:r>
              <a:b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i="1" lang="en-US" sz="3600">
                  <a:solidFill>
                    <a:srgbClr val="095698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in Excel</a:t>
              </a:r>
              <a:endParaRPr/>
            </a:p>
          </p:txBody>
        </p:sp>
        <p:grpSp>
          <p:nvGrpSpPr>
            <p:cNvPr id="1213" name="Google Shape;1213;p44"/>
            <p:cNvGrpSpPr/>
            <p:nvPr/>
          </p:nvGrpSpPr>
          <p:grpSpPr>
            <a:xfrm>
              <a:off x="6380804" y="954292"/>
              <a:ext cx="4826284" cy="4949417"/>
              <a:chOff x="6380804" y="954292"/>
              <a:chExt cx="4826284" cy="4949417"/>
            </a:xfrm>
          </p:grpSpPr>
          <p:sp>
            <p:nvSpPr>
              <p:cNvPr id="1214" name="Google Shape;1214;p44"/>
              <p:cNvSpPr/>
              <p:nvPr/>
            </p:nvSpPr>
            <p:spPr>
              <a:xfrm>
                <a:off x="6380804" y="954292"/>
                <a:ext cx="4826284" cy="4949417"/>
              </a:xfrm>
              <a:prstGeom prst="roundRect">
                <a:avLst>
                  <a:gd fmla="val 8999" name="adj"/>
                </a:avLst>
              </a:prstGeom>
              <a:solidFill>
                <a:srgbClr val="C7D0D8"/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15" name="Google Shape;1215;p4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591521" y="1241100"/>
                <a:ext cx="4404850" cy="437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45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1" name="Google Shape;1221;p45"/>
          <p:cNvGrpSpPr/>
          <p:nvPr/>
        </p:nvGrpSpPr>
        <p:grpSpPr>
          <a:xfrm>
            <a:off x="982967" y="1909225"/>
            <a:ext cx="10226066" cy="3572950"/>
            <a:chOff x="982967" y="1909225"/>
            <a:chExt cx="10226066" cy="3572950"/>
          </a:xfrm>
        </p:grpSpPr>
        <p:grpSp>
          <p:nvGrpSpPr>
            <p:cNvPr id="1222" name="Google Shape;1222;p45"/>
            <p:cNvGrpSpPr/>
            <p:nvPr/>
          </p:nvGrpSpPr>
          <p:grpSpPr>
            <a:xfrm>
              <a:off x="982967" y="1909225"/>
              <a:ext cx="10226066" cy="1638642"/>
              <a:chOff x="899134" y="1646542"/>
              <a:chExt cx="10226066" cy="1638642"/>
            </a:xfrm>
          </p:grpSpPr>
          <p:grpSp>
            <p:nvGrpSpPr>
              <p:cNvPr id="1223" name="Google Shape;1223;p45"/>
              <p:cNvGrpSpPr/>
              <p:nvPr/>
            </p:nvGrpSpPr>
            <p:grpSpPr>
              <a:xfrm>
                <a:off x="1145608" y="1646542"/>
                <a:ext cx="9979592" cy="1638642"/>
                <a:chOff x="1070118" y="1420990"/>
                <a:chExt cx="9979592" cy="1638642"/>
              </a:xfrm>
            </p:grpSpPr>
            <p:sp>
              <p:nvSpPr>
                <p:cNvPr id="1224" name="Google Shape;1224;p45"/>
                <p:cNvSpPr/>
                <p:nvPr/>
              </p:nvSpPr>
              <p:spPr>
                <a:xfrm>
                  <a:off x="1070118" y="1420990"/>
                  <a:ext cx="9979592" cy="1638642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5" name="Google Shape;1225;p45"/>
                <p:cNvSpPr txBox="1"/>
                <p:nvPr/>
              </p:nvSpPr>
              <p:spPr>
                <a:xfrm>
                  <a:off x="1554245" y="1847799"/>
                  <a:ext cx="9073701" cy="785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Definition: 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Functions are predefined formulas in Excel used to perform calculations and simplify data analysis.</a:t>
                  </a:r>
                  <a:endParaRPr/>
                </a:p>
              </p:txBody>
            </p:sp>
          </p:grpSp>
          <p:grpSp>
            <p:nvGrpSpPr>
              <p:cNvPr id="1226" name="Google Shape;1226;p45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227" name="Google Shape;1227;p45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8" name="Google Shape;1228;p45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229" name="Google Shape;1229;p45"/>
            <p:cNvGrpSpPr/>
            <p:nvPr/>
          </p:nvGrpSpPr>
          <p:grpSpPr>
            <a:xfrm>
              <a:off x="982967" y="3843533"/>
              <a:ext cx="10226066" cy="1638642"/>
              <a:chOff x="899134" y="1646542"/>
              <a:chExt cx="10226066" cy="1638642"/>
            </a:xfrm>
          </p:grpSpPr>
          <p:grpSp>
            <p:nvGrpSpPr>
              <p:cNvPr id="1230" name="Google Shape;1230;p45"/>
              <p:cNvGrpSpPr/>
              <p:nvPr/>
            </p:nvGrpSpPr>
            <p:grpSpPr>
              <a:xfrm>
                <a:off x="1145608" y="1646542"/>
                <a:ext cx="9979592" cy="1638642"/>
                <a:chOff x="1070118" y="1420990"/>
                <a:chExt cx="9979592" cy="1638642"/>
              </a:xfrm>
            </p:grpSpPr>
            <p:sp>
              <p:nvSpPr>
                <p:cNvPr id="1231" name="Google Shape;1231;p45"/>
                <p:cNvSpPr/>
                <p:nvPr/>
              </p:nvSpPr>
              <p:spPr>
                <a:xfrm>
                  <a:off x="1070118" y="1420990"/>
                  <a:ext cx="9979592" cy="1638642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2" name="Google Shape;1232;p45"/>
                <p:cNvSpPr txBox="1"/>
                <p:nvPr/>
              </p:nvSpPr>
              <p:spPr>
                <a:xfrm>
                  <a:off x="1554245" y="1483494"/>
                  <a:ext cx="9073701" cy="294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Why Use Functions?</a:t>
                  </a:r>
                  <a:endParaRPr/>
                </a:p>
              </p:txBody>
            </p:sp>
            <p:sp>
              <p:nvSpPr>
                <p:cNvPr id="1233" name="Google Shape;1233;p45"/>
                <p:cNvSpPr txBox="1"/>
                <p:nvPr/>
              </p:nvSpPr>
              <p:spPr>
                <a:xfrm>
                  <a:off x="1554245" y="1876360"/>
                  <a:ext cx="9073701" cy="1083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1" marL="0" marR="0" rtl="0" algn="l">
                    <a:lnSpc>
                      <a:spcPct val="105555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b="0" i="0" lang="en-US" sz="18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Reduce errors in calculations.</a:t>
                  </a:r>
                  <a:endParaRPr/>
                </a:p>
                <a:p>
                  <a:pPr indent="0" lvl="1" marL="0" marR="0" rtl="0" algn="l">
                    <a:lnSpc>
                      <a:spcPct val="105555"/>
                    </a:lnSpc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b="0" i="0" lang="en-US" sz="18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Save time with automation.</a:t>
                  </a:r>
                  <a:endParaRPr/>
                </a:p>
                <a:p>
                  <a:pPr indent="0" lvl="1" marL="0" marR="0" rtl="0" algn="l">
                    <a:lnSpc>
                      <a:spcPct val="105555"/>
                    </a:lnSpc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Char char="○"/>
                  </a:pPr>
                  <a:r>
                    <a:rPr b="0" i="0" lang="en-US" sz="18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Apply logic across large datasets.</a:t>
                  </a:r>
                  <a:endParaRPr/>
                </a:p>
              </p:txBody>
            </p:sp>
          </p:grpSp>
          <p:grpSp>
            <p:nvGrpSpPr>
              <p:cNvPr id="1234" name="Google Shape;1234;p45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235" name="Google Shape;1235;p45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6" name="Google Shape;1236;p45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  <p:grpSp>
        <p:nvGrpSpPr>
          <p:cNvPr id="1237" name="Google Shape;1237;p45"/>
          <p:cNvGrpSpPr/>
          <p:nvPr/>
        </p:nvGrpSpPr>
        <p:grpSpPr>
          <a:xfrm>
            <a:off x="1807158" y="-13645"/>
            <a:ext cx="8577686" cy="896514"/>
            <a:chOff x="1807158" y="-13645"/>
            <a:chExt cx="8577686" cy="896514"/>
          </a:xfrm>
        </p:grpSpPr>
        <p:sp>
          <p:nvSpPr>
            <p:cNvPr id="1238" name="Google Shape;1238;p45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5"/>
            <p:cNvSpPr txBox="1"/>
            <p:nvPr/>
          </p:nvSpPr>
          <p:spPr>
            <a:xfrm>
              <a:off x="2362201" y="-13645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Introduction to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Functions</a:t>
              </a:r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46"/>
          <p:cNvSpPr/>
          <p:nvPr/>
        </p:nvSpPr>
        <p:spPr>
          <a:xfrm>
            <a:off x="776748" y="1219200"/>
            <a:ext cx="10638504" cy="49530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5" name="Google Shape;1245;p46"/>
          <p:cNvGrpSpPr/>
          <p:nvPr/>
        </p:nvGrpSpPr>
        <p:grpSpPr>
          <a:xfrm>
            <a:off x="1807158" y="-13645"/>
            <a:ext cx="8577686" cy="896514"/>
            <a:chOff x="1807158" y="-13645"/>
            <a:chExt cx="8577686" cy="896514"/>
          </a:xfrm>
        </p:grpSpPr>
        <p:sp>
          <p:nvSpPr>
            <p:cNvPr id="1246" name="Google Shape;1246;p46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46"/>
            <p:cNvSpPr txBox="1"/>
            <p:nvPr/>
          </p:nvSpPr>
          <p:spPr>
            <a:xfrm>
              <a:off x="2362201" y="-13645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Introduction to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Formulas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248" name="Google Shape;1248;p46"/>
          <p:cNvGrpSpPr/>
          <p:nvPr/>
        </p:nvGrpSpPr>
        <p:grpSpPr>
          <a:xfrm>
            <a:off x="998633" y="2059047"/>
            <a:ext cx="10194735" cy="3273307"/>
            <a:chOff x="565450" y="1833525"/>
            <a:chExt cx="8125201" cy="2608825"/>
          </a:xfrm>
        </p:grpSpPr>
        <p:pic>
          <p:nvPicPr>
            <p:cNvPr id="1249" name="Google Shape;1249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5450" y="2422975"/>
              <a:ext cx="8125201" cy="183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46"/>
            <p:cNvSpPr/>
            <p:nvPr/>
          </p:nvSpPr>
          <p:spPr>
            <a:xfrm>
              <a:off x="2180527" y="1833525"/>
              <a:ext cx="1223670" cy="664500"/>
            </a:xfrm>
            <a:prstGeom prst="wedgeRoundRectCallout">
              <a:avLst>
                <a:gd fmla="val -20833" name="adj1"/>
                <a:gd fmla="val 74994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Click on the Formulas Tab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251" name="Google Shape;1251;p46"/>
            <p:cNvSpPr/>
            <p:nvPr/>
          </p:nvSpPr>
          <p:spPr>
            <a:xfrm>
              <a:off x="922976" y="3777850"/>
              <a:ext cx="4741351" cy="664500"/>
            </a:xfrm>
            <a:prstGeom prst="wedgeRoundRectCallout">
              <a:avLst>
                <a:gd fmla="val 4725" name="adj1"/>
                <a:gd fmla="val -107299" name="adj2"/>
                <a:gd fmla="val 0" name="adj3"/>
              </a:avLst>
            </a:prstGeom>
            <a:solidFill>
              <a:srgbClr val="EFF3F7"/>
            </a:solidFill>
            <a:ln cap="flat" cmpd="sng" w="9525">
              <a:solidFill>
                <a:srgbClr val="0956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9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This is the Functions Library, which contains a variety of functions to perform various calculations and tasks in Excel</a:t>
              </a:r>
              <a:endParaRPr b="1" sz="1400">
                <a:solidFill>
                  <a:srgbClr val="09569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47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7" name="Google Shape;1257;p47"/>
          <p:cNvGrpSpPr/>
          <p:nvPr/>
        </p:nvGrpSpPr>
        <p:grpSpPr>
          <a:xfrm>
            <a:off x="1807158" y="-13645"/>
            <a:ext cx="8577686" cy="896514"/>
            <a:chOff x="1807158" y="-13645"/>
            <a:chExt cx="8577686" cy="896514"/>
          </a:xfrm>
        </p:grpSpPr>
        <p:sp>
          <p:nvSpPr>
            <p:cNvPr id="1258" name="Google Shape;1258;p47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47"/>
            <p:cNvSpPr txBox="1"/>
            <p:nvPr/>
          </p:nvSpPr>
          <p:spPr>
            <a:xfrm>
              <a:off x="2362201" y="-13645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Sum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Function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260" name="Google Shape;1260;p47"/>
          <p:cNvGrpSpPr/>
          <p:nvPr/>
        </p:nvGrpSpPr>
        <p:grpSpPr>
          <a:xfrm>
            <a:off x="960958" y="1824787"/>
            <a:ext cx="5599170" cy="3741827"/>
            <a:chOff x="877830" y="1798475"/>
            <a:chExt cx="5599170" cy="3741827"/>
          </a:xfrm>
        </p:grpSpPr>
        <p:grpSp>
          <p:nvGrpSpPr>
            <p:cNvPr id="1261" name="Google Shape;1261;p47"/>
            <p:cNvGrpSpPr/>
            <p:nvPr/>
          </p:nvGrpSpPr>
          <p:grpSpPr>
            <a:xfrm>
              <a:off x="877830" y="1798475"/>
              <a:ext cx="5599170" cy="1017468"/>
              <a:chOff x="899134" y="1957129"/>
              <a:chExt cx="5599170" cy="1017468"/>
            </a:xfrm>
          </p:grpSpPr>
          <p:grpSp>
            <p:nvGrpSpPr>
              <p:cNvPr id="1262" name="Google Shape;1262;p47"/>
              <p:cNvGrpSpPr/>
              <p:nvPr/>
            </p:nvGrpSpPr>
            <p:grpSpPr>
              <a:xfrm>
                <a:off x="1145608" y="1957129"/>
                <a:ext cx="5352696" cy="1017468"/>
                <a:chOff x="1070118" y="1731577"/>
                <a:chExt cx="5352696" cy="1017468"/>
              </a:xfrm>
            </p:grpSpPr>
            <p:sp>
              <p:nvSpPr>
                <p:cNvPr id="1263" name="Google Shape;1263;p47"/>
                <p:cNvSpPr/>
                <p:nvPr/>
              </p:nvSpPr>
              <p:spPr>
                <a:xfrm>
                  <a:off x="1070118" y="1731577"/>
                  <a:ext cx="5352696" cy="1017468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4" name="Google Shape;1264;p47"/>
                <p:cNvSpPr txBox="1"/>
                <p:nvPr/>
              </p:nvSpPr>
              <p:spPr>
                <a:xfrm>
                  <a:off x="1216330" y="1886368"/>
                  <a:ext cx="4831914" cy="7078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Purpose: 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Adds numerical values </a:t>
                  </a:r>
                  <a:b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</a:b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in selected cells.</a:t>
                  </a:r>
                  <a:endParaRPr/>
                </a:p>
              </p:txBody>
            </p:sp>
          </p:grpSp>
          <p:grpSp>
            <p:nvGrpSpPr>
              <p:cNvPr id="1265" name="Google Shape;1265;p47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266" name="Google Shape;1266;p47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7" name="Google Shape;1267;p4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268" name="Google Shape;1268;p47"/>
            <p:cNvGrpSpPr/>
            <p:nvPr/>
          </p:nvGrpSpPr>
          <p:grpSpPr>
            <a:xfrm>
              <a:off x="877830" y="3024582"/>
              <a:ext cx="5599170" cy="1017468"/>
              <a:chOff x="899134" y="1957129"/>
              <a:chExt cx="5599170" cy="1017468"/>
            </a:xfrm>
          </p:grpSpPr>
          <p:grpSp>
            <p:nvGrpSpPr>
              <p:cNvPr id="1269" name="Google Shape;1269;p47"/>
              <p:cNvGrpSpPr/>
              <p:nvPr/>
            </p:nvGrpSpPr>
            <p:grpSpPr>
              <a:xfrm>
                <a:off x="1145608" y="1957129"/>
                <a:ext cx="5352696" cy="1017468"/>
                <a:chOff x="1070118" y="1731577"/>
                <a:chExt cx="5352696" cy="1017468"/>
              </a:xfrm>
            </p:grpSpPr>
            <p:sp>
              <p:nvSpPr>
                <p:cNvPr id="1270" name="Google Shape;1270;p47"/>
                <p:cNvSpPr/>
                <p:nvPr/>
              </p:nvSpPr>
              <p:spPr>
                <a:xfrm>
                  <a:off x="1070118" y="1731577"/>
                  <a:ext cx="5352696" cy="1017468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1" name="Google Shape;1271;p47"/>
                <p:cNvSpPr txBox="1"/>
                <p:nvPr/>
              </p:nvSpPr>
              <p:spPr>
                <a:xfrm>
                  <a:off x="1216330" y="2040256"/>
                  <a:ext cx="4487568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Syntax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: = </a:t>
                  </a:r>
                  <a:r>
                    <a:rPr lang="en-US" sz="2000">
                      <a:solidFill>
                        <a:srgbClr val="C00000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Sum(range)</a:t>
                  </a:r>
                  <a:endParaRPr sz="2000">
                    <a:solidFill>
                      <a:srgbClr val="C0000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grpSp>
            <p:nvGrpSpPr>
              <p:cNvPr id="1272" name="Google Shape;1272;p47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273" name="Google Shape;1273;p47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4" name="Google Shape;1274;p4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275" name="Google Shape;1275;p47"/>
            <p:cNvGrpSpPr/>
            <p:nvPr/>
          </p:nvGrpSpPr>
          <p:grpSpPr>
            <a:xfrm>
              <a:off x="877830" y="4250688"/>
              <a:ext cx="5599170" cy="1289614"/>
              <a:chOff x="877830" y="4277810"/>
              <a:chExt cx="5599170" cy="1289614"/>
            </a:xfrm>
          </p:grpSpPr>
          <p:grpSp>
            <p:nvGrpSpPr>
              <p:cNvPr id="1276" name="Google Shape;1276;p47"/>
              <p:cNvGrpSpPr/>
              <p:nvPr/>
            </p:nvGrpSpPr>
            <p:grpSpPr>
              <a:xfrm>
                <a:off x="1124304" y="4277810"/>
                <a:ext cx="5352696" cy="1289614"/>
                <a:chOff x="1070118" y="1699677"/>
                <a:chExt cx="5352696" cy="1289614"/>
              </a:xfrm>
            </p:grpSpPr>
            <p:sp>
              <p:nvSpPr>
                <p:cNvPr id="1277" name="Google Shape;1277;p47"/>
                <p:cNvSpPr/>
                <p:nvPr/>
              </p:nvSpPr>
              <p:spPr>
                <a:xfrm>
                  <a:off x="1070118" y="1699677"/>
                  <a:ext cx="5352696" cy="1289614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8" name="Google Shape;1278;p47"/>
                <p:cNvSpPr txBox="1"/>
                <p:nvPr/>
              </p:nvSpPr>
              <p:spPr>
                <a:xfrm>
                  <a:off x="1216330" y="1836653"/>
                  <a:ext cx="4723884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Example:</a:t>
                  </a:r>
                  <a:b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</a:b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Scenario: Calculating the total sales of a week</a:t>
                  </a:r>
                  <a:endParaRPr/>
                </a:p>
              </p:txBody>
            </p:sp>
          </p:grpSp>
          <p:grpSp>
            <p:nvGrpSpPr>
              <p:cNvPr id="1279" name="Google Shape;1279;p47"/>
              <p:cNvGrpSpPr/>
              <p:nvPr/>
            </p:nvGrpSpPr>
            <p:grpSpPr>
              <a:xfrm>
                <a:off x="877830" y="4731689"/>
                <a:ext cx="370342" cy="381856"/>
                <a:chOff x="897675" y="1686797"/>
                <a:chExt cx="542600" cy="606903"/>
              </a:xfrm>
            </p:grpSpPr>
            <p:sp>
              <p:nvSpPr>
                <p:cNvPr id="1280" name="Google Shape;1280;p47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1" name="Google Shape;1281;p4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</p:grpSp>
      </p:grpSp>
      <p:sp>
        <p:nvSpPr>
          <p:cNvPr id="1282" name="Google Shape;1282;p47"/>
          <p:cNvSpPr/>
          <p:nvPr/>
        </p:nvSpPr>
        <p:spPr>
          <a:xfrm>
            <a:off x="6807678" y="1802245"/>
            <a:ext cx="4317522" cy="3786910"/>
          </a:xfrm>
          <a:prstGeom prst="roundRect">
            <a:avLst>
              <a:gd fmla="val 8999" name="adj"/>
            </a:avLst>
          </a:prstGeom>
          <a:solidFill>
            <a:srgbClr val="025698">
              <a:alpha val="5098"/>
            </a:srgbClr>
          </a:solidFill>
          <a:ln cap="flat" cmpd="sng" w="9525">
            <a:solidFill>
              <a:srgbClr val="007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3" name="Google Shape;1283;p47"/>
          <p:cNvGraphicFramePr/>
          <p:nvPr/>
        </p:nvGraphicFramePr>
        <p:xfrm>
          <a:off x="6813789" y="1829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{5209E166-228F-4204-9806-82BCB6DFEF5D}</a:tableStyleId>
              </a:tblPr>
              <a:tblGrid>
                <a:gridCol w="2152650"/>
                <a:gridCol w="2152650"/>
              </a:tblGrid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Sales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200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Tuesday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250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Wednesday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300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Total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=SUM(C3:C5)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48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9" name="Google Shape;1289;p48"/>
          <p:cNvGrpSpPr/>
          <p:nvPr/>
        </p:nvGrpSpPr>
        <p:grpSpPr>
          <a:xfrm>
            <a:off x="1807158" y="-13644"/>
            <a:ext cx="8577686" cy="896513"/>
            <a:chOff x="1807158" y="-13644"/>
            <a:chExt cx="8577686" cy="896513"/>
          </a:xfrm>
        </p:grpSpPr>
        <p:sp>
          <p:nvSpPr>
            <p:cNvPr id="1290" name="Google Shape;1290;p48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48"/>
            <p:cNvSpPr txBox="1"/>
            <p:nvPr/>
          </p:nvSpPr>
          <p:spPr>
            <a:xfrm>
              <a:off x="2362201" y="-13644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SUM Related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Functions</a:t>
              </a:r>
              <a:endParaRPr/>
            </a:p>
          </p:txBody>
        </p:sp>
      </p:grpSp>
      <p:grpSp>
        <p:nvGrpSpPr>
          <p:cNvPr id="1292" name="Google Shape;1292;p48"/>
          <p:cNvGrpSpPr/>
          <p:nvPr/>
        </p:nvGrpSpPr>
        <p:grpSpPr>
          <a:xfrm>
            <a:off x="888780" y="1909225"/>
            <a:ext cx="10226066" cy="3572950"/>
            <a:chOff x="982967" y="1909225"/>
            <a:chExt cx="10226066" cy="3572950"/>
          </a:xfrm>
        </p:grpSpPr>
        <p:grpSp>
          <p:nvGrpSpPr>
            <p:cNvPr id="1293" name="Google Shape;1293;p48"/>
            <p:cNvGrpSpPr/>
            <p:nvPr/>
          </p:nvGrpSpPr>
          <p:grpSpPr>
            <a:xfrm>
              <a:off x="982967" y="1909225"/>
              <a:ext cx="10226066" cy="1638642"/>
              <a:chOff x="899134" y="1646542"/>
              <a:chExt cx="10226066" cy="1638642"/>
            </a:xfrm>
          </p:grpSpPr>
          <p:grpSp>
            <p:nvGrpSpPr>
              <p:cNvPr id="1294" name="Google Shape;1294;p48"/>
              <p:cNvGrpSpPr/>
              <p:nvPr/>
            </p:nvGrpSpPr>
            <p:grpSpPr>
              <a:xfrm>
                <a:off x="1145608" y="1646542"/>
                <a:ext cx="9979592" cy="1638642"/>
                <a:chOff x="1070118" y="1420990"/>
                <a:chExt cx="9979592" cy="1638642"/>
              </a:xfrm>
            </p:grpSpPr>
            <p:sp>
              <p:nvSpPr>
                <p:cNvPr id="1295" name="Google Shape;1295;p48"/>
                <p:cNvSpPr/>
                <p:nvPr/>
              </p:nvSpPr>
              <p:spPr>
                <a:xfrm>
                  <a:off x="1070118" y="1420990"/>
                  <a:ext cx="9979592" cy="1638642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6" name="Google Shape;1296;p48"/>
                <p:cNvSpPr txBox="1"/>
                <p:nvPr/>
              </p:nvSpPr>
              <p:spPr>
                <a:xfrm>
                  <a:off x="1554245" y="1624111"/>
                  <a:ext cx="9073701" cy="4288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SUMIF: 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Adds numbers that meet a specific condition.</a:t>
                  </a:r>
                  <a:endParaRPr sz="1800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1297" name="Google Shape;1297;p48"/>
                <p:cNvSpPr txBox="1"/>
                <p:nvPr/>
              </p:nvSpPr>
              <p:spPr>
                <a:xfrm>
                  <a:off x="1554245" y="2206558"/>
                  <a:ext cx="9073701" cy="6771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342900" lvl="1" marL="34290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b="0" i="0" lang="en-US" sz="2000" u="none" cap="none" strike="noStrike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Example: = </a:t>
                  </a:r>
                  <a:r>
                    <a:rPr b="0" i="0" lang="en-US" sz="2000" u="none" cap="none" strike="noStrike">
                      <a:solidFill>
                        <a:srgbClr val="8A0000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SUMIF(A1:A5, "&gt;10")</a:t>
                  </a:r>
                  <a:r>
                    <a:rPr b="0" i="0" lang="en-US" sz="18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 → Adds only numbers greater than 10 in A1 to A5.</a:t>
                  </a:r>
                  <a:endParaRPr/>
                </a:p>
              </p:txBody>
            </p:sp>
          </p:grpSp>
          <p:grpSp>
            <p:nvGrpSpPr>
              <p:cNvPr id="1298" name="Google Shape;1298;p48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299" name="Google Shape;1299;p48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0" name="Google Shape;1300;p48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301" name="Google Shape;1301;p48"/>
            <p:cNvGrpSpPr/>
            <p:nvPr/>
          </p:nvGrpSpPr>
          <p:grpSpPr>
            <a:xfrm>
              <a:off x="982967" y="3843533"/>
              <a:ext cx="10226066" cy="1638642"/>
              <a:chOff x="899134" y="1646542"/>
              <a:chExt cx="10226066" cy="1638642"/>
            </a:xfrm>
          </p:grpSpPr>
          <p:grpSp>
            <p:nvGrpSpPr>
              <p:cNvPr id="1302" name="Google Shape;1302;p48"/>
              <p:cNvGrpSpPr/>
              <p:nvPr/>
            </p:nvGrpSpPr>
            <p:grpSpPr>
              <a:xfrm>
                <a:off x="1145608" y="1646542"/>
                <a:ext cx="9979592" cy="1638642"/>
                <a:chOff x="1070118" y="1420990"/>
                <a:chExt cx="9979592" cy="1638642"/>
              </a:xfrm>
            </p:grpSpPr>
            <p:sp>
              <p:nvSpPr>
                <p:cNvPr id="1303" name="Google Shape;1303;p48"/>
                <p:cNvSpPr/>
                <p:nvPr/>
              </p:nvSpPr>
              <p:spPr>
                <a:xfrm>
                  <a:off x="1070118" y="1420990"/>
                  <a:ext cx="9979592" cy="1638642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4" name="Google Shape;1304;p48"/>
                <p:cNvSpPr txBox="1"/>
                <p:nvPr/>
              </p:nvSpPr>
              <p:spPr>
                <a:xfrm>
                  <a:off x="1554245" y="1595423"/>
                  <a:ext cx="9073701" cy="7078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SUMPRODUCT: 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Multiplies corresponding elements in arrays and sums the results.</a:t>
                  </a:r>
                  <a:endParaRPr/>
                </a:p>
              </p:txBody>
            </p:sp>
            <p:sp>
              <p:nvSpPr>
                <p:cNvPr id="1305" name="Google Shape;1305;p48"/>
                <p:cNvSpPr txBox="1"/>
                <p:nvPr/>
              </p:nvSpPr>
              <p:spPr>
                <a:xfrm>
                  <a:off x="1554245" y="2328939"/>
                  <a:ext cx="9073701" cy="6771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-342900" lvl="1" marL="34290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Char char="•"/>
                  </a:pPr>
                  <a:r>
                    <a:rPr b="0" i="0" lang="en-US" sz="2000" u="none" cap="none" strike="noStrike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Example: =</a:t>
                  </a:r>
                  <a:r>
                    <a:rPr b="0" i="0" lang="en-US" sz="2000" u="none" cap="none" strike="noStrike">
                      <a:solidFill>
                        <a:srgbClr val="8A0000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 SUMPRODUCT(A1:A5, B1:B5) </a:t>
                  </a:r>
                  <a:r>
                    <a:rPr b="0" i="0" lang="en-US" sz="2000" u="none" cap="none" strike="noStrike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→ </a:t>
                  </a:r>
                  <a:r>
                    <a:rPr b="0" i="0" lang="en-US" sz="1800" u="none" cap="none" strike="noStrike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Multiplies values in A1 to A5 by B1 to B5 and adds the results</a:t>
                  </a:r>
                  <a:endParaRPr b="0" i="0" sz="1800" u="none" cap="none" strike="noStrike">
                    <a:solidFill>
                      <a:srgbClr val="59595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grpSp>
            <p:nvGrpSpPr>
              <p:cNvPr id="1306" name="Google Shape;1306;p48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307" name="Google Shape;1307;p48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8" name="Google Shape;1308;p48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49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4" name="Google Shape;1314;p49"/>
          <p:cNvGrpSpPr/>
          <p:nvPr/>
        </p:nvGrpSpPr>
        <p:grpSpPr>
          <a:xfrm>
            <a:off x="1807158" y="-13644"/>
            <a:ext cx="8577686" cy="896513"/>
            <a:chOff x="1807158" y="-13644"/>
            <a:chExt cx="8577686" cy="896513"/>
          </a:xfrm>
        </p:grpSpPr>
        <p:sp>
          <p:nvSpPr>
            <p:cNvPr id="1315" name="Google Shape;1315;p49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49"/>
            <p:cNvSpPr txBox="1"/>
            <p:nvPr/>
          </p:nvSpPr>
          <p:spPr>
            <a:xfrm>
              <a:off x="2362201" y="-13644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AVERAGE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Function</a:t>
              </a:r>
              <a:endParaRPr/>
            </a:p>
          </p:txBody>
        </p:sp>
      </p:grpSp>
      <p:grpSp>
        <p:nvGrpSpPr>
          <p:cNvPr id="1317" name="Google Shape;1317;p49"/>
          <p:cNvGrpSpPr/>
          <p:nvPr/>
        </p:nvGrpSpPr>
        <p:grpSpPr>
          <a:xfrm>
            <a:off x="960958" y="1824787"/>
            <a:ext cx="5599170" cy="3741827"/>
            <a:chOff x="877830" y="1798475"/>
            <a:chExt cx="5599170" cy="3741827"/>
          </a:xfrm>
        </p:grpSpPr>
        <p:grpSp>
          <p:nvGrpSpPr>
            <p:cNvPr id="1318" name="Google Shape;1318;p49"/>
            <p:cNvGrpSpPr/>
            <p:nvPr/>
          </p:nvGrpSpPr>
          <p:grpSpPr>
            <a:xfrm>
              <a:off x="877830" y="1798475"/>
              <a:ext cx="5599170" cy="1017468"/>
              <a:chOff x="899134" y="1957129"/>
              <a:chExt cx="5599170" cy="1017468"/>
            </a:xfrm>
          </p:grpSpPr>
          <p:grpSp>
            <p:nvGrpSpPr>
              <p:cNvPr id="1319" name="Google Shape;1319;p49"/>
              <p:cNvGrpSpPr/>
              <p:nvPr/>
            </p:nvGrpSpPr>
            <p:grpSpPr>
              <a:xfrm>
                <a:off x="1145608" y="1957129"/>
                <a:ext cx="5352696" cy="1017468"/>
                <a:chOff x="1070118" y="1731577"/>
                <a:chExt cx="5352696" cy="1017468"/>
              </a:xfrm>
            </p:grpSpPr>
            <p:sp>
              <p:nvSpPr>
                <p:cNvPr id="1320" name="Google Shape;1320;p49"/>
                <p:cNvSpPr/>
                <p:nvPr/>
              </p:nvSpPr>
              <p:spPr>
                <a:xfrm>
                  <a:off x="1070118" y="1731577"/>
                  <a:ext cx="5352696" cy="1017468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1" name="Google Shape;1321;p49"/>
                <p:cNvSpPr txBox="1"/>
                <p:nvPr/>
              </p:nvSpPr>
              <p:spPr>
                <a:xfrm>
                  <a:off x="1216330" y="1886368"/>
                  <a:ext cx="4831914" cy="7078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Purpose: 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Calculates the mean of numbers in selected cells.</a:t>
                  </a:r>
                  <a:endParaRPr/>
                </a:p>
              </p:txBody>
            </p:sp>
          </p:grpSp>
          <p:grpSp>
            <p:nvGrpSpPr>
              <p:cNvPr id="1322" name="Google Shape;1322;p49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323" name="Google Shape;1323;p49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4" name="Google Shape;1324;p49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325" name="Google Shape;1325;p49"/>
            <p:cNvGrpSpPr/>
            <p:nvPr/>
          </p:nvGrpSpPr>
          <p:grpSpPr>
            <a:xfrm>
              <a:off x="877830" y="3024582"/>
              <a:ext cx="5599170" cy="1017468"/>
              <a:chOff x="899134" y="1957129"/>
              <a:chExt cx="5599170" cy="1017468"/>
            </a:xfrm>
          </p:grpSpPr>
          <p:grpSp>
            <p:nvGrpSpPr>
              <p:cNvPr id="1326" name="Google Shape;1326;p49"/>
              <p:cNvGrpSpPr/>
              <p:nvPr/>
            </p:nvGrpSpPr>
            <p:grpSpPr>
              <a:xfrm>
                <a:off x="1145608" y="1957129"/>
                <a:ext cx="5352696" cy="1017468"/>
                <a:chOff x="1070118" y="1731577"/>
                <a:chExt cx="5352696" cy="1017468"/>
              </a:xfrm>
            </p:grpSpPr>
            <p:sp>
              <p:nvSpPr>
                <p:cNvPr id="1327" name="Google Shape;1327;p49"/>
                <p:cNvSpPr/>
                <p:nvPr/>
              </p:nvSpPr>
              <p:spPr>
                <a:xfrm>
                  <a:off x="1070118" y="1731577"/>
                  <a:ext cx="5352696" cy="1017468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8" name="Google Shape;1328;p49"/>
                <p:cNvSpPr txBox="1"/>
                <p:nvPr/>
              </p:nvSpPr>
              <p:spPr>
                <a:xfrm>
                  <a:off x="1216330" y="2040256"/>
                  <a:ext cx="4487568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Syntax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: = </a:t>
                  </a:r>
                  <a:r>
                    <a:rPr lang="en-US" sz="2000">
                      <a:solidFill>
                        <a:srgbClr val="C00000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AVERAGE (range)</a:t>
                  </a:r>
                  <a:endParaRPr sz="2000">
                    <a:solidFill>
                      <a:srgbClr val="C0000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grpSp>
            <p:nvGrpSpPr>
              <p:cNvPr id="1329" name="Google Shape;1329;p49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330" name="Google Shape;1330;p49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1" name="Google Shape;1331;p49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332" name="Google Shape;1332;p49"/>
            <p:cNvGrpSpPr/>
            <p:nvPr/>
          </p:nvGrpSpPr>
          <p:grpSpPr>
            <a:xfrm>
              <a:off x="877830" y="4250688"/>
              <a:ext cx="5599170" cy="1289614"/>
              <a:chOff x="877830" y="4277810"/>
              <a:chExt cx="5599170" cy="1289614"/>
            </a:xfrm>
          </p:grpSpPr>
          <p:grpSp>
            <p:nvGrpSpPr>
              <p:cNvPr id="1333" name="Google Shape;1333;p49"/>
              <p:cNvGrpSpPr/>
              <p:nvPr/>
            </p:nvGrpSpPr>
            <p:grpSpPr>
              <a:xfrm>
                <a:off x="1124304" y="4277810"/>
                <a:ext cx="5352696" cy="1289614"/>
                <a:chOff x="1070118" y="1699677"/>
                <a:chExt cx="5352696" cy="1289614"/>
              </a:xfrm>
            </p:grpSpPr>
            <p:sp>
              <p:nvSpPr>
                <p:cNvPr id="1334" name="Google Shape;1334;p49"/>
                <p:cNvSpPr/>
                <p:nvPr/>
              </p:nvSpPr>
              <p:spPr>
                <a:xfrm>
                  <a:off x="1070118" y="1699677"/>
                  <a:ext cx="5352696" cy="1289614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5" name="Google Shape;1335;p49"/>
                <p:cNvSpPr txBox="1"/>
                <p:nvPr/>
              </p:nvSpPr>
              <p:spPr>
                <a:xfrm>
                  <a:off x="1216330" y="1836653"/>
                  <a:ext cx="4723884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Example:</a:t>
                  </a:r>
                  <a:b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</a:br>
                  <a: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Scenario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: Finding the average score of students.</a:t>
                  </a:r>
                  <a:endParaRPr/>
                </a:p>
              </p:txBody>
            </p:sp>
          </p:grpSp>
          <p:grpSp>
            <p:nvGrpSpPr>
              <p:cNvPr id="1336" name="Google Shape;1336;p49"/>
              <p:cNvGrpSpPr/>
              <p:nvPr/>
            </p:nvGrpSpPr>
            <p:grpSpPr>
              <a:xfrm>
                <a:off x="877830" y="4731689"/>
                <a:ext cx="370342" cy="381856"/>
                <a:chOff x="897675" y="1686797"/>
                <a:chExt cx="542600" cy="606903"/>
              </a:xfrm>
            </p:grpSpPr>
            <p:sp>
              <p:nvSpPr>
                <p:cNvPr id="1337" name="Google Shape;1337;p49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8" name="Google Shape;1338;p49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</p:grpSp>
      </p:grpSp>
      <p:sp>
        <p:nvSpPr>
          <p:cNvPr id="1339" name="Google Shape;1339;p49"/>
          <p:cNvSpPr/>
          <p:nvPr/>
        </p:nvSpPr>
        <p:spPr>
          <a:xfrm>
            <a:off x="6825404" y="1802245"/>
            <a:ext cx="4317522" cy="3786910"/>
          </a:xfrm>
          <a:prstGeom prst="roundRect">
            <a:avLst>
              <a:gd fmla="val 8999" name="adj"/>
            </a:avLst>
          </a:prstGeom>
          <a:solidFill>
            <a:srgbClr val="025698">
              <a:alpha val="5098"/>
            </a:srgbClr>
          </a:solidFill>
          <a:ln cap="flat" cmpd="sng" w="9525">
            <a:solidFill>
              <a:srgbClr val="007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0" name="Google Shape;1340;p49"/>
          <p:cNvGraphicFramePr/>
          <p:nvPr/>
        </p:nvGraphicFramePr>
        <p:xfrm>
          <a:off x="6831515" y="1843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{5209E166-228F-4204-9806-82BCB6DFEF5D}</a:tableStyleId>
              </a:tblPr>
              <a:tblGrid>
                <a:gridCol w="1813725"/>
                <a:gridCol w="2491575"/>
              </a:tblGrid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Student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Score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Robin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Sachin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92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Virat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78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Average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=AVERAGE(C3:C5)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5" name="Google Shape;1345;p50"/>
          <p:cNvGrpSpPr/>
          <p:nvPr/>
        </p:nvGrpSpPr>
        <p:grpSpPr>
          <a:xfrm>
            <a:off x="1807158" y="-13643"/>
            <a:ext cx="8577686" cy="896512"/>
            <a:chOff x="1807158" y="-13643"/>
            <a:chExt cx="8577686" cy="896512"/>
          </a:xfrm>
        </p:grpSpPr>
        <p:sp>
          <p:nvSpPr>
            <p:cNvPr id="1346" name="Google Shape;1346;p50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50"/>
            <p:cNvSpPr txBox="1"/>
            <p:nvPr/>
          </p:nvSpPr>
          <p:spPr>
            <a:xfrm>
              <a:off x="2362201" y="-13643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AVERAGE Related 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Functions</a:t>
              </a:r>
              <a:endParaRPr/>
            </a:p>
          </p:txBody>
        </p:sp>
      </p:grpSp>
      <p:grpSp>
        <p:nvGrpSpPr>
          <p:cNvPr id="1348" name="Google Shape;1348;p50"/>
          <p:cNvGrpSpPr/>
          <p:nvPr/>
        </p:nvGrpSpPr>
        <p:grpSpPr>
          <a:xfrm>
            <a:off x="776748" y="1524000"/>
            <a:ext cx="10638504" cy="4343400"/>
            <a:chOff x="776748" y="1524000"/>
            <a:chExt cx="10638504" cy="4343400"/>
          </a:xfrm>
        </p:grpSpPr>
        <p:sp>
          <p:nvSpPr>
            <p:cNvPr id="1349" name="Google Shape;1349;p50"/>
            <p:cNvSpPr/>
            <p:nvPr/>
          </p:nvSpPr>
          <p:spPr>
            <a:xfrm>
              <a:off x="776748" y="1524000"/>
              <a:ext cx="10638504" cy="4343400"/>
            </a:xfrm>
            <a:prstGeom prst="roundRect">
              <a:avLst>
                <a:gd fmla="val 1024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08000" rotWithShape="0" algn="l" dist="38100">
                <a:srgbClr val="000000">
                  <a:alpha val="1098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0" name="Google Shape;1350;p50"/>
            <p:cNvGrpSpPr/>
            <p:nvPr/>
          </p:nvGrpSpPr>
          <p:grpSpPr>
            <a:xfrm>
              <a:off x="982967" y="1694697"/>
              <a:ext cx="10226066" cy="4002007"/>
              <a:chOff x="888780" y="1626494"/>
              <a:chExt cx="10226066" cy="4002007"/>
            </a:xfrm>
          </p:grpSpPr>
          <p:grpSp>
            <p:nvGrpSpPr>
              <p:cNvPr id="1351" name="Google Shape;1351;p50"/>
              <p:cNvGrpSpPr/>
              <p:nvPr/>
            </p:nvGrpSpPr>
            <p:grpSpPr>
              <a:xfrm>
                <a:off x="888780" y="1626494"/>
                <a:ext cx="10226066" cy="1802506"/>
                <a:chOff x="899134" y="1564610"/>
                <a:chExt cx="10226066" cy="1802506"/>
              </a:xfrm>
            </p:grpSpPr>
            <p:grpSp>
              <p:nvGrpSpPr>
                <p:cNvPr id="1352" name="Google Shape;1352;p50"/>
                <p:cNvGrpSpPr/>
                <p:nvPr/>
              </p:nvGrpSpPr>
              <p:grpSpPr>
                <a:xfrm>
                  <a:off x="1145608" y="1564610"/>
                  <a:ext cx="9979592" cy="1802506"/>
                  <a:chOff x="1070118" y="1339058"/>
                  <a:chExt cx="9979592" cy="1802506"/>
                </a:xfrm>
              </p:grpSpPr>
              <p:sp>
                <p:nvSpPr>
                  <p:cNvPr id="1353" name="Google Shape;1353;p50"/>
                  <p:cNvSpPr/>
                  <p:nvPr/>
                </p:nvSpPr>
                <p:spPr>
                  <a:xfrm>
                    <a:off x="1070118" y="1339058"/>
                    <a:ext cx="9979592" cy="1802506"/>
                  </a:xfrm>
                  <a:prstGeom prst="roundRect">
                    <a:avLst>
                      <a:gd fmla="val 13022" name="adj"/>
                    </a:avLst>
                  </a:prstGeom>
                  <a:solidFill>
                    <a:srgbClr val="025698">
                      <a:alpha val="5098"/>
                    </a:srgbClr>
                  </a:solidFill>
                  <a:ln cap="flat" cmpd="sng" w="9525">
                    <a:solidFill>
                      <a:srgbClr val="0070C0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0" rotWithShape="0" algn="l" dist="38100">
                      <a:srgbClr val="000000">
                        <a:alpha val="1098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i="1"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4" name="Google Shape;1354;p50"/>
                  <p:cNvSpPr txBox="1"/>
                  <p:nvPr/>
                </p:nvSpPr>
                <p:spPr>
                  <a:xfrm>
                    <a:off x="1554245" y="1622989"/>
                    <a:ext cx="9073701" cy="4310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AVERAGEIF: </a:t>
                    </a:r>
                    <a:r>
                      <a:rPr lang="en-US" sz="18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Averages numbers that meet a specific condition.</a:t>
                    </a:r>
                    <a:endParaRPr/>
                  </a:p>
                </p:txBody>
              </p:sp>
              <p:sp>
                <p:nvSpPr>
                  <p:cNvPr id="1355" name="Google Shape;1355;p50"/>
                  <p:cNvSpPr txBox="1"/>
                  <p:nvPr/>
                </p:nvSpPr>
                <p:spPr>
                  <a:xfrm>
                    <a:off x="1554245" y="2372981"/>
                    <a:ext cx="9422692" cy="34426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1" marL="0" marR="0" rtl="0" algn="l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000" u="none" cap="none" strike="noStrike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Example: =</a:t>
                    </a:r>
                    <a:r>
                      <a:rPr b="0" i="0" lang="en-US" sz="2000" u="none" cap="none" strike="noStrike">
                        <a:solidFill>
                          <a:srgbClr val="8A0000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AVERAGEIF(A1:A5, "&gt;10") </a:t>
                    </a:r>
                    <a:r>
                      <a:rPr b="0" i="0" lang="en-US" sz="2000" u="none" cap="none" strike="noStrike">
                        <a:solidFill>
                          <a:srgbClr val="02569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→ </a:t>
                    </a:r>
                    <a:r>
                      <a:rPr b="0" i="0" lang="en-US" sz="18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Averages values greater than 10.</a:t>
                    </a:r>
                    <a:endParaRPr/>
                  </a:p>
                </p:txBody>
              </p:sp>
            </p:grpSp>
            <p:grpSp>
              <p:nvGrpSpPr>
                <p:cNvPr id="1356" name="Google Shape;1356;p50"/>
                <p:cNvGrpSpPr/>
                <p:nvPr/>
              </p:nvGrpSpPr>
              <p:grpSpPr>
                <a:xfrm>
                  <a:off x="899134" y="2274934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357" name="Google Shape;1357;p50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C4283"/>
                      </a:gs>
                      <a:gs pos="100000">
                        <a:srgbClr val="025698"/>
                      </a:gs>
                    </a:gsLst>
                    <a:lin ang="8100000" scaled="0"/>
                  </a:gradFill>
                  <a:ln cap="flat" cmpd="sng" w="9525">
                    <a:solidFill>
                      <a:srgbClr val="1F5C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8" name="Google Shape;1358;p50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1</a:t>
                    </a:r>
                    <a:endParaRPr/>
                  </a:p>
                </p:txBody>
              </p:sp>
            </p:grpSp>
          </p:grpSp>
          <p:grpSp>
            <p:nvGrpSpPr>
              <p:cNvPr id="1359" name="Google Shape;1359;p50"/>
              <p:cNvGrpSpPr/>
              <p:nvPr/>
            </p:nvGrpSpPr>
            <p:grpSpPr>
              <a:xfrm>
                <a:off x="888780" y="3825995"/>
                <a:ext cx="10226066" cy="1802506"/>
                <a:chOff x="899134" y="1564610"/>
                <a:chExt cx="10226066" cy="1802506"/>
              </a:xfrm>
            </p:grpSpPr>
            <p:grpSp>
              <p:nvGrpSpPr>
                <p:cNvPr id="1360" name="Google Shape;1360;p50"/>
                <p:cNvGrpSpPr/>
                <p:nvPr/>
              </p:nvGrpSpPr>
              <p:grpSpPr>
                <a:xfrm>
                  <a:off x="1145608" y="1564610"/>
                  <a:ext cx="9979592" cy="1802506"/>
                  <a:chOff x="1070118" y="1339058"/>
                  <a:chExt cx="9979592" cy="1802506"/>
                </a:xfrm>
              </p:grpSpPr>
              <p:sp>
                <p:nvSpPr>
                  <p:cNvPr id="1361" name="Google Shape;1361;p50"/>
                  <p:cNvSpPr/>
                  <p:nvPr/>
                </p:nvSpPr>
                <p:spPr>
                  <a:xfrm>
                    <a:off x="1070118" y="1339058"/>
                    <a:ext cx="9979592" cy="1802506"/>
                  </a:xfrm>
                  <a:prstGeom prst="roundRect">
                    <a:avLst>
                      <a:gd fmla="val 13022" name="adj"/>
                    </a:avLst>
                  </a:prstGeom>
                  <a:solidFill>
                    <a:srgbClr val="FFF9E5">
                      <a:alpha val="56078"/>
                    </a:srgbClr>
                  </a:solidFill>
                  <a:ln cap="flat" cmpd="sng" w="9525">
                    <a:solidFill>
                      <a:srgbClr val="8F7C0B">
                        <a:alpha val="40000"/>
                      </a:srgbClr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2" name="Google Shape;1362;p50"/>
                  <p:cNvSpPr txBox="1"/>
                  <p:nvPr/>
                </p:nvSpPr>
                <p:spPr>
                  <a:xfrm>
                    <a:off x="1554245" y="1733826"/>
                    <a:ext cx="9073701" cy="4310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AVERAGEIFS: </a:t>
                    </a:r>
                    <a:r>
                      <a:rPr lang="en-US" sz="1800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Averages numbers that meet multiple conditions.</a:t>
                    </a:r>
                    <a:endParaRPr/>
                  </a:p>
                </p:txBody>
              </p:sp>
              <p:sp>
                <p:nvSpPr>
                  <p:cNvPr id="1363" name="Google Shape;1363;p50"/>
                  <p:cNvSpPr txBox="1"/>
                  <p:nvPr/>
                </p:nvSpPr>
                <p:spPr>
                  <a:xfrm>
                    <a:off x="1554245" y="2328939"/>
                    <a:ext cx="9073701" cy="677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1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000" u="none" cap="none" strike="noStrike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Example: =</a:t>
                    </a:r>
                    <a:r>
                      <a:rPr b="0" i="0" lang="en-US" sz="2000" u="none" cap="none" strike="noStrike">
                        <a:solidFill>
                          <a:srgbClr val="8A0000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AVERAGEIFS(A1:A5, B1:B5, "&gt;5") </a:t>
                    </a:r>
                    <a:r>
                      <a:rPr b="0" i="0" lang="en-US" sz="2000" u="none" cap="none" strike="noStrike">
                        <a:solidFill>
                          <a:srgbClr val="6E5F0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→ </a:t>
                    </a:r>
                    <a:r>
                      <a:rPr b="0" i="0" lang="en-US" sz="1800" u="none" cap="none" strike="noStrike">
                        <a:solidFill>
                          <a:srgbClr val="595959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Averages numbers in A1 to A5 where corresponding values in B1 to B5 are &gt; 5.</a:t>
                    </a:r>
                    <a:endParaRPr/>
                  </a:p>
                </p:txBody>
              </p:sp>
            </p:grpSp>
            <p:grpSp>
              <p:nvGrpSpPr>
                <p:cNvPr id="1364" name="Google Shape;1364;p50"/>
                <p:cNvGrpSpPr/>
                <p:nvPr/>
              </p:nvGrpSpPr>
              <p:grpSpPr>
                <a:xfrm>
                  <a:off x="899134" y="2274934"/>
                  <a:ext cx="370342" cy="381856"/>
                  <a:chOff x="897675" y="1686797"/>
                  <a:chExt cx="542600" cy="606903"/>
                </a:xfrm>
              </p:grpSpPr>
              <p:sp>
                <p:nvSpPr>
                  <p:cNvPr id="1365" name="Google Shape;1365;p50"/>
                  <p:cNvSpPr/>
                  <p:nvPr/>
                </p:nvSpPr>
                <p:spPr>
                  <a:xfrm>
                    <a:off x="897675" y="1699312"/>
                    <a:ext cx="542600" cy="57085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1B90E"/>
                      </a:gs>
                      <a:gs pos="100000">
                        <a:srgbClr val="BBA50D"/>
                      </a:gs>
                    </a:gsLst>
                    <a:lin ang="8100000" scaled="0"/>
                  </a:gradFill>
                  <a:ln cap="flat" cmpd="sng" w="9525">
                    <a:solidFill>
                      <a:srgbClr val="FFC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12700" rotWithShape="0" algn="tl" dir="2700000" dist="38100">
                      <a:srgbClr val="000000">
                        <a:alpha val="18824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6" name="Google Shape;1366;p50"/>
                  <p:cNvSpPr txBox="1"/>
                  <p:nvPr/>
                </p:nvSpPr>
                <p:spPr>
                  <a:xfrm>
                    <a:off x="1054249" y="1686797"/>
                    <a:ext cx="240326" cy="6069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2700" rotWithShape="0" algn="t" dir="5400000" dist="127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a:t>2</a:t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51"/>
          <p:cNvSpPr/>
          <p:nvPr/>
        </p:nvSpPr>
        <p:spPr>
          <a:xfrm>
            <a:off x="776748" y="1524000"/>
            <a:ext cx="10638504" cy="43434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2" name="Google Shape;1372;p51"/>
          <p:cNvGrpSpPr/>
          <p:nvPr/>
        </p:nvGrpSpPr>
        <p:grpSpPr>
          <a:xfrm>
            <a:off x="1807158" y="-13644"/>
            <a:ext cx="8577686" cy="896513"/>
            <a:chOff x="1807158" y="-13644"/>
            <a:chExt cx="8577686" cy="896513"/>
          </a:xfrm>
        </p:grpSpPr>
        <p:sp>
          <p:nvSpPr>
            <p:cNvPr id="1373" name="Google Shape;1373;p51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1"/>
            <p:cNvSpPr txBox="1"/>
            <p:nvPr/>
          </p:nvSpPr>
          <p:spPr>
            <a:xfrm>
              <a:off x="2362201" y="-13644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COUNT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Function</a:t>
              </a:r>
              <a:endParaRPr/>
            </a:p>
          </p:txBody>
        </p:sp>
      </p:grpSp>
      <p:grpSp>
        <p:nvGrpSpPr>
          <p:cNvPr id="1375" name="Google Shape;1375;p51"/>
          <p:cNvGrpSpPr/>
          <p:nvPr/>
        </p:nvGrpSpPr>
        <p:grpSpPr>
          <a:xfrm>
            <a:off x="960958" y="1824787"/>
            <a:ext cx="5599170" cy="3741827"/>
            <a:chOff x="877830" y="1798475"/>
            <a:chExt cx="5599170" cy="3741827"/>
          </a:xfrm>
        </p:grpSpPr>
        <p:grpSp>
          <p:nvGrpSpPr>
            <p:cNvPr id="1376" name="Google Shape;1376;p51"/>
            <p:cNvGrpSpPr/>
            <p:nvPr/>
          </p:nvGrpSpPr>
          <p:grpSpPr>
            <a:xfrm>
              <a:off x="877830" y="1798475"/>
              <a:ext cx="5599170" cy="1017468"/>
              <a:chOff x="899134" y="1957129"/>
              <a:chExt cx="5599170" cy="1017468"/>
            </a:xfrm>
          </p:grpSpPr>
          <p:grpSp>
            <p:nvGrpSpPr>
              <p:cNvPr id="1377" name="Google Shape;1377;p51"/>
              <p:cNvGrpSpPr/>
              <p:nvPr/>
            </p:nvGrpSpPr>
            <p:grpSpPr>
              <a:xfrm>
                <a:off x="1145608" y="1957129"/>
                <a:ext cx="5352696" cy="1017468"/>
                <a:chOff x="1070118" y="1731577"/>
                <a:chExt cx="5352696" cy="1017468"/>
              </a:xfrm>
            </p:grpSpPr>
            <p:sp>
              <p:nvSpPr>
                <p:cNvPr id="1378" name="Google Shape;1378;p51"/>
                <p:cNvSpPr/>
                <p:nvPr/>
              </p:nvSpPr>
              <p:spPr>
                <a:xfrm>
                  <a:off x="1070118" y="1731577"/>
                  <a:ext cx="5352696" cy="1017468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9" name="Google Shape;1379;p51"/>
                <p:cNvSpPr txBox="1"/>
                <p:nvPr/>
              </p:nvSpPr>
              <p:spPr>
                <a:xfrm>
                  <a:off x="1216330" y="1848922"/>
                  <a:ext cx="4831914" cy="7827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Purpose: 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Counts the number of non-empty cells in a range.</a:t>
                  </a:r>
                  <a:endParaRPr/>
                </a:p>
              </p:txBody>
            </p:sp>
          </p:grpSp>
          <p:grpSp>
            <p:nvGrpSpPr>
              <p:cNvPr id="1380" name="Google Shape;1380;p51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381" name="Google Shape;1381;p51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2" name="Google Shape;1382;p51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383" name="Google Shape;1383;p51"/>
            <p:cNvGrpSpPr/>
            <p:nvPr/>
          </p:nvGrpSpPr>
          <p:grpSpPr>
            <a:xfrm>
              <a:off x="877830" y="3024582"/>
              <a:ext cx="5599170" cy="1017468"/>
              <a:chOff x="899134" y="1957129"/>
              <a:chExt cx="5599170" cy="1017468"/>
            </a:xfrm>
          </p:grpSpPr>
          <p:grpSp>
            <p:nvGrpSpPr>
              <p:cNvPr id="1384" name="Google Shape;1384;p51"/>
              <p:cNvGrpSpPr/>
              <p:nvPr/>
            </p:nvGrpSpPr>
            <p:grpSpPr>
              <a:xfrm>
                <a:off x="1145608" y="1957129"/>
                <a:ext cx="5352696" cy="1017468"/>
                <a:chOff x="1070118" y="1731577"/>
                <a:chExt cx="5352696" cy="1017468"/>
              </a:xfrm>
            </p:grpSpPr>
            <p:sp>
              <p:nvSpPr>
                <p:cNvPr id="1385" name="Google Shape;1385;p51"/>
                <p:cNvSpPr/>
                <p:nvPr/>
              </p:nvSpPr>
              <p:spPr>
                <a:xfrm>
                  <a:off x="1070118" y="1731577"/>
                  <a:ext cx="5352696" cy="1017468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6" name="Google Shape;1386;p51"/>
                <p:cNvSpPr txBox="1"/>
                <p:nvPr/>
              </p:nvSpPr>
              <p:spPr>
                <a:xfrm>
                  <a:off x="1216330" y="2040256"/>
                  <a:ext cx="4487568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Syntax</a:t>
                  </a: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: = </a:t>
                  </a:r>
                  <a:r>
                    <a:rPr lang="en-US" sz="2000">
                      <a:solidFill>
                        <a:srgbClr val="C00000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=COUNT(range)</a:t>
                  </a:r>
                  <a:endParaRPr/>
                </a:p>
              </p:txBody>
            </p:sp>
          </p:grpSp>
          <p:grpSp>
            <p:nvGrpSpPr>
              <p:cNvPr id="1387" name="Google Shape;1387;p51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388" name="Google Shape;1388;p51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9" name="Google Shape;1389;p51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390" name="Google Shape;1390;p51"/>
            <p:cNvGrpSpPr/>
            <p:nvPr/>
          </p:nvGrpSpPr>
          <p:grpSpPr>
            <a:xfrm>
              <a:off x="877830" y="4250688"/>
              <a:ext cx="5599170" cy="1289614"/>
              <a:chOff x="877830" y="4277810"/>
              <a:chExt cx="5599170" cy="1289614"/>
            </a:xfrm>
          </p:grpSpPr>
          <p:grpSp>
            <p:nvGrpSpPr>
              <p:cNvPr id="1391" name="Google Shape;1391;p51"/>
              <p:cNvGrpSpPr/>
              <p:nvPr/>
            </p:nvGrpSpPr>
            <p:grpSpPr>
              <a:xfrm>
                <a:off x="1124304" y="4277810"/>
                <a:ext cx="5352696" cy="1289614"/>
                <a:chOff x="1070118" y="1699677"/>
                <a:chExt cx="5352696" cy="1289614"/>
              </a:xfrm>
            </p:grpSpPr>
            <p:sp>
              <p:nvSpPr>
                <p:cNvPr id="1392" name="Google Shape;1392;p51"/>
                <p:cNvSpPr/>
                <p:nvPr/>
              </p:nvSpPr>
              <p:spPr>
                <a:xfrm>
                  <a:off x="1070118" y="1699677"/>
                  <a:ext cx="5352696" cy="1289614"/>
                </a:xfrm>
                <a:prstGeom prst="roundRect">
                  <a:avLst>
                    <a:gd fmla="val 22107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3" name="Google Shape;1393;p51"/>
                <p:cNvSpPr txBox="1"/>
                <p:nvPr/>
              </p:nvSpPr>
              <p:spPr>
                <a:xfrm>
                  <a:off x="1216330" y="1836653"/>
                  <a:ext cx="4723884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1397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Example:</a:t>
                  </a:r>
                  <a:br>
                    <a:rPr lang="en-US" sz="2000">
                      <a:solidFill>
                        <a:srgbClr val="123F7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</a:br>
                  <a:r>
                    <a:rPr lang="en-US" sz="2000">
                      <a:solidFill>
                        <a:srgbClr val="59595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Scenario: Counting the number of products sold.</a:t>
                  </a:r>
                  <a:endParaRPr/>
                </a:p>
              </p:txBody>
            </p:sp>
          </p:grpSp>
          <p:grpSp>
            <p:nvGrpSpPr>
              <p:cNvPr id="1394" name="Google Shape;1394;p51"/>
              <p:cNvGrpSpPr/>
              <p:nvPr/>
            </p:nvGrpSpPr>
            <p:grpSpPr>
              <a:xfrm>
                <a:off x="877830" y="4731689"/>
                <a:ext cx="370342" cy="381856"/>
                <a:chOff x="897675" y="1686797"/>
                <a:chExt cx="542600" cy="606903"/>
              </a:xfrm>
            </p:grpSpPr>
            <p:sp>
              <p:nvSpPr>
                <p:cNvPr id="1395" name="Google Shape;1395;p51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p51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</p:grpSp>
      </p:grpSp>
      <p:sp>
        <p:nvSpPr>
          <p:cNvPr id="1397" name="Google Shape;1397;p51"/>
          <p:cNvSpPr/>
          <p:nvPr/>
        </p:nvSpPr>
        <p:spPr>
          <a:xfrm>
            <a:off x="6807678" y="1802245"/>
            <a:ext cx="4317522" cy="3786910"/>
          </a:xfrm>
          <a:prstGeom prst="roundRect">
            <a:avLst>
              <a:gd fmla="val 8999" name="adj"/>
            </a:avLst>
          </a:prstGeom>
          <a:solidFill>
            <a:srgbClr val="025698">
              <a:alpha val="5098"/>
            </a:srgbClr>
          </a:solidFill>
          <a:ln cap="flat" cmpd="sng" w="9525">
            <a:solidFill>
              <a:srgbClr val="007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8" name="Google Shape;1398;p51"/>
          <p:cNvGraphicFramePr/>
          <p:nvPr/>
        </p:nvGraphicFramePr>
        <p:xfrm>
          <a:off x="6813789" y="1829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{5209E166-228F-4204-9806-82BCB6DFEF5D}</a:tableStyleId>
              </a:tblPr>
              <a:tblGrid>
                <a:gridCol w="2152650"/>
                <a:gridCol w="2152650"/>
              </a:tblGrid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Sales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Laptop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200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Mouse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32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Keyboard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3F3F3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Poppins SemiBold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Count of product which sale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=COUNT(C3:C5)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52"/>
          <p:cNvSpPr/>
          <p:nvPr/>
        </p:nvSpPr>
        <p:spPr>
          <a:xfrm>
            <a:off x="776748" y="1219200"/>
            <a:ext cx="10638504" cy="49530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4" name="Google Shape;1404;p52"/>
          <p:cNvGrpSpPr/>
          <p:nvPr/>
        </p:nvGrpSpPr>
        <p:grpSpPr>
          <a:xfrm>
            <a:off x="1807158" y="-13643"/>
            <a:ext cx="8577686" cy="896512"/>
            <a:chOff x="1807158" y="-13643"/>
            <a:chExt cx="8577686" cy="896512"/>
          </a:xfrm>
        </p:grpSpPr>
        <p:sp>
          <p:nvSpPr>
            <p:cNvPr id="1405" name="Google Shape;1405;p52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52"/>
            <p:cNvSpPr txBox="1"/>
            <p:nvPr/>
          </p:nvSpPr>
          <p:spPr>
            <a:xfrm>
              <a:off x="2362201" y="-13643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COUNT Related 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Functions</a:t>
              </a:r>
              <a:endParaRPr/>
            </a:p>
          </p:txBody>
        </p:sp>
      </p:grpSp>
      <p:grpSp>
        <p:nvGrpSpPr>
          <p:cNvPr id="1407" name="Google Shape;1407;p52"/>
          <p:cNvGrpSpPr/>
          <p:nvPr/>
        </p:nvGrpSpPr>
        <p:grpSpPr>
          <a:xfrm>
            <a:off x="1037480" y="1562100"/>
            <a:ext cx="10087720" cy="4389556"/>
            <a:chOff x="1037480" y="1562100"/>
            <a:chExt cx="10087720" cy="4389556"/>
          </a:xfrm>
        </p:grpSpPr>
        <p:grpSp>
          <p:nvGrpSpPr>
            <p:cNvPr id="1408" name="Google Shape;1408;p52"/>
            <p:cNvGrpSpPr/>
            <p:nvPr/>
          </p:nvGrpSpPr>
          <p:grpSpPr>
            <a:xfrm>
              <a:off x="1037480" y="1562100"/>
              <a:ext cx="10087720" cy="890277"/>
              <a:chOff x="1037480" y="1834107"/>
              <a:chExt cx="10087720" cy="891084"/>
            </a:xfrm>
          </p:grpSpPr>
          <p:sp>
            <p:nvSpPr>
              <p:cNvPr id="1409" name="Google Shape;1409;p52"/>
              <p:cNvSpPr/>
              <p:nvPr/>
            </p:nvSpPr>
            <p:spPr>
              <a:xfrm>
                <a:off x="1187927" y="1834107"/>
                <a:ext cx="9937273" cy="891084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52"/>
              <p:cNvSpPr txBox="1"/>
              <p:nvPr/>
            </p:nvSpPr>
            <p:spPr>
              <a:xfrm>
                <a:off x="1590533" y="2005337"/>
                <a:ext cx="7373357" cy="21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COUNTA: </a:t>
                </a: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Counts non-empty cells, including text.</a:t>
                </a:r>
                <a:endParaRPr sz="1500">
                  <a:solidFill>
                    <a:srgbClr val="595959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grpSp>
            <p:nvGrpSpPr>
              <p:cNvPr id="1411" name="Google Shape;1411;p52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412" name="Google Shape;1412;p5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3" name="Google Shape;1413;p52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1414" name="Google Shape;1414;p52"/>
              <p:cNvSpPr txBox="1"/>
              <p:nvPr/>
            </p:nvSpPr>
            <p:spPr>
              <a:xfrm>
                <a:off x="1590533" y="2246183"/>
                <a:ext cx="7373357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Example: = </a:t>
                </a:r>
                <a:r>
                  <a:rPr lang="en-US" sz="1600">
                    <a:solidFill>
                      <a:srgbClr val="8A000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COUNTA(A1:A5) </a:t>
                </a: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→ </a:t>
                </a: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Counts all filled cells in A1 to A5.</a:t>
                </a:r>
                <a:endParaRPr/>
              </a:p>
            </p:txBody>
          </p:sp>
        </p:grpSp>
        <p:grpSp>
          <p:nvGrpSpPr>
            <p:cNvPr id="1415" name="Google Shape;1415;p52"/>
            <p:cNvGrpSpPr/>
            <p:nvPr/>
          </p:nvGrpSpPr>
          <p:grpSpPr>
            <a:xfrm>
              <a:off x="1037480" y="2713141"/>
              <a:ext cx="10087720" cy="890277"/>
              <a:chOff x="1037480" y="1834107"/>
              <a:chExt cx="10087720" cy="891084"/>
            </a:xfrm>
          </p:grpSpPr>
          <p:sp>
            <p:nvSpPr>
              <p:cNvPr id="1416" name="Google Shape;1416;p52"/>
              <p:cNvSpPr/>
              <p:nvPr/>
            </p:nvSpPr>
            <p:spPr>
              <a:xfrm>
                <a:off x="1187927" y="1834107"/>
                <a:ext cx="9937273" cy="891084"/>
              </a:xfrm>
              <a:prstGeom prst="roundRect">
                <a:avLst>
                  <a:gd fmla="val 21261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52"/>
              <p:cNvSpPr txBox="1"/>
              <p:nvPr/>
            </p:nvSpPr>
            <p:spPr>
              <a:xfrm>
                <a:off x="1590533" y="1928723"/>
                <a:ext cx="7373357" cy="3636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COUNTBLANK: </a:t>
                </a: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Counts empty cells in a range.</a:t>
                </a:r>
                <a:endParaRPr/>
              </a:p>
            </p:txBody>
          </p:sp>
          <p:grpSp>
            <p:nvGrpSpPr>
              <p:cNvPr id="1418" name="Google Shape;1418;p52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419" name="Google Shape;1419;p5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0" name="Google Shape;1420;p52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  <p:sp>
            <p:nvSpPr>
              <p:cNvPr id="1421" name="Google Shape;1421;p52"/>
              <p:cNvSpPr txBox="1"/>
              <p:nvPr/>
            </p:nvSpPr>
            <p:spPr>
              <a:xfrm>
                <a:off x="1590533" y="2246183"/>
                <a:ext cx="7373357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Example: =</a:t>
                </a: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</a:t>
                </a:r>
                <a:r>
                  <a:rPr lang="en-US" sz="1600">
                    <a:solidFill>
                      <a:srgbClr val="8A000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COUNTA(A1:A5) </a:t>
                </a: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→ </a:t>
                </a: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Counts all filled cells in A1 to A5.</a:t>
                </a:r>
                <a:endParaRPr/>
              </a:p>
            </p:txBody>
          </p:sp>
        </p:grpSp>
        <p:grpSp>
          <p:nvGrpSpPr>
            <p:cNvPr id="1422" name="Google Shape;1422;p52"/>
            <p:cNvGrpSpPr/>
            <p:nvPr/>
          </p:nvGrpSpPr>
          <p:grpSpPr>
            <a:xfrm>
              <a:off x="1037480" y="3864182"/>
              <a:ext cx="10087720" cy="890277"/>
              <a:chOff x="1037480" y="1834107"/>
              <a:chExt cx="10087720" cy="891084"/>
            </a:xfrm>
          </p:grpSpPr>
          <p:sp>
            <p:nvSpPr>
              <p:cNvPr id="1423" name="Google Shape;1423;p52"/>
              <p:cNvSpPr/>
              <p:nvPr/>
            </p:nvSpPr>
            <p:spPr>
              <a:xfrm>
                <a:off x="1187927" y="1834107"/>
                <a:ext cx="9937273" cy="891084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52"/>
              <p:cNvSpPr txBox="1"/>
              <p:nvPr/>
            </p:nvSpPr>
            <p:spPr>
              <a:xfrm>
                <a:off x="1590533" y="1945079"/>
                <a:ext cx="7373357" cy="362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COUNTIF: </a:t>
                </a: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Counts cells that meet a specific condition.</a:t>
                </a:r>
                <a:endParaRPr/>
              </a:p>
            </p:txBody>
          </p:sp>
          <p:grpSp>
            <p:nvGrpSpPr>
              <p:cNvPr id="1425" name="Google Shape;1425;p52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426" name="Google Shape;1426;p5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7" name="Google Shape;1427;p52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  <p:sp>
            <p:nvSpPr>
              <p:cNvPr id="1428" name="Google Shape;1428;p52"/>
              <p:cNvSpPr txBox="1"/>
              <p:nvPr/>
            </p:nvSpPr>
            <p:spPr>
              <a:xfrm>
                <a:off x="1590533" y="2261963"/>
                <a:ext cx="8404805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Example: = </a:t>
                </a:r>
                <a:r>
                  <a:rPr lang="en-US" sz="1600">
                    <a:solidFill>
                      <a:srgbClr val="8A000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COUNTIF(A1:A5, "&gt;10") → </a:t>
                </a: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Counts cells with values greater than 10.</a:t>
                </a:r>
                <a:endParaRPr/>
              </a:p>
            </p:txBody>
          </p:sp>
        </p:grpSp>
        <p:grpSp>
          <p:nvGrpSpPr>
            <p:cNvPr id="1429" name="Google Shape;1429;p52"/>
            <p:cNvGrpSpPr/>
            <p:nvPr/>
          </p:nvGrpSpPr>
          <p:grpSpPr>
            <a:xfrm>
              <a:off x="1037480" y="5015223"/>
              <a:ext cx="10087720" cy="936433"/>
              <a:chOff x="1037480" y="1834107"/>
              <a:chExt cx="10087720" cy="937282"/>
            </a:xfrm>
          </p:grpSpPr>
          <p:sp>
            <p:nvSpPr>
              <p:cNvPr id="1430" name="Google Shape;1430;p52"/>
              <p:cNvSpPr/>
              <p:nvPr/>
            </p:nvSpPr>
            <p:spPr>
              <a:xfrm>
                <a:off x="1187927" y="1834107"/>
                <a:ext cx="9937273" cy="891084"/>
              </a:xfrm>
              <a:prstGeom prst="roundRect">
                <a:avLst>
                  <a:gd fmla="val 21261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52"/>
              <p:cNvSpPr txBox="1"/>
              <p:nvPr/>
            </p:nvSpPr>
            <p:spPr>
              <a:xfrm>
                <a:off x="1590533" y="1881959"/>
                <a:ext cx="7373357" cy="362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COUNTIFS: </a:t>
                </a: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Counts cells that meet multiple conditions.</a:t>
                </a:r>
                <a:endParaRPr/>
              </a:p>
            </p:txBody>
          </p:sp>
          <p:grpSp>
            <p:nvGrpSpPr>
              <p:cNvPr id="1432" name="Google Shape;1432;p52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433" name="Google Shape;1433;p52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4" name="Google Shape;1434;p52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435" name="Google Shape;1435;p52"/>
              <p:cNvSpPr txBox="1"/>
              <p:nvPr/>
            </p:nvSpPr>
            <p:spPr>
              <a:xfrm>
                <a:off x="1590533" y="2186084"/>
                <a:ext cx="9019660" cy="5853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Example: = </a:t>
                </a:r>
                <a:r>
                  <a:rPr lang="en-US" sz="1600">
                    <a:solidFill>
                      <a:srgbClr val="8A000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COUNTIFS(A1:A5, "&gt;10", B1:B5, "&lt;5") → </a:t>
                </a:r>
                <a:r>
                  <a:rPr lang="en-US" sz="1600">
                    <a:solidFill>
                      <a:srgbClr val="59595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Counts cells where A1 to A5 &gt; 10 and B1 to B5 &lt; 5.’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0" name="Google Shape;1440;p53"/>
          <p:cNvGrpSpPr/>
          <p:nvPr/>
        </p:nvGrpSpPr>
        <p:grpSpPr>
          <a:xfrm>
            <a:off x="2250831" y="0"/>
            <a:ext cx="7690338" cy="882869"/>
            <a:chOff x="2733368" y="0"/>
            <a:chExt cx="6725264" cy="882869"/>
          </a:xfrm>
        </p:grpSpPr>
        <p:sp>
          <p:nvSpPr>
            <p:cNvPr id="1441" name="Google Shape;1441;p53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53"/>
            <p:cNvSpPr txBox="1"/>
            <p:nvPr/>
          </p:nvSpPr>
          <p:spPr>
            <a:xfrm>
              <a:off x="2956290" y="118292"/>
              <a:ext cx="6279422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MIN </a:t>
              </a:r>
              <a:r>
                <a:rPr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and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MAX Functions</a:t>
              </a:r>
              <a:endParaRPr/>
            </a:p>
          </p:txBody>
        </p:sp>
      </p:grpSp>
      <p:sp>
        <p:nvSpPr>
          <p:cNvPr id="1443" name="Google Shape;1443;p53"/>
          <p:cNvSpPr/>
          <p:nvPr/>
        </p:nvSpPr>
        <p:spPr>
          <a:xfrm>
            <a:off x="776748" y="1447800"/>
            <a:ext cx="10638504" cy="44958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4" name="Google Shape;1444;p53"/>
          <p:cNvGrpSpPr/>
          <p:nvPr/>
        </p:nvGrpSpPr>
        <p:grpSpPr>
          <a:xfrm>
            <a:off x="1040047" y="1960423"/>
            <a:ext cx="5148102" cy="3470555"/>
            <a:chOff x="1013293" y="2152060"/>
            <a:chExt cx="5148102" cy="3470555"/>
          </a:xfrm>
        </p:grpSpPr>
        <p:grpSp>
          <p:nvGrpSpPr>
            <p:cNvPr id="1445" name="Google Shape;1445;p53"/>
            <p:cNvGrpSpPr/>
            <p:nvPr/>
          </p:nvGrpSpPr>
          <p:grpSpPr>
            <a:xfrm>
              <a:off x="1013293" y="2152060"/>
              <a:ext cx="5148102" cy="1572227"/>
              <a:chOff x="996840" y="1790815"/>
              <a:chExt cx="5148102" cy="1572227"/>
            </a:xfrm>
          </p:grpSpPr>
          <p:grpSp>
            <p:nvGrpSpPr>
              <p:cNvPr id="1446" name="Google Shape;1446;p53"/>
              <p:cNvGrpSpPr/>
              <p:nvPr/>
            </p:nvGrpSpPr>
            <p:grpSpPr>
              <a:xfrm>
                <a:off x="996840" y="2386000"/>
                <a:ext cx="370342" cy="381856"/>
                <a:chOff x="897675" y="1686797"/>
                <a:chExt cx="542600" cy="606903"/>
              </a:xfrm>
            </p:grpSpPr>
            <p:sp>
              <p:nvSpPr>
                <p:cNvPr id="1447" name="Google Shape;1447;p53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8" name="Google Shape;1448;p53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1449" name="Google Shape;1449;p53"/>
              <p:cNvSpPr/>
              <p:nvPr/>
            </p:nvSpPr>
            <p:spPr>
              <a:xfrm>
                <a:off x="1201082" y="1790815"/>
                <a:ext cx="4908073" cy="1572227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53"/>
              <p:cNvSpPr txBox="1"/>
              <p:nvPr/>
            </p:nvSpPr>
            <p:spPr>
              <a:xfrm>
                <a:off x="1506814" y="2361388"/>
                <a:ext cx="1416463" cy="431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Purpose:</a:t>
                </a:r>
                <a:endParaRPr/>
              </a:p>
            </p:txBody>
          </p:sp>
          <p:sp>
            <p:nvSpPr>
              <p:cNvPr id="1451" name="Google Shape;1451;p53"/>
              <p:cNvSpPr txBox="1"/>
              <p:nvPr/>
            </p:nvSpPr>
            <p:spPr>
              <a:xfrm>
                <a:off x="2366361" y="1899692"/>
                <a:ext cx="3778581" cy="13544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59690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=</a:t>
                </a:r>
                <a:r>
                  <a:rPr lang="en-US" sz="1400">
                    <a:solidFill>
                      <a:srgbClr val="8A000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MIN(range) </a:t>
                </a:r>
                <a:r>
                  <a:rPr lang="en-US" sz="14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finds the smallest value.</a:t>
                </a:r>
                <a:endParaRPr/>
              </a:p>
              <a:p>
                <a:pPr indent="0" lvl="0" marL="59690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=</a:t>
                </a:r>
                <a:r>
                  <a:rPr lang="en-US" sz="1400">
                    <a:solidFill>
                      <a:srgbClr val="8A000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MAX(range) </a:t>
                </a:r>
                <a:r>
                  <a:rPr lang="en-US" sz="14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finds the largest value.</a:t>
                </a:r>
                <a:endParaRPr/>
              </a:p>
            </p:txBody>
          </p:sp>
        </p:grpSp>
        <p:grpSp>
          <p:nvGrpSpPr>
            <p:cNvPr id="1452" name="Google Shape;1452;p53"/>
            <p:cNvGrpSpPr/>
            <p:nvPr/>
          </p:nvGrpSpPr>
          <p:grpSpPr>
            <a:xfrm>
              <a:off x="1013293" y="4050388"/>
              <a:ext cx="5112315" cy="1572227"/>
              <a:chOff x="1019271" y="4050388"/>
              <a:chExt cx="5112315" cy="1572227"/>
            </a:xfrm>
          </p:grpSpPr>
          <p:sp>
            <p:nvSpPr>
              <p:cNvPr id="1453" name="Google Shape;1453;p53"/>
              <p:cNvSpPr/>
              <p:nvPr/>
            </p:nvSpPr>
            <p:spPr>
              <a:xfrm>
                <a:off x="1223513" y="4050388"/>
                <a:ext cx="4908073" cy="1572227"/>
              </a:xfrm>
              <a:prstGeom prst="roundRect">
                <a:avLst>
                  <a:gd fmla="val 21261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54" name="Google Shape;1454;p53"/>
              <p:cNvGrpSpPr/>
              <p:nvPr/>
            </p:nvGrpSpPr>
            <p:grpSpPr>
              <a:xfrm>
                <a:off x="1019271" y="4645573"/>
                <a:ext cx="370342" cy="381856"/>
                <a:chOff x="897675" y="1686797"/>
                <a:chExt cx="542600" cy="606903"/>
              </a:xfrm>
            </p:grpSpPr>
            <p:sp>
              <p:nvSpPr>
                <p:cNvPr id="1455" name="Google Shape;1455;p53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6" name="Google Shape;1456;p53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  <p:sp>
            <p:nvSpPr>
              <p:cNvPr id="1457" name="Google Shape;1457;p53"/>
              <p:cNvSpPr txBox="1"/>
              <p:nvPr/>
            </p:nvSpPr>
            <p:spPr>
              <a:xfrm>
                <a:off x="1529245" y="4658761"/>
                <a:ext cx="1384565" cy="3554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Example:</a:t>
                </a:r>
                <a:endParaRPr/>
              </a:p>
            </p:txBody>
          </p:sp>
          <p:sp>
            <p:nvSpPr>
              <p:cNvPr id="1458" name="Google Shape;1458;p53"/>
              <p:cNvSpPr txBox="1"/>
              <p:nvPr/>
            </p:nvSpPr>
            <p:spPr>
              <a:xfrm>
                <a:off x="2496810" y="4328670"/>
                <a:ext cx="3500442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-171450" lvl="0" marL="7683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E5F08"/>
                  </a:buClr>
                  <a:buSzPts val="1400"/>
                  <a:buFont typeface="Arial"/>
                  <a:buChar char="•"/>
                </a:pPr>
                <a:r>
                  <a:rPr lang="en-US" sz="15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Scenario: </a:t>
                </a:r>
                <a:br>
                  <a:rPr lang="en-US" sz="15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</a:br>
                <a:r>
                  <a:rPr lang="en-US" sz="1500">
                    <a:solidFill>
                      <a:srgbClr val="3F3F3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Identifying the lowest and highest temperatures in a week.</a:t>
                </a:r>
                <a:endParaRPr/>
              </a:p>
            </p:txBody>
          </p:sp>
        </p:grpSp>
      </p:grpSp>
      <p:sp>
        <p:nvSpPr>
          <p:cNvPr id="1459" name="Google Shape;1459;p53"/>
          <p:cNvSpPr/>
          <p:nvPr/>
        </p:nvSpPr>
        <p:spPr>
          <a:xfrm>
            <a:off x="6807678" y="1802245"/>
            <a:ext cx="4317522" cy="3786910"/>
          </a:xfrm>
          <a:prstGeom prst="roundRect">
            <a:avLst>
              <a:gd fmla="val 8999" name="adj"/>
            </a:avLst>
          </a:prstGeom>
          <a:solidFill>
            <a:srgbClr val="025698">
              <a:alpha val="5098"/>
            </a:srgbClr>
          </a:solidFill>
          <a:ln cap="flat" cmpd="sng" w="9525">
            <a:solidFill>
              <a:srgbClr val="007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0" name="Google Shape;1460;p53"/>
          <p:cNvGraphicFramePr/>
          <p:nvPr/>
        </p:nvGraphicFramePr>
        <p:xfrm>
          <a:off x="6813789" y="1829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{5209E166-228F-4204-9806-82BCB6DFEF5D}</a:tableStyleId>
              </a:tblPr>
              <a:tblGrid>
                <a:gridCol w="2152650"/>
                <a:gridCol w="2152650"/>
              </a:tblGrid>
              <a:tr h="62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4688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9468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Temperature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20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Tuesday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Wednesday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15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Min Temp.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=MIN(C3:C5)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Min Temp.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Poppins SemiBold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F3F3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=MAX(C3:C5)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56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5" name="Google Shape;1465;p54"/>
          <p:cNvGrpSpPr/>
          <p:nvPr/>
        </p:nvGrpSpPr>
        <p:grpSpPr>
          <a:xfrm>
            <a:off x="4015563" y="0"/>
            <a:ext cx="4160874" cy="882869"/>
            <a:chOff x="2733368" y="0"/>
            <a:chExt cx="6725264" cy="882869"/>
          </a:xfrm>
        </p:grpSpPr>
        <p:sp>
          <p:nvSpPr>
            <p:cNvPr id="1466" name="Google Shape;1466;p54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54"/>
            <p:cNvSpPr txBox="1"/>
            <p:nvPr/>
          </p:nvSpPr>
          <p:spPr>
            <a:xfrm>
              <a:off x="3811766" y="118292"/>
              <a:ext cx="4568468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Result</a:t>
              </a:r>
              <a:endParaRPr/>
            </a:p>
          </p:txBody>
        </p:sp>
      </p:grpSp>
      <p:grpSp>
        <p:nvGrpSpPr>
          <p:cNvPr id="1468" name="Google Shape;1468;p54"/>
          <p:cNvGrpSpPr/>
          <p:nvPr/>
        </p:nvGrpSpPr>
        <p:grpSpPr>
          <a:xfrm>
            <a:off x="776748" y="1219200"/>
            <a:ext cx="10638504" cy="4724400"/>
            <a:chOff x="776748" y="1219200"/>
            <a:chExt cx="10638504" cy="4724400"/>
          </a:xfrm>
        </p:grpSpPr>
        <p:grpSp>
          <p:nvGrpSpPr>
            <p:cNvPr id="1469" name="Google Shape;1469;p54"/>
            <p:cNvGrpSpPr/>
            <p:nvPr/>
          </p:nvGrpSpPr>
          <p:grpSpPr>
            <a:xfrm>
              <a:off x="776748" y="1219200"/>
              <a:ext cx="10638504" cy="4724400"/>
              <a:chOff x="776748" y="1219200"/>
              <a:chExt cx="10638504" cy="4724400"/>
            </a:xfrm>
          </p:grpSpPr>
          <p:sp>
            <p:nvSpPr>
              <p:cNvPr id="1470" name="Google Shape;1470;p54"/>
              <p:cNvSpPr/>
              <p:nvPr/>
            </p:nvSpPr>
            <p:spPr>
              <a:xfrm>
                <a:off x="776748" y="1219200"/>
                <a:ext cx="10638504" cy="4724400"/>
              </a:xfrm>
              <a:prstGeom prst="roundRect">
                <a:avLst>
                  <a:gd fmla="val 10242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54"/>
              <p:cNvSpPr/>
              <p:nvPr/>
            </p:nvSpPr>
            <p:spPr>
              <a:xfrm>
                <a:off x="1074174" y="1484066"/>
                <a:ext cx="10043652" cy="4194668"/>
              </a:xfrm>
              <a:prstGeom prst="roundRect">
                <a:avLst>
                  <a:gd fmla="val 10242" name="adj"/>
                </a:avLst>
              </a:prstGeom>
              <a:solidFill>
                <a:srgbClr val="025698">
                  <a:alpha val="5098"/>
                </a:srgbClr>
              </a:solidFill>
              <a:ln>
                <a:noFill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2" name="Google Shape;1472;p54"/>
            <p:cNvSpPr txBox="1"/>
            <p:nvPr/>
          </p:nvSpPr>
          <p:spPr>
            <a:xfrm>
              <a:off x="1516912" y="2336188"/>
              <a:ext cx="9158176" cy="249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4000">
                  <a:solidFill>
                    <a:srgbClr val="02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Min Temperature = 15 degree </a:t>
              </a:r>
              <a:endParaRPr/>
            </a:p>
            <a:p>
              <a:pPr indent="0" lvl="0" marL="139700" marR="0" rtl="0" algn="ctr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i="1" lang="en-US" sz="4000">
                  <a:solidFill>
                    <a:srgbClr val="6E5F0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&amp;</a:t>
              </a:r>
              <a:endParaRPr/>
            </a:p>
            <a:p>
              <a:pPr indent="0" lvl="0" marL="139700" marR="0" rtl="0" algn="ctr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i="1" lang="en-US" sz="4000">
                  <a:solidFill>
                    <a:srgbClr val="02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Max Temperature = 25 degree</a:t>
              </a:r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7" name="Google Shape;1477;p55"/>
          <p:cNvGrpSpPr/>
          <p:nvPr/>
        </p:nvGrpSpPr>
        <p:grpSpPr>
          <a:xfrm>
            <a:off x="1478507" y="-13645"/>
            <a:ext cx="9234986" cy="896514"/>
            <a:chOff x="2475692" y="-13645"/>
            <a:chExt cx="7240615" cy="896514"/>
          </a:xfrm>
        </p:grpSpPr>
        <p:sp>
          <p:nvSpPr>
            <p:cNvPr id="1478" name="Google Shape;1478;p55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55"/>
            <p:cNvSpPr txBox="1"/>
            <p:nvPr/>
          </p:nvSpPr>
          <p:spPr>
            <a:xfrm>
              <a:off x="2475692" y="-13645"/>
              <a:ext cx="7240615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Common Errors </a:t>
              </a: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in Functions</a:t>
              </a:r>
              <a:endParaRPr/>
            </a:p>
          </p:txBody>
        </p:sp>
      </p:grpSp>
      <p:sp>
        <p:nvSpPr>
          <p:cNvPr id="1480" name="Google Shape;1480;p55"/>
          <p:cNvSpPr/>
          <p:nvPr/>
        </p:nvSpPr>
        <p:spPr>
          <a:xfrm>
            <a:off x="776748" y="1409700"/>
            <a:ext cx="10638504" cy="44958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1" name="Google Shape;1481;p55"/>
          <p:cNvGrpSpPr/>
          <p:nvPr/>
        </p:nvGrpSpPr>
        <p:grpSpPr>
          <a:xfrm>
            <a:off x="982967" y="2346536"/>
            <a:ext cx="10226066" cy="3355300"/>
            <a:chOff x="982967" y="2111405"/>
            <a:chExt cx="10226066" cy="3355300"/>
          </a:xfrm>
        </p:grpSpPr>
        <p:grpSp>
          <p:nvGrpSpPr>
            <p:cNvPr id="1482" name="Google Shape;1482;p55"/>
            <p:cNvGrpSpPr/>
            <p:nvPr/>
          </p:nvGrpSpPr>
          <p:grpSpPr>
            <a:xfrm>
              <a:off x="982967" y="2111405"/>
              <a:ext cx="10226066" cy="932741"/>
              <a:chOff x="899134" y="1999492"/>
              <a:chExt cx="10226066" cy="932741"/>
            </a:xfrm>
          </p:grpSpPr>
          <p:grpSp>
            <p:nvGrpSpPr>
              <p:cNvPr id="1483" name="Google Shape;1483;p55"/>
              <p:cNvGrpSpPr/>
              <p:nvPr/>
            </p:nvGrpSpPr>
            <p:grpSpPr>
              <a:xfrm>
                <a:off x="1091824" y="1999492"/>
                <a:ext cx="10033376" cy="932741"/>
                <a:chOff x="1016334" y="1773940"/>
                <a:chExt cx="10033376" cy="932741"/>
              </a:xfrm>
            </p:grpSpPr>
            <p:sp>
              <p:nvSpPr>
                <p:cNvPr id="1484" name="Google Shape;1484;p55"/>
                <p:cNvSpPr/>
                <p:nvPr/>
              </p:nvSpPr>
              <p:spPr>
                <a:xfrm>
                  <a:off x="1016334" y="1773940"/>
                  <a:ext cx="10033376" cy="932741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025698">
                    <a:alpha val="5098"/>
                  </a:srgbClr>
                </a:solidFill>
                <a:ln cap="flat" cmpd="sng" w="9525">
                  <a:solidFill>
                    <a:srgbClr val="0070C0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0" rotWithShape="0" algn="l" dist="38100">
                    <a:srgbClr val="000000">
                      <a:alpha val="1098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i="1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5" name="Google Shape;1485;p55"/>
                <p:cNvSpPr txBox="1"/>
                <p:nvPr/>
              </p:nvSpPr>
              <p:spPr>
                <a:xfrm>
                  <a:off x="1471643" y="2025508"/>
                  <a:ext cx="6681131" cy="4296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2569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#Value!: Invalid Data Type In The Range.</a:t>
                  </a:r>
                  <a:endParaRPr/>
                </a:p>
              </p:txBody>
            </p:sp>
          </p:grpSp>
          <p:grpSp>
            <p:nvGrpSpPr>
              <p:cNvPr id="1486" name="Google Shape;1486;p55"/>
              <p:cNvGrpSpPr/>
              <p:nvPr/>
            </p:nvGrpSpPr>
            <p:grpSpPr>
              <a:xfrm>
                <a:off x="899134" y="2274934"/>
                <a:ext cx="370342" cy="381856"/>
                <a:chOff x="897675" y="1686797"/>
                <a:chExt cx="542600" cy="606903"/>
              </a:xfrm>
            </p:grpSpPr>
            <p:sp>
              <p:nvSpPr>
                <p:cNvPr id="1487" name="Google Shape;1487;p55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8" name="Google Shape;1488;p55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489" name="Google Shape;1489;p55"/>
            <p:cNvGrpSpPr/>
            <p:nvPr/>
          </p:nvGrpSpPr>
          <p:grpSpPr>
            <a:xfrm>
              <a:off x="1025199" y="4392853"/>
              <a:ext cx="10183834" cy="1073852"/>
              <a:chOff x="941366" y="4311000"/>
              <a:chExt cx="10183834" cy="1073852"/>
            </a:xfrm>
          </p:grpSpPr>
          <p:sp>
            <p:nvSpPr>
              <p:cNvPr id="1490" name="Google Shape;1490;p55"/>
              <p:cNvSpPr/>
              <p:nvPr/>
            </p:nvSpPr>
            <p:spPr>
              <a:xfrm>
                <a:off x="1091824" y="4311000"/>
                <a:ext cx="10033376" cy="1073852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55"/>
              <p:cNvSpPr txBox="1"/>
              <p:nvPr/>
            </p:nvSpPr>
            <p:spPr>
              <a:xfrm>
                <a:off x="1547133" y="4632387"/>
                <a:ext cx="6415028" cy="431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#Ref!: Invalid Reference After Deleting Cells.</a:t>
                </a:r>
                <a:endParaRPr/>
              </a:p>
            </p:txBody>
          </p:sp>
          <p:grpSp>
            <p:nvGrpSpPr>
              <p:cNvPr id="1492" name="Google Shape;1492;p55"/>
              <p:cNvGrpSpPr/>
              <p:nvPr/>
            </p:nvGrpSpPr>
            <p:grpSpPr>
              <a:xfrm>
                <a:off x="941366" y="4656998"/>
                <a:ext cx="370342" cy="381856"/>
                <a:chOff x="897675" y="1686797"/>
                <a:chExt cx="542600" cy="606903"/>
              </a:xfrm>
            </p:grpSpPr>
            <p:sp>
              <p:nvSpPr>
                <p:cNvPr id="1493" name="Google Shape;1493;p55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4" name="Google Shape;1494;p55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495" name="Google Shape;1495;p55"/>
            <p:cNvGrpSpPr/>
            <p:nvPr/>
          </p:nvGrpSpPr>
          <p:grpSpPr>
            <a:xfrm>
              <a:off x="982967" y="3199831"/>
              <a:ext cx="10226066" cy="1037337"/>
              <a:chOff x="899134" y="3105413"/>
              <a:chExt cx="10226066" cy="1037337"/>
            </a:xfrm>
          </p:grpSpPr>
          <p:grpSp>
            <p:nvGrpSpPr>
              <p:cNvPr id="1496" name="Google Shape;1496;p55"/>
              <p:cNvGrpSpPr/>
              <p:nvPr/>
            </p:nvGrpSpPr>
            <p:grpSpPr>
              <a:xfrm>
                <a:off x="1091824" y="3105413"/>
                <a:ext cx="10033376" cy="1037337"/>
                <a:chOff x="1016334" y="1968018"/>
                <a:chExt cx="10033376" cy="1037337"/>
              </a:xfrm>
            </p:grpSpPr>
            <p:sp>
              <p:nvSpPr>
                <p:cNvPr id="1497" name="Google Shape;1497;p55"/>
                <p:cNvSpPr/>
                <p:nvPr/>
              </p:nvSpPr>
              <p:spPr>
                <a:xfrm>
                  <a:off x="1016334" y="1968018"/>
                  <a:ext cx="10033376" cy="1037337"/>
                </a:xfrm>
                <a:prstGeom prst="roundRect">
                  <a:avLst>
                    <a:gd fmla="val 13022" name="adj"/>
                  </a:avLst>
                </a:prstGeom>
                <a:solidFill>
                  <a:srgbClr val="FFF9E5">
                    <a:alpha val="56078"/>
                  </a:srgbClr>
                </a:solidFill>
                <a:ln cap="flat" cmpd="sng" w="9525">
                  <a:solidFill>
                    <a:srgbClr val="8F7C0B">
                      <a:alpha val="40000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8" name="Google Shape;1498;p55"/>
                <p:cNvSpPr txBox="1"/>
                <p:nvPr/>
              </p:nvSpPr>
              <p:spPr>
                <a:xfrm>
                  <a:off x="1471643" y="2271148"/>
                  <a:ext cx="9382821" cy="431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#DIV/0!: Division By Zero (E.G., Empty Cell In =</a:t>
                  </a:r>
                  <a:r>
                    <a:rPr lang="en-US" sz="2000">
                      <a:solidFill>
                        <a:srgbClr val="8A0000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AVERAGE</a:t>
                  </a:r>
                  <a:r>
                    <a:rPr lang="en-US" sz="2000">
                      <a:solidFill>
                        <a:srgbClr val="6E5F08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).</a:t>
                  </a:r>
                  <a:endParaRPr/>
                </a:p>
              </p:txBody>
            </p:sp>
          </p:grpSp>
          <p:grpSp>
            <p:nvGrpSpPr>
              <p:cNvPr id="1499" name="Google Shape;1499;p55"/>
              <p:cNvGrpSpPr/>
              <p:nvPr/>
            </p:nvGrpSpPr>
            <p:grpSpPr>
              <a:xfrm>
                <a:off x="899134" y="3433153"/>
                <a:ext cx="370342" cy="381856"/>
                <a:chOff x="897675" y="1686797"/>
                <a:chExt cx="542600" cy="606903"/>
              </a:xfrm>
            </p:grpSpPr>
            <p:sp>
              <p:nvSpPr>
                <p:cNvPr id="1500" name="Google Shape;1500;p55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1" name="Google Shape;1501;p55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  <p:sp>
        <p:nvSpPr>
          <p:cNvPr id="1502" name="Google Shape;1502;p55"/>
          <p:cNvSpPr txBox="1"/>
          <p:nvPr/>
        </p:nvSpPr>
        <p:spPr>
          <a:xfrm>
            <a:off x="1950721" y="1584565"/>
            <a:ext cx="8290560" cy="497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Examples Of Common Errors: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56"/>
          <p:cNvSpPr/>
          <p:nvPr/>
        </p:nvSpPr>
        <p:spPr>
          <a:xfrm>
            <a:off x="776748" y="1447800"/>
            <a:ext cx="10638504" cy="44958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8" name="Google Shape;1508;p56"/>
          <p:cNvGrpSpPr/>
          <p:nvPr/>
        </p:nvGrpSpPr>
        <p:grpSpPr>
          <a:xfrm>
            <a:off x="4192621" y="-13647"/>
            <a:ext cx="3806760" cy="896516"/>
            <a:chOff x="2733368" y="-13647"/>
            <a:chExt cx="6725264" cy="896516"/>
          </a:xfrm>
        </p:grpSpPr>
        <p:sp>
          <p:nvSpPr>
            <p:cNvPr id="1509" name="Google Shape;1509;p56"/>
            <p:cNvSpPr/>
            <p:nvPr/>
          </p:nvSpPr>
          <p:spPr>
            <a:xfrm rot="10800000">
              <a:off x="2733368" y="0"/>
              <a:ext cx="6725264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56"/>
            <p:cNvSpPr txBox="1"/>
            <p:nvPr/>
          </p:nvSpPr>
          <p:spPr>
            <a:xfrm>
              <a:off x="3718672" y="-13647"/>
              <a:ext cx="4754657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Solutions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511" name="Google Shape;1511;p56"/>
          <p:cNvGrpSpPr/>
          <p:nvPr/>
        </p:nvGrpSpPr>
        <p:grpSpPr>
          <a:xfrm>
            <a:off x="899133" y="1718042"/>
            <a:ext cx="10226067" cy="3887628"/>
            <a:chOff x="899133" y="1718042"/>
            <a:chExt cx="10226067" cy="2584265"/>
          </a:xfrm>
        </p:grpSpPr>
        <p:grpSp>
          <p:nvGrpSpPr>
            <p:cNvPr id="1512" name="Google Shape;1512;p56"/>
            <p:cNvGrpSpPr/>
            <p:nvPr/>
          </p:nvGrpSpPr>
          <p:grpSpPr>
            <a:xfrm>
              <a:off x="899133" y="1718042"/>
              <a:ext cx="10226065" cy="1213215"/>
              <a:chOff x="899134" y="2329927"/>
              <a:chExt cx="8648179" cy="1026015"/>
            </a:xfrm>
          </p:grpSpPr>
          <p:sp>
            <p:nvSpPr>
              <p:cNvPr id="1513" name="Google Shape;1513;p56"/>
              <p:cNvSpPr/>
              <p:nvPr/>
            </p:nvSpPr>
            <p:spPr>
              <a:xfrm>
                <a:off x="1145609" y="2329927"/>
                <a:ext cx="8401704" cy="1026015"/>
              </a:xfrm>
              <a:prstGeom prst="roundRect">
                <a:avLst>
                  <a:gd fmla="val 13022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56"/>
              <p:cNvSpPr txBox="1"/>
              <p:nvPr/>
            </p:nvSpPr>
            <p:spPr>
              <a:xfrm>
                <a:off x="1390451" y="2730252"/>
                <a:ext cx="7566301" cy="241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13970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Use Error-checking Tools From The Formulas Tab.</a:t>
                </a:r>
                <a:endParaRPr/>
              </a:p>
            </p:txBody>
          </p:sp>
          <p:grpSp>
            <p:nvGrpSpPr>
              <p:cNvPr id="1515" name="Google Shape;1515;p56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516" name="Google Shape;1516;p56"/>
                <p:cNvSpPr/>
                <p:nvPr/>
              </p:nvSpPr>
              <p:spPr>
                <a:xfrm>
                  <a:off x="897675" y="1789789"/>
                  <a:ext cx="542600" cy="389897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7" name="Google Shape;1517;p56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1518" name="Google Shape;1518;p56"/>
            <p:cNvGrpSpPr/>
            <p:nvPr/>
          </p:nvGrpSpPr>
          <p:grpSpPr>
            <a:xfrm>
              <a:off x="899133" y="3089092"/>
              <a:ext cx="10226067" cy="1213215"/>
              <a:chOff x="899134" y="2329925"/>
              <a:chExt cx="8648180" cy="1026014"/>
            </a:xfrm>
          </p:grpSpPr>
          <p:sp>
            <p:nvSpPr>
              <p:cNvPr id="1519" name="Google Shape;1519;p56"/>
              <p:cNvSpPr/>
              <p:nvPr/>
            </p:nvSpPr>
            <p:spPr>
              <a:xfrm>
                <a:off x="1145610" y="2329925"/>
                <a:ext cx="8401704" cy="1026014"/>
              </a:xfrm>
              <a:prstGeom prst="roundRect">
                <a:avLst>
                  <a:gd fmla="val 13022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56"/>
              <p:cNvSpPr txBox="1"/>
              <p:nvPr/>
            </p:nvSpPr>
            <p:spPr>
              <a:xfrm>
                <a:off x="1390451" y="2730247"/>
                <a:ext cx="7727888" cy="241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13970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Verify Data Types And Range References Before Using Functions.</a:t>
                </a:r>
                <a:endParaRPr/>
              </a:p>
            </p:txBody>
          </p:sp>
          <p:grpSp>
            <p:nvGrpSpPr>
              <p:cNvPr id="1521" name="Google Shape;1521;p56"/>
              <p:cNvGrpSpPr/>
              <p:nvPr/>
            </p:nvGrpSpPr>
            <p:grpSpPr>
              <a:xfrm>
                <a:off x="899134" y="2652006"/>
                <a:ext cx="370342" cy="381856"/>
                <a:chOff x="897675" y="1686797"/>
                <a:chExt cx="542600" cy="606903"/>
              </a:xfrm>
            </p:grpSpPr>
            <p:sp>
              <p:nvSpPr>
                <p:cNvPr id="1522" name="Google Shape;1522;p56"/>
                <p:cNvSpPr/>
                <p:nvPr/>
              </p:nvSpPr>
              <p:spPr>
                <a:xfrm>
                  <a:off x="897675" y="1789789"/>
                  <a:ext cx="542600" cy="389897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3" name="Google Shape;1523;p56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57"/>
          <p:cNvSpPr/>
          <p:nvPr/>
        </p:nvSpPr>
        <p:spPr>
          <a:xfrm>
            <a:off x="776748" y="1219200"/>
            <a:ext cx="10638504" cy="4953000"/>
          </a:xfrm>
          <a:prstGeom prst="roundRect">
            <a:avLst>
              <a:gd fmla="val 10242" name="adj"/>
            </a:avLst>
          </a:prstGeom>
          <a:solidFill>
            <a:schemeClr val="lt1"/>
          </a:solidFill>
          <a:ln>
            <a:noFill/>
          </a:ln>
          <a:effectLst>
            <a:outerShdw blurRad="508000" rotWithShape="0" algn="l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9" name="Google Shape;1529;p57"/>
          <p:cNvGrpSpPr/>
          <p:nvPr/>
        </p:nvGrpSpPr>
        <p:grpSpPr>
          <a:xfrm>
            <a:off x="1807158" y="-3915"/>
            <a:ext cx="8577686" cy="886784"/>
            <a:chOff x="1807158" y="-3915"/>
            <a:chExt cx="8577686" cy="886784"/>
          </a:xfrm>
        </p:grpSpPr>
        <p:sp>
          <p:nvSpPr>
            <p:cNvPr id="1530" name="Google Shape;1530;p57"/>
            <p:cNvSpPr/>
            <p:nvPr/>
          </p:nvSpPr>
          <p:spPr>
            <a:xfrm rot="10800000">
              <a:off x="1807158" y="0"/>
              <a:ext cx="8577686" cy="882869"/>
            </a:xfrm>
            <a:prstGeom prst="round2SameRect">
              <a:avLst>
                <a:gd fmla="val 29167" name="adj1"/>
                <a:gd fmla="val 0" name="adj2"/>
              </a:avLst>
            </a:prstGeom>
            <a:gradFill>
              <a:gsLst>
                <a:gs pos="0">
                  <a:srgbClr val="2C4283"/>
                </a:gs>
                <a:gs pos="100000">
                  <a:srgbClr val="025698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57"/>
            <p:cNvSpPr txBox="1"/>
            <p:nvPr/>
          </p:nvSpPr>
          <p:spPr>
            <a:xfrm>
              <a:off x="2362201" y="-3915"/>
              <a:ext cx="7467600" cy="77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139700" marR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Key </a:t>
              </a:r>
              <a:r>
                <a:rPr lang="en-US" sz="3600">
                  <a:solidFill>
                    <a:srgbClr val="FFE69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Takeaways</a:t>
              </a:r>
              <a:endParaRPr sz="3600">
                <a:solidFill>
                  <a:srgbClr val="FFE69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grpSp>
        <p:nvGrpSpPr>
          <p:cNvPr id="1532" name="Google Shape;1532;p57"/>
          <p:cNvGrpSpPr/>
          <p:nvPr/>
        </p:nvGrpSpPr>
        <p:grpSpPr>
          <a:xfrm>
            <a:off x="1037480" y="1524000"/>
            <a:ext cx="10087720" cy="4381501"/>
            <a:chOff x="1037480" y="1524000"/>
            <a:chExt cx="10087720" cy="4381501"/>
          </a:xfrm>
        </p:grpSpPr>
        <p:grpSp>
          <p:nvGrpSpPr>
            <p:cNvPr id="1533" name="Google Shape;1533;p57"/>
            <p:cNvGrpSpPr/>
            <p:nvPr/>
          </p:nvGrpSpPr>
          <p:grpSpPr>
            <a:xfrm>
              <a:off x="1037480" y="1524000"/>
              <a:ext cx="10087720" cy="668878"/>
              <a:chOff x="1037480" y="1944906"/>
              <a:chExt cx="10087720" cy="669484"/>
            </a:xfrm>
          </p:grpSpPr>
          <p:sp>
            <p:nvSpPr>
              <p:cNvPr id="1534" name="Google Shape;1534;p57"/>
              <p:cNvSpPr/>
              <p:nvPr/>
            </p:nvSpPr>
            <p:spPr>
              <a:xfrm>
                <a:off x="1187927" y="1944906"/>
                <a:ext cx="9937273" cy="669484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57"/>
              <p:cNvSpPr txBox="1"/>
              <p:nvPr/>
            </p:nvSpPr>
            <p:spPr>
              <a:xfrm>
                <a:off x="1590533" y="2052480"/>
                <a:ext cx="3213479" cy="21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Workbooks &amp; Worksheets –</a:t>
                </a:r>
                <a:endParaRPr sz="1600">
                  <a:solidFill>
                    <a:srgbClr val="02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grpSp>
            <p:nvGrpSpPr>
              <p:cNvPr id="1536" name="Google Shape;1536;p57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537" name="Google Shape;1537;p57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8" name="Google Shape;1538;p5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1539" name="Google Shape;1539;p57"/>
              <p:cNvSpPr txBox="1"/>
              <p:nvPr/>
            </p:nvSpPr>
            <p:spPr>
              <a:xfrm>
                <a:off x="1590533" y="2246183"/>
                <a:ext cx="7373357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3F3F3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 workbook is an Excel file that can have multiple worksheets (tabs).</a:t>
                </a:r>
                <a:endParaRPr sz="1600">
                  <a:solidFill>
                    <a:srgbClr val="3F3F3F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1540" name="Google Shape;1540;p57"/>
            <p:cNvGrpSpPr/>
            <p:nvPr/>
          </p:nvGrpSpPr>
          <p:grpSpPr>
            <a:xfrm>
              <a:off x="1037480" y="2452155"/>
              <a:ext cx="10087720" cy="668878"/>
              <a:chOff x="1037480" y="1944906"/>
              <a:chExt cx="10087720" cy="669484"/>
            </a:xfrm>
          </p:grpSpPr>
          <p:sp>
            <p:nvSpPr>
              <p:cNvPr id="1541" name="Google Shape;1541;p57"/>
              <p:cNvSpPr/>
              <p:nvPr/>
            </p:nvSpPr>
            <p:spPr>
              <a:xfrm>
                <a:off x="1187927" y="1944906"/>
                <a:ext cx="9937273" cy="669484"/>
              </a:xfrm>
              <a:prstGeom prst="roundRect">
                <a:avLst>
                  <a:gd fmla="val 21261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57"/>
              <p:cNvSpPr txBox="1"/>
              <p:nvPr/>
            </p:nvSpPr>
            <p:spPr>
              <a:xfrm>
                <a:off x="1590533" y="1988254"/>
                <a:ext cx="3213479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Cell References</a:t>
                </a:r>
                <a:endParaRPr sz="1600">
                  <a:solidFill>
                    <a:srgbClr val="6E5F08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grpSp>
            <p:nvGrpSpPr>
              <p:cNvPr id="1543" name="Google Shape;1543;p57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544" name="Google Shape;1544;p57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5" name="Google Shape;1545;p5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2</a:t>
                  </a:r>
                  <a:endParaRPr/>
                </a:p>
              </p:txBody>
            </p:sp>
          </p:grpSp>
          <p:sp>
            <p:nvSpPr>
              <p:cNvPr id="1546" name="Google Shape;1546;p57"/>
              <p:cNvSpPr txBox="1"/>
              <p:nvPr/>
            </p:nvSpPr>
            <p:spPr>
              <a:xfrm>
                <a:off x="1590533" y="2246182"/>
                <a:ext cx="8678882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3F3F3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Relative, absolute, and mixed references are essential for working with formulas.</a:t>
                </a:r>
                <a:endParaRPr sz="1600">
                  <a:solidFill>
                    <a:srgbClr val="3F3F3F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1547" name="Google Shape;1547;p57"/>
            <p:cNvGrpSpPr/>
            <p:nvPr/>
          </p:nvGrpSpPr>
          <p:grpSpPr>
            <a:xfrm>
              <a:off x="1037480" y="3380310"/>
              <a:ext cx="10087720" cy="668878"/>
              <a:chOff x="1037480" y="1944906"/>
              <a:chExt cx="10087720" cy="669484"/>
            </a:xfrm>
          </p:grpSpPr>
          <p:sp>
            <p:nvSpPr>
              <p:cNvPr id="1548" name="Google Shape;1548;p57"/>
              <p:cNvSpPr/>
              <p:nvPr/>
            </p:nvSpPr>
            <p:spPr>
              <a:xfrm>
                <a:off x="1187927" y="1944906"/>
                <a:ext cx="9937273" cy="669484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57"/>
              <p:cNvSpPr txBox="1"/>
              <p:nvPr/>
            </p:nvSpPr>
            <p:spPr>
              <a:xfrm>
                <a:off x="1590533" y="1988253"/>
                <a:ext cx="3213479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Basic Formulas</a:t>
                </a:r>
                <a:endParaRPr sz="1600">
                  <a:solidFill>
                    <a:srgbClr val="02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grpSp>
            <p:nvGrpSpPr>
              <p:cNvPr id="1550" name="Google Shape;1550;p57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551" name="Google Shape;1551;p57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2" name="Google Shape;1552;p5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3</a:t>
                  </a:r>
                  <a:endParaRPr/>
                </a:p>
              </p:txBody>
            </p:sp>
          </p:grpSp>
          <p:sp>
            <p:nvSpPr>
              <p:cNvPr id="1553" name="Google Shape;1553;p57"/>
              <p:cNvSpPr txBox="1"/>
              <p:nvPr/>
            </p:nvSpPr>
            <p:spPr>
              <a:xfrm>
                <a:off x="1590533" y="2246182"/>
                <a:ext cx="9070768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3F3F3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Functions like SUM, AVERAGE, COUNT, MIN, and MAX form the core of Excel analysis.</a:t>
                </a:r>
                <a:endParaRPr sz="1600">
                  <a:solidFill>
                    <a:srgbClr val="3F3F3F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1554" name="Google Shape;1554;p57"/>
            <p:cNvGrpSpPr/>
            <p:nvPr/>
          </p:nvGrpSpPr>
          <p:grpSpPr>
            <a:xfrm>
              <a:off x="1037480" y="4308465"/>
              <a:ext cx="10087720" cy="668878"/>
              <a:chOff x="1037480" y="1944906"/>
              <a:chExt cx="10087720" cy="669484"/>
            </a:xfrm>
          </p:grpSpPr>
          <p:sp>
            <p:nvSpPr>
              <p:cNvPr id="1555" name="Google Shape;1555;p57"/>
              <p:cNvSpPr/>
              <p:nvPr/>
            </p:nvSpPr>
            <p:spPr>
              <a:xfrm>
                <a:off x="1187927" y="1944906"/>
                <a:ext cx="9937273" cy="669484"/>
              </a:xfrm>
              <a:prstGeom prst="roundRect">
                <a:avLst>
                  <a:gd fmla="val 21261" name="adj"/>
                </a:avLst>
              </a:prstGeom>
              <a:solidFill>
                <a:srgbClr val="FFF9E5">
                  <a:alpha val="56078"/>
                </a:srgbClr>
              </a:solidFill>
              <a:ln cap="flat" cmpd="sng" w="9525">
                <a:solidFill>
                  <a:srgbClr val="8F7C0B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57"/>
              <p:cNvSpPr txBox="1"/>
              <p:nvPr/>
            </p:nvSpPr>
            <p:spPr>
              <a:xfrm>
                <a:off x="1590533" y="1988253"/>
                <a:ext cx="3213479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E5F0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Formatting &amp; Charts</a:t>
                </a:r>
                <a:endParaRPr sz="1600">
                  <a:solidFill>
                    <a:srgbClr val="6E5F08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grpSp>
            <p:nvGrpSpPr>
              <p:cNvPr id="1557" name="Google Shape;1557;p57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558" name="Google Shape;1558;p57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D1B90E"/>
                    </a:gs>
                    <a:gs pos="100000">
                      <a:srgbClr val="BBA50D"/>
                    </a:gs>
                  </a:gsLst>
                  <a:lin ang="8100000" scaled="0"/>
                </a:gradFill>
                <a:ln cap="flat" cmpd="sng" w="9525">
                  <a:solidFill>
                    <a:srgbClr val="FFC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9" name="Google Shape;1559;p5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560" name="Google Shape;1560;p57"/>
              <p:cNvSpPr txBox="1"/>
              <p:nvPr/>
            </p:nvSpPr>
            <p:spPr>
              <a:xfrm>
                <a:off x="1590533" y="2246182"/>
                <a:ext cx="9422460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3F3F3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Clean formatting and simple charts (Column, Line, Pie) make data easier to understand.</a:t>
                </a:r>
                <a:endParaRPr sz="1600">
                  <a:solidFill>
                    <a:srgbClr val="3F3F3F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1561" name="Google Shape;1561;p57"/>
            <p:cNvGrpSpPr/>
            <p:nvPr/>
          </p:nvGrpSpPr>
          <p:grpSpPr>
            <a:xfrm>
              <a:off x="1037480" y="5236623"/>
              <a:ext cx="10087720" cy="668878"/>
              <a:chOff x="1037480" y="1944906"/>
              <a:chExt cx="10087720" cy="669484"/>
            </a:xfrm>
          </p:grpSpPr>
          <p:sp>
            <p:nvSpPr>
              <p:cNvPr id="1562" name="Google Shape;1562;p57"/>
              <p:cNvSpPr/>
              <p:nvPr/>
            </p:nvSpPr>
            <p:spPr>
              <a:xfrm>
                <a:off x="1187927" y="1944906"/>
                <a:ext cx="9937273" cy="669484"/>
              </a:xfrm>
              <a:prstGeom prst="roundRect">
                <a:avLst>
                  <a:gd fmla="val 21261" name="adj"/>
                </a:avLst>
              </a:prstGeom>
              <a:solidFill>
                <a:srgbClr val="025698">
                  <a:alpha val="5098"/>
                </a:srgbClr>
              </a:solidFill>
              <a:ln cap="flat" cmpd="sng" w="9525">
                <a:solidFill>
                  <a:srgbClr val="0070C0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0" rotWithShape="0" algn="l" dist="38100">
                  <a:srgbClr val="000000">
                    <a:alpha val="1098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i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57"/>
              <p:cNvSpPr txBox="1"/>
              <p:nvPr/>
            </p:nvSpPr>
            <p:spPr>
              <a:xfrm>
                <a:off x="1590533" y="1988253"/>
                <a:ext cx="4217414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25698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Foundation for Advanced Analytics</a:t>
                </a:r>
                <a:endParaRPr sz="1600">
                  <a:solidFill>
                    <a:srgbClr val="025698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grpSp>
            <p:nvGrpSpPr>
              <p:cNvPr id="1564" name="Google Shape;1564;p57"/>
              <p:cNvGrpSpPr/>
              <p:nvPr/>
            </p:nvGrpSpPr>
            <p:grpSpPr>
              <a:xfrm>
                <a:off x="1037480" y="2094985"/>
                <a:ext cx="370342" cy="369331"/>
                <a:chOff x="897675" y="1686797"/>
                <a:chExt cx="542600" cy="606903"/>
              </a:xfrm>
            </p:grpSpPr>
            <p:sp>
              <p:nvSpPr>
                <p:cNvPr id="1565" name="Google Shape;1565;p57"/>
                <p:cNvSpPr/>
                <p:nvPr/>
              </p:nvSpPr>
              <p:spPr>
                <a:xfrm>
                  <a:off x="897675" y="1699312"/>
                  <a:ext cx="542600" cy="570850"/>
                </a:xfrm>
                <a:prstGeom prst="ellipse">
                  <a:avLst/>
                </a:prstGeom>
                <a:gradFill>
                  <a:gsLst>
                    <a:gs pos="0">
                      <a:srgbClr val="2C4283"/>
                    </a:gs>
                    <a:gs pos="100000">
                      <a:srgbClr val="025698"/>
                    </a:gs>
                  </a:gsLst>
                  <a:lin ang="8100000" scaled="0"/>
                </a:gradFill>
                <a:ln cap="flat" cmpd="sng" w="9525">
                  <a:solidFill>
                    <a:srgbClr val="1F5CA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700" rotWithShape="0" algn="tl" dir="2700000" dist="38100">
                    <a:srgbClr val="000000">
                      <a:alpha val="18824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6" name="Google Shape;1566;p57"/>
                <p:cNvSpPr txBox="1"/>
                <p:nvPr/>
              </p:nvSpPr>
              <p:spPr>
                <a:xfrm>
                  <a:off x="1054249" y="1686797"/>
                  <a:ext cx="240326" cy="60690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2700" rotWithShape="0" algn="t" dir="5400000" dist="127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5</a:t>
                  </a:r>
                  <a:endParaRPr/>
                </a:p>
              </p:txBody>
            </p:sp>
          </p:grpSp>
          <p:sp>
            <p:nvSpPr>
              <p:cNvPr id="1567" name="Google Shape;1567;p57"/>
              <p:cNvSpPr txBox="1"/>
              <p:nvPr/>
            </p:nvSpPr>
            <p:spPr>
              <a:xfrm>
                <a:off x="1590533" y="2246183"/>
                <a:ext cx="8055885" cy="33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3F3F3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Mastering basics prepares you for advanced features like Pivot Tables.</a:t>
                </a:r>
                <a:endParaRPr sz="1600">
                  <a:solidFill>
                    <a:srgbClr val="3F3F3F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Google Shape;1572;p58"/>
          <p:cNvPicPr preferRelativeResize="0"/>
          <p:nvPr/>
        </p:nvPicPr>
        <p:blipFill rotWithShape="1">
          <a:blip r:embed="rId4">
            <a:alphaModFix amt="88000"/>
          </a:blip>
          <a:srcRect b="19267" l="9184" r="9184" t="1926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58"/>
          <p:cNvPicPr preferRelativeResize="0"/>
          <p:nvPr/>
        </p:nvPicPr>
        <p:blipFill rotWithShape="1">
          <a:blip r:embed="rId5">
            <a:alphaModFix/>
          </a:blip>
          <a:srcRect b="35726" l="0" r="0" t="35727"/>
          <a:stretch/>
        </p:blipFill>
        <p:spPr>
          <a:xfrm>
            <a:off x="5249485" y="299260"/>
            <a:ext cx="1693030" cy="483281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58"/>
          <p:cNvSpPr/>
          <p:nvPr/>
        </p:nvSpPr>
        <p:spPr>
          <a:xfrm rot="4514344">
            <a:off x="-485851" y="-437646"/>
            <a:ext cx="1346298" cy="1346298"/>
          </a:xfrm>
          <a:prstGeom prst="ellipse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58"/>
          <p:cNvSpPr/>
          <p:nvPr/>
        </p:nvSpPr>
        <p:spPr>
          <a:xfrm rot="5793624">
            <a:off x="11000717" y="5918103"/>
            <a:ext cx="1668022" cy="1668022"/>
          </a:xfrm>
          <a:prstGeom prst="ellipse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58"/>
          <p:cNvSpPr/>
          <p:nvPr/>
        </p:nvSpPr>
        <p:spPr>
          <a:xfrm>
            <a:off x="10749165" y="-754019"/>
            <a:ext cx="2354219" cy="2354219"/>
          </a:xfrm>
          <a:prstGeom prst="ellipse">
            <a:avLst/>
          </a:prstGeom>
          <a:solidFill>
            <a:srgbClr val="00B0F0">
              <a:alpha val="1882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58"/>
          <p:cNvSpPr/>
          <p:nvPr/>
        </p:nvSpPr>
        <p:spPr>
          <a:xfrm>
            <a:off x="-783361" y="5216183"/>
            <a:ext cx="2400993" cy="2400993"/>
          </a:xfrm>
          <a:prstGeom prst="ellipse">
            <a:avLst/>
          </a:prstGeom>
          <a:solidFill>
            <a:srgbClr val="00B0F0">
              <a:alpha val="1882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8" name="Google Shape;1578;p58"/>
          <p:cNvGrpSpPr/>
          <p:nvPr/>
        </p:nvGrpSpPr>
        <p:grpSpPr>
          <a:xfrm>
            <a:off x="648220" y="1955106"/>
            <a:ext cx="10895560" cy="4364822"/>
            <a:chOff x="648220" y="1827784"/>
            <a:chExt cx="10895560" cy="4364822"/>
          </a:xfrm>
        </p:grpSpPr>
        <p:sp>
          <p:nvSpPr>
            <p:cNvPr id="1579" name="Google Shape;1579;p58"/>
            <p:cNvSpPr txBox="1"/>
            <p:nvPr/>
          </p:nvSpPr>
          <p:spPr>
            <a:xfrm>
              <a:off x="1902488" y="4014207"/>
              <a:ext cx="838702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“Excel Is Not Just About Numbers; It’s About Turning Raw Data Into Stories That Drive Decisions.”</a:t>
              </a:r>
              <a:endPara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grpSp>
          <p:nvGrpSpPr>
            <p:cNvPr id="1580" name="Google Shape;1580;p58"/>
            <p:cNvGrpSpPr/>
            <p:nvPr/>
          </p:nvGrpSpPr>
          <p:grpSpPr>
            <a:xfrm>
              <a:off x="1905965" y="1827784"/>
              <a:ext cx="8380071" cy="1871917"/>
              <a:chOff x="1870104" y="1827784"/>
              <a:chExt cx="8380071" cy="1871917"/>
            </a:xfrm>
          </p:grpSpPr>
          <p:sp>
            <p:nvSpPr>
              <p:cNvPr id="1581" name="Google Shape;1581;p58"/>
              <p:cNvSpPr txBox="1"/>
              <p:nvPr/>
            </p:nvSpPr>
            <p:spPr>
              <a:xfrm>
                <a:off x="1899385" y="1827784"/>
                <a:ext cx="8321509" cy="8686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0">
                    <a:solidFill>
                      <a:srgbClr val="FFE052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Thank You</a:t>
                </a:r>
                <a:endParaRPr sz="5400">
                  <a:solidFill>
                    <a:schemeClr val="lt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grpSp>
            <p:nvGrpSpPr>
              <p:cNvPr id="1582" name="Google Shape;1582;p58"/>
              <p:cNvGrpSpPr/>
              <p:nvPr/>
            </p:nvGrpSpPr>
            <p:grpSpPr>
              <a:xfrm>
                <a:off x="1870104" y="3053370"/>
                <a:ext cx="8380071" cy="646331"/>
                <a:chOff x="1863524" y="2857254"/>
                <a:chExt cx="8380071" cy="1040922"/>
              </a:xfrm>
            </p:grpSpPr>
            <p:sp>
              <p:nvSpPr>
                <p:cNvPr id="1583" name="Google Shape;1583;p58"/>
                <p:cNvSpPr/>
                <p:nvPr/>
              </p:nvSpPr>
              <p:spPr>
                <a:xfrm>
                  <a:off x="1863524" y="2926300"/>
                  <a:ext cx="8380071" cy="90282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FFF07B"/>
                    </a:gs>
                    <a:gs pos="50000">
                      <a:srgbClr val="FFF07B"/>
                    </a:gs>
                    <a:gs pos="100000">
                      <a:srgbClr val="FFE052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4" name="Google Shape;1584;p58"/>
                <p:cNvSpPr txBox="1"/>
                <p:nvPr/>
              </p:nvSpPr>
              <p:spPr>
                <a:xfrm>
                  <a:off x="2581154" y="2857254"/>
                  <a:ext cx="6944810" cy="1040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3600">
                      <a:solidFill>
                        <a:srgbClr val="262626"/>
                      </a:solidFill>
                      <a:latin typeface="Poppins ExtraBold"/>
                      <a:ea typeface="Poppins ExtraBold"/>
                      <a:cs typeface="Poppins ExtraBold"/>
                      <a:sym typeface="Poppins ExtraBold"/>
                    </a:rPr>
                    <a:t>For Attending The Session!!</a:t>
                  </a:r>
                  <a:endParaRPr sz="3600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585" name="Google Shape;1585;p58"/>
            <p:cNvSpPr txBox="1"/>
            <p:nvPr/>
          </p:nvSpPr>
          <p:spPr>
            <a:xfrm>
              <a:off x="648220" y="5669386"/>
              <a:ext cx="1089556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E052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Keep Learning, Keep Upskilling!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p14:dur="250">
        <p14:flythrough dir="ou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2026-01-15T09:42:20Z</dcterms:created>
  <dc:creator>PW MSO 431</dc:creator>
</cp:coreProperties>
</file>