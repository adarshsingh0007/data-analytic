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Lst>
  <p:sldSz cy="5143500" cx="9144000"/>
  <p:notesSz cx="6858000" cy="9144000"/>
  <p:embeddedFontLst>
    <p:embeddedFont>
      <p:font typeface="Montserrat SemiBold"/>
      <p:regular r:id="rId73"/>
      <p:bold r:id="rId74"/>
      <p:italic r:id="rId75"/>
      <p:boldItalic r:id="rId76"/>
    </p:embeddedFont>
    <p:embeddedFont>
      <p:font typeface="Roboto Mono SemiBold"/>
      <p:regular r:id="rId77"/>
      <p:bold r:id="rId78"/>
      <p:italic r:id="rId79"/>
      <p:boldItalic r:id="rId80"/>
    </p:embeddedFont>
    <p:embeddedFont>
      <p:font typeface="Montserrat"/>
      <p:regular r:id="rId81"/>
      <p:bold r:id="rId82"/>
      <p:italic r:id="rId83"/>
      <p:boldItalic r:id="rId84"/>
    </p:embeddedFont>
    <p:embeddedFont>
      <p:font typeface="DM Sans ExtraBold"/>
      <p:bold r:id="rId85"/>
      <p:boldItalic r:id="rId86"/>
    </p:embeddedFont>
    <p:embeddedFont>
      <p:font typeface="Assistant"/>
      <p:regular r:id="rId87"/>
      <p:bold r:id="rId88"/>
    </p:embeddedFont>
    <p:embeddedFont>
      <p:font typeface="DM Sans SemiBold"/>
      <p:regular r:id="rId89"/>
      <p:bold r:id="rId90"/>
      <p:italic r:id="rId91"/>
      <p:boldItalic r:id="rId92"/>
    </p:embeddedFont>
    <p:embeddedFont>
      <p:font typeface="Lexend"/>
      <p:regular r:id="rId93"/>
      <p:bold r:id="rId94"/>
    </p:embeddedFont>
    <p:embeddedFont>
      <p:font typeface="Roboto Mono"/>
      <p:regular r:id="rId95"/>
      <p:bold r:id="rId96"/>
      <p:italic r:id="rId97"/>
      <p:boldItalic r:id="rId98"/>
    </p:embeddedFont>
    <p:embeddedFont>
      <p:font typeface="DM Sans"/>
      <p:regular r:id="rId99"/>
      <p:bold r:id="rId100"/>
      <p:italic r:id="rId101"/>
      <p:boldItalic r:id="rId10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63C044-64AD-4526-8368-3DBAC99FAD4E}">
  <a:tblStyle styleId="{1763C044-64AD-4526-8368-3DBAC99FAD4E}" styleName="Table_0">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190B458-1E71-4F2B-88B4-514E9524A88F}"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28F9DCA-0460-4D59-A6E1-1A3F3D8E0558}"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2" Type="http://schemas.openxmlformats.org/officeDocument/2006/relationships/font" Target="fonts/DMSans-boldItalic.fntdata"/><Relationship Id="rId101" Type="http://schemas.openxmlformats.org/officeDocument/2006/relationships/font" Target="fonts/DMSans-italic.fntdata"/><Relationship Id="rId100" Type="http://schemas.openxmlformats.org/officeDocument/2006/relationships/font" Target="fonts/DMSans-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RobotoMono-regular.fntdata"/><Relationship Id="rId94" Type="http://schemas.openxmlformats.org/officeDocument/2006/relationships/font" Target="fonts/Lexend-bold.fntdata"/><Relationship Id="rId97" Type="http://schemas.openxmlformats.org/officeDocument/2006/relationships/font" Target="fonts/RobotoMono-italic.fntdata"/><Relationship Id="rId96" Type="http://schemas.openxmlformats.org/officeDocument/2006/relationships/font" Target="fonts/RobotoMono-bold.fntdata"/><Relationship Id="rId11" Type="http://schemas.openxmlformats.org/officeDocument/2006/relationships/slide" Target="slides/slide5.xml"/><Relationship Id="rId99" Type="http://schemas.openxmlformats.org/officeDocument/2006/relationships/font" Target="fonts/DMSans-regular.fntdata"/><Relationship Id="rId10" Type="http://schemas.openxmlformats.org/officeDocument/2006/relationships/slide" Target="slides/slide4.xml"/><Relationship Id="rId98" Type="http://schemas.openxmlformats.org/officeDocument/2006/relationships/font" Target="fonts/RobotoMono-bold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DMSansSemiBold-italic.fntdata"/><Relationship Id="rId90" Type="http://schemas.openxmlformats.org/officeDocument/2006/relationships/font" Target="fonts/DMSansSemiBold-bold.fntdata"/><Relationship Id="rId93" Type="http://schemas.openxmlformats.org/officeDocument/2006/relationships/font" Target="fonts/Lexend-regular.fntdata"/><Relationship Id="rId92" Type="http://schemas.openxmlformats.org/officeDocument/2006/relationships/font" Target="fonts/DMSansSemiBold-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Montserrat-boldItalic.fntdata"/><Relationship Id="rId83" Type="http://schemas.openxmlformats.org/officeDocument/2006/relationships/font" Target="fonts/Montserrat-italic.fntdata"/><Relationship Id="rId86" Type="http://schemas.openxmlformats.org/officeDocument/2006/relationships/font" Target="fonts/DMSansExtraBold-boldItalic.fntdata"/><Relationship Id="rId85" Type="http://schemas.openxmlformats.org/officeDocument/2006/relationships/font" Target="fonts/DMSansExtraBold-bold.fntdata"/><Relationship Id="rId88" Type="http://schemas.openxmlformats.org/officeDocument/2006/relationships/font" Target="fonts/Assistant-bold.fntdata"/><Relationship Id="rId87" Type="http://schemas.openxmlformats.org/officeDocument/2006/relationships/font" Target="fonts/Assistant-regular.fntdata"/><Relationship Id="rId89" Type="http://schemas.openxmlformats.org/officeDocument/2006/relationships/font" Target="fonts/DMSansSemiBold-regular.fntdata"/><Relationship Id="rId80" Type="http://schemas.openxmlformats.org/officeDocument/2006/relationships/font" Target="fonts/RobotoMonoSemiBold-boldItalic.fntdata"/><Relationship Id="rId82" Type="http://schemas.openxmlformats.org/officeDocument/2006/relationships/font" Target="fonts/Montserrat-bold.fntdata"/><Relationship Id="rId81"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MontserratSemiBold-regular.fntdata"/><Relationship Id="rId72" Type="http://schemas.openxmlformats.org/officeDocument/2006/relationships/slide" Target="slides/slide66.xml"/><Relationship Id="rId75" Type="http://schemas.openxmlformats.org/officeDocument/2006/relationships/font" Target="fonts/MontserratSemiBold-italic.fntdata"/><Relationship Id="rId74" Type="http://schemas.openxmlformats.org/officeDocument/2006/relationships/font" Target="fonts/MontserratSemiBold-bold.fntdata"/><Relationship Id="rId77" Type="http://schemas.openxmlformats.org/officeDocument/2006/relationships/font" Target="fonts/RobotoMonoSemiBold-regular.fntdata"/><Relationship Id="rId76" Type="http://schemas.openxmlformats.org/officeDocument/2006/relationships/font" Target="fonts/MontserratSemiBold-boldItalic.fntdata"/><Relationship Id="rId79" Type="http://schemas.openxmlformats.org/officeDocument/2006/relationships/font" Target="fonts/RobotoMonoSemiBold-italic.fntdata"/><Relationship Id="rId78" Type="http://schemas.openxmlformats.org/officeDocument/2006/relationships/font" Target="fonts/RobotoMonoSemiBold-bold.fntdata"/><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76debfee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76debfee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76debfee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76debfee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76debfee9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76debfee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76debfee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76debfee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76debfee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76debfee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76debfee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76debfee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76debfee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76debfee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e76debfee9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e76debfee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76debfee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e76debfee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76debfee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76debfee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76debfee9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76debfee9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76debfee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76debfee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76debfee9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76debfee9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76debfee9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3e76debfee9_1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76debfee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e76debfee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76debfee9_1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e76debfee9_1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76debfee9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76debfee9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76debfee9_2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76debfee9_2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76debfee9_2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e76debfee9_2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e76debfee9_2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e76debfee9_2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76debfee9_2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76debfee9_2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e76debfee9_2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e76debfee9_2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e76debfee9_2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e76debfee9_2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6debfee9_2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e76debfee9_2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76debfee9_2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76debfee9_2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e76debfee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e76debfee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e76debfee9_2_1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e76debfee9_2_1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e76debfee9_2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3e76debfee9_2_3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e76debfee9_2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3e76debfee9_2_4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76debfee9_2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3e76debfee9_2_4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e76debfee9_2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3e76debfee9_2_4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76debfee9_2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3e76debfee9_2_4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e76debfee9_2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3e76debfee9_2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76debfee9_2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3e76debfee9_2_4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e76debfee9_2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e76debfee9_2_4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76debfee9_2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3e76debfee9_2_5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e76debfee9_2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3e76debfee9_2_5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76debfee9_2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g3e76debfee9_2_5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76debfee9_2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3e76debfee9_2_5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76debfee9_2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3e76debfee9_2_5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e76debfee9_2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3e76debfee9_2_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e76debfee9_2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g3e76debfee9_2_5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e76debfee9_2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g3e76debfee9_2_6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e76debfee9_2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g3e76debfee9_2_6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e76debfee9_2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g3e76debfee9_2_6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e76debfee9_2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g3e76debfee9_2_7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e76debfee9_2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g3e76debfee9_2_7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e76debfee9_2_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3e76debfee9_2_7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e76debfee9_2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3e76debfee9_2_7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76debfee9_2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3e76debfee9_2_7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e76debfee9_2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g3e76debfee9_2_8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e76debfee9_2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g3e76debfee9_2_8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e76debfee9_2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g3e76debfee9_2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e76debfee9_2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g3e76debfee9_2_8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e76debfee9_2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g3e76debfee9_2_8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e76debfee9_2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g3e76debfee9_2_8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e76debfee9_2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g3e76debfee9_2_8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e76debfee9_2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7" name="Google Shape;477;g3e76debfee9_2_8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e76debfee9_2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g3e76debfee9_2_8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e76debfee9_2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g3e76debfee9_2_8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809f0493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e809f0493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e809f0493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e809f0493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e809f0493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e809f0493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e809f0493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e809f0493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e809f0493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e809f0493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3861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3200">
                <a:latin typeface="DM Sans"/>
                <a:ea typeface="DM Sans"/>
                <a:cs typeface="DM Sans"/>
                <a:sym typeface="DM Sans"/>
              </a:rPr>
              <a:t>Excel Functions – Logical, Text &amp; Date-Time Functions </a:t>
            </a:r>
            <a:endParaRPr b="1" sz="3200">
              <a:latin typeface="DM Sans"/>
              <a:ea typeface="DM Sans"/>
              <a:cs typeface="DM Sans"/>
              <a:sym typeface="DM Sans"/>
            </a:endParaRPr>
          </a:p>
        </p:txBody>
      </p:sp>
      <p:sp>
        <p:nvSpPr>
          <p:cNvPr id="55" name="Google Shape;55;p13"/>
          <p:cNvSpPr txBox="1"/>
          <p:nvPr>
            <p:ph idx="1" type="subTitle"/>
          </p:nvPr>
        </p:nvSpPr>
        <p:spPr>
          <a:xfrm>
            <a:off x="311700" y="2834125"/>
            <a:ext cx="4748400" cy="792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i="1" lang="en" sz="1700">
                <a:latin typeface="DM Sans"/>
                <a:ea typeface="DM Sans"/>
                <a:cs typeface="DM Sans"/>
                <a:sym typeface="DM Sans"/>
              </a:rPr>
              <a:t>Data Analytics</a:t>
            </a:r>
            <a:endParaRPr b="1" i="1" sz="1700">
              <a:latin typeface="DM Sans"/>
              <a:ea typeface="DM Sans"/>
              <a:cs typeface="DM Sans"/>
              <a:sym typeface="DM Sans"/>
            </a:endParaRPr>
          </a:p>
        </p:txBody>
      </p:sp>
      <p:pic>
        <p:nvPicPr>
          <p:cNvPr id="56" name="Google Shape;56;p13"/>
          <p:cNvPicPr preferRelativeResize="0"/>
          <p:nvPr/>
        </p:nvPicPr>
        <p:blipFill>
          <a:blip r:embed="rId3">
            <a:alphaModFix/>
          </a:blip>
          <a:stretch>
            <a:fillRect/>
          </a:stretch>
        </p:blipFill>
        <p:spPr>
          <a:xfrm>
            <a:off x="4118025" y="652325"/>
            <a:ext cx="4748400" cy="3561300"/>
          </a:xfrm>
          <a:prstGeom prst="roundRect">
            <a:avLst>
              <a:gd fmla="val 10632"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2500">
                <a:latin typeface="DM Sans"/>
                <a:ea typeface="DM Sans"/>
                <a:cs typeface="DM Sans"/>
                <a:sym typeface="DM Sans"/>
              </a:rPr>
              <a:t>Learning Objectives</a:t>
            </a:r>
            <a:endParaRPr sz="2500">
              <a:latin typeface="DM Sans"/>
              <a:ea typeface="DM Sans"/>
              <a:cs typeface="DM Sans"/>
              <a:sym typeface="DM Sans"/>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0"/>
              </a:spcAft>
              <a:buClr>
                <a:schemeClr val="dk1"/>
              </a:buClr>
              <a:buSzPts val="1100"/>
              <a:buFont typeface="Arial"/>
              <a:buNone/>
            </a:pPr>
            <a:r>
              <a:rPr lang="en" sz="1300">
                <a:solidFill>
                  <a:schemeClr val="dk1"/>
                </a:solidFill>
                <a:latin typeface="DM Sans"/>
                <a:ea typeface="DM Sans"/>
                <a:cs typeface="DM Sans"/>
                <a:sym typeface="DM Sans"/>
              </a:rPr>
              <a:t>By the end of this session, learners will be able to:</a:t>
            </a:r>
            <a:endParaRPr sz="1300">
              <a:solidFill>
                <a:schemeClr val="dk1"/>
              </a:solidFill>
              <a:latin typeface="DM Sans"/>
              <a:ea typeface="DM Sans"/>
              <a:cs typeface="DM Sans"/>
              <a:sym typeface="DM Sans"/>
            </a:endParaRPr>
          </a:p>
          <a:p>
            <a:pPr indent="-311150" lvl="0" marL="457200" rtl="0" algn="l">
              <a:lnSpc>
                <a:spcPct val="100000"/>
              </a:lnSpc>
              <a:spcBef>
                <a:spcPts val="12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Understand and apply logical functions (IF, AND, OR)</a:t>
            </a:r>
            <a:endParaRPr sz="1300">
              <a:solidFill>
                <a:schemeClr val="dk1"/>
              </a:solidFill>
              <a:latin typeface="DM Sans"/>
              <a:ea typeface="DM Sans"/>
              <a:cs typeface="DM Sans"/>
              <a:sym typeface="DM Sans"/>
            </a:endParaRPr>
          </a:p>
          <a:p>
            <a:pPr indent="-311150" lvl="0" marL="457200" rtl="0" algn="l">
              <a:lnSpc>
                <a:spcPct val="100000"/>
              </a:lnSpc>
              <a:spcBef>
                <a:spcPts val="10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Use nested functions for complex decision-making</a:t>
            </a:r>
            <a:endParaRPr sz="1300">
              <a:solidFill>
                <a:schemeClr val="dk1"/>
              </a:solidFill>
              <a:latin typeface="DM Sans"/>
              <a:ea typeface="DM Sans"/>
              <a:cs typeface="DM Sans"/>
              <a:sym typeface="DM Sans"/>
            </a:endParaRPr>
          </a:p>
          <a:p>
            <a:pPr indent="-311150" lvl="0" marL="457200" rtl="0" algn="l">
              <a:lnSpc>
                <a:spcPct val="100000"/>
              </a:lnSpc>
              <a:spcBef>
                <a:spcPts val="10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Perform text manipulation using Excel functions</a:t>
            </a:r>
            <a:endParaRPr sz="1300">
              <a:solidFill>
                <a:schemeClr val="dk1"/>
              </a:solidFill>
              <a:latin typeface="DM Sans"/>
              <a:ea typeface="DM Sans"/>
              <a:cs typeface="DM Sans"/>
              <a:sym typeface="DM Sans"/>
            </a:endParaRPr>
          </a:p>
          <a:p>
            <a:pPr indent="-311150" lvl="0" marL="457200" rtl="0" algn="l">
              <a:lnSpc>
                <a:spcPct val="100000"/>
              </a:lnSpc>
              <a:spcBef>
                <a:spcPts val="10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Clean and format textual data</a:t>
            </a:r>
            <a:endParaRPr sz="1300">
              <a:solidFill>
                <a:schemeClr val="dk1"/>
              </a:solidFill>
              <a:latin typeface="DM Sans"/>
              <a:ea typeface="DM Sans"/>
              <a:cs typeface="DM Sans"/>
              <a:sym typeface="DM Sans"/>
            </a:endParaRPr>
          </a:p>
          <a:p>
            <a:pPr indent="-311150" lvl="0" marL="457200" rtl="0" algn="l">
              <a:lnSpc>
                <a:spcPct val="100000"/>
              </a:lnSpc>
              <a:spcBef>
                <a:spcPts val="10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Work with date and time functions in Excel</a:t>
            </a:r>
            <a:endParaRPr sz="1300">
              <a:solidFill>
                <a:schemeClr val="dk1"/>
              </a:solidFill>
              <a:latin typeface="DM Sans"/>
              <a:ea typeface="DM Sans"/>
              <a:cs typeface="DM Sans"/>
              <a:sym typeface="DM Sans"/>
            </a:endParaRPr>
          </a:p>
          <a:p>
            <a:pPr indent="-311150" lvl="0" marL="457200" rtl="0" algn="l">
              <a:lnSpc>
                <a:spcPct val="100000"/>
              </a:lnSpc>
              <a:spcBef>
                <a:spcPts val="1000"/>
              </a:spcBef>
              <a:spcAft>
                <a:spcPts val="1000"/>
              </a:spcAft>
              <a:buClr>
                <a:schemeClr val="dk1"/>
              </a:buClr>
              <a:buSzPts val="1300"/>
              <a:buFont typeface="DM Sans"/>
              <a:buChar char="●"/>
            </a:pPr>
            <a:r>
              <a:rPr lang="en" sz="1300">
                <a:solidFill>
                  <a:schemeClr val="dk1"/>
                </a:solidFill>
                <a:latin typeface="DM Sans"/>
                <a:ea typeface="DM Sans"/>
                <a:cs typeface="DM Sans"/>
                <a:sym typeface="DM Sans"/>
              </a:rPr>
              <a:t>Perform calculations using date-based functions</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600"/>
              </a:spcBef>
              <a:spcAft>
                <a:spcPts val="400"/>
              </a:spcAft>
              <a:buClr>
                <a:schemeClr val="dk1"/>
              </a:buClr>
              <a:buSzPts val="1100"/>
              <a:buFont typeface="Arial"/>
              <a:buNone/>
            </a:pPr>
            <a:r>
              <a:rPr b="1" lang="en" sz="2500">
                <a:latin typeface="DM Sans"/>
                <a:ea typeface="DM Sans"/>
                <a:cs typeface="DM Sans"/>
                <a:sym typeface="DM Sans"/>
              </a:rPr>
              <a:t>Schedule Breakup</a:t>
            </a:r>
            <a:endParaRPr sz="2500">
              <a:latin typeface="DM Sans"/>
              <a:ea typeface="DM Sans"/>
              <a:cs typeface="DM Sans"/>
              <a:sym typeface="DM Sans"/>
            </a:endParaRPr>
          </a:p>
        </p:txBody>
      </p:sp>
      <p:graphicFrame>
        <p:nvGraphicFramePr>
          <p:cNvPr id="68" name="Google Shape;68;p15"/>
          <p:cNvGraphicFramePr/>
          <p:nvPr/>
        </p:nvGraphicFramePr>
        <p:xfrm>
          <a:off x="311700" y="1195750"/>
          <a:ext cx="3000000" cy="3000000"/>
        </p:xfrm>
        <a:graphic>
          <a:graphicData uri="http://schemas.openxmlformats.org/drawingml/2006/table">
            <a:tbl>
              <a:tblPr>
                <a:noFill/>
                <a:tableStyleId>{1763C044-64AD-4526-8368-3DBAC99FAD4E}</a:tableStyleId>
              </a:tblPr>
              <a:tblGrid>
                <a:gridCol w="2038350"/>
                <a:gridCol w="4791075"/>
              </a:tblGrid>
              <a:tr h="317500">
                <a:tc>
                  <a:txBody>
                    <a:bodyPr/>
                    <a:lstStyle/>
                    <a:p>
                      <a:pPr indent="0" lvl="0" marL="0" rtl="0" algn="ctr">
                        <a:lnSpc>
                          <a:spcPct val="115000"/>
                        </a:lnSpc>
                        <a:spcBef>
                          <a:spcPts val="0"/>
                        </a:spcBef>
                        <a:spcAft>
                          <a:spcPts val="0"/>
                        </a:spcAft>
                        <a:buNone/>
                      </a:pPr>
                      <a:r>
                        <a:rPr b="1" lang="en" sz="1300">
                          <a:latin typeface="DM Sans"/>
                          <a:ea typeface="DM Sans"/>
                          <a:cs typeface="DM Sans"/>
                          <a:sym typeface="DM Sans"/>
                        </a:rPr>
                        <a:t>Section</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1300">
                          <a:latin typeface="DM Sans"/>
                          <a:ea typeface="DM Sans"/>
                          <a:cs typeface="DM Sans"/>
                          <a:sym typeface="DM Sans"/>
                        </a:rPr>
                        <a:t>Duration</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A4C2F4"/>
                    </a:solidFill>
                  </a:tcPr>
                </a:tc>
              </a:tr>
              <a:tr h="317500">
                <a:tc>
                  <a:txBody>
                    <a:bodyPr/>
                    <a:lstStyle/>
                    <a:p>
                      <a:pPr indent="0" lvl="0" marL="0" rtl="0" algn="l">
                        <a:lnSpc>
                          <a:spcPct val="115000"/>
                        </a:lnSpc>
                        <a:spcBef>
                          <a:spcPts val="0"/>
                        </a:spcBef>
                        <a:spcAft>
                          <a:spcPts val="0"/>
                        </a:spcAft>
                        <a:buNone/>
                      </a:pPr>
                      <a:r>
                        <a:rPr b="1" lang="en" sz="1300">
                          <a:latin typeface="DM Sans"/>
                          <a:ea typeface="DM Sans"/>
                          <a:cs typeface="DM Sans"/>
                          <a:sym typeface="DM Sans"/>
                        </a:rPr>
                        <a:t>Introduction</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300">
                          <a:latin typeface="DM Sans"/>
                          <a:ea typeface="DM Sans"/>
                          <a:cs typeface="DM Sans"/>
                          <a:sym typeface="DM Sans"/>
                        </a:rPr>
                        <a:t>10 mins</a:t>
                      </a:r>
                      <a:endParaRPr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500">
                <a:tc>
                  <a:txBody>
                    <a:bodyPr/>
                    <a:lstStyle/>
                    <a:p>
                      <a:pPr indent="0" lvl="0" marL="0" rtl="0" algn="l">
                        <a:lnSpc>
                          <a:spcPct val="115000"/>
                        </a:lnSpc>
                        <a:spcBef>
                          <a:spcPts val="0"/>
                        </a:spcBef>
                        <a:spcAft>
                          <a:spcPts val="0"/>
                        </a:spcAft>
                        <a:buNone/>
                      </a:pPr>
                      <a:r>
                        <a:rPr b="1" lang="en" sz="1300">
                          <a:latin typeface="DM Sans"/>
                          <a:ea typeface="DM Sans"/>
                          <a:cs typeface="DM Sans"/>
                          <a:sym typeface="DM Sans"/>
                        </a:rPr>
                        <a:t>Logical Functions </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300">
                          <a:latin typeface="DM Sans"/>
                          <a:ea typeface="DM Sans"/>
                          <a:cs typeface="DM Sans"/>
                          <a:sym typeface="DM Sans"/>
                        </a:rPr>
                        <a:t>40 mins</a:t>
                      </a:r>
                      <a:endParaRPr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500">
                <a:tc>
                  <a:txBody>
                    <a:bodyPr/>
                    <a:lstStyle/>
                    <a:p>
                      <a:pPr indent="0" lvl="0" marL="0" rtl="0" algn="l">
                        <a:lnSpc>
                          <a:spcPct val="115000"/>
                        </a:lnSpc>
                        <a:spcBef>
                          <a:spcPts val="0"/>
                        </a:spcBef>
                        <a:spcAft>
                          <a:spcPts val="0"/>
                        </a:spcAft>
                        <a:buNone/>
                      </a:pPr>
                      <a:r>
                        <a:rPr b="1" lang="en" sz="1300">
                          <a:latin typeface="DM Sans"/>
                          <a:ea typeface="DM Sans"/>
                          <a:cs typeface="DM Sans"/>
                          <a:sym typeface="DM Sans"/>
                        </a:rPr>
                        <a:t>Nested Functions </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300">
                          <a:latin typeface="DM Sans"/>
                          <a:ea typeface="DM Sans"/>
                          <a:cs typeface="DM Sans"/>
                          <a:sym typeface="DM Sans"/>
                        </a:rPr>
                        <a:t>35 mins</a:t>
                      </a:r>
                      <a:endParaRPr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500">
                <a:tc>
                  <a:txBody>
                    <a:bodyPr/>
                    <a:lstStyle/>
                    <a:p>
                      <a:pPr indent="0" lvl="0" marL="0" rtl="0" algn="l">
                        <a:lnSpc>
                          <a:spcPct val="115000"/>
                        </a:lnSpc>
                        <a:spcBef>
                          <a:spcPts val="0"/>
                        </a:spcBef>
                        <a:spcAft>
                          <a:spcPts val="0"/>
                        </a:spcAft>
                        <a:buNone/>
                      </a:pPr>
                      <a:r>
                        <a:rPr b="1" lang="en" sz="1300">
                          <a:latin typeface="DM Sans"/>
                          <a:ea typeface="DM Sans"/>
                          <a:cs typeface="DM Sans"/>
                          <a:sym typeface="DM Sans"/>
                        </a:rPr>
                        <a:t>Break</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300">
                          <a:latin typeface="DM Sans"/>
                          <a:ea typeface="DM Sans"/>
                          <a:cs typeface="DM Sans"/>
                          <a:sym typeface="DM Sans"/>
                        </a:rPr>
                        <a:t>10 mins</a:t>
                      </a:r>
                      <a:endParaRPr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500">
                <a:tc>
                  <a:txBody>
                    <a:bodyPr/>
                    <a:lstStyle/>
                    <a:p>
                      <a:pPr indent="0" lvl="0" marL="0" rtl="0" algn="l">
                        <a:lnSpc>
                          <a:spcPct val="115000"/>
                        </a:lnSpc>
                        <a:spcBef>
                          <a:spcPts val="0"/>
                        </a:spcBef>
                        <a:spcAft>
                          <a:spcPts val="0"/>
                        </a:spcAft>
                        <a:buNone/>
                      </a:pPr>
                      <a:r>
                        <a:rPr b="1" lang="en" sz="1300">
                          <a:latin typeface="DM Sans"/>
                          <a:ea typeface="DM Sans"/>
                          <a:cs typeface="DM Sans"/>
                          <a:sym typeface="DM Sans"/>
                        </a:rPr>
                        <a:t>Text Functions </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300">
                          <a:latin typeface="DM Sans"/>
                          <a:ea typeface="DM Sans"/>
                          <a:cs typeface="DM Sans"/>
                          <a:sym typeface="DM Sans"/>
                        </a:rPr>
                        <a:t>35 mins</a:t>
                      </a:r>
                      <a:endParaRPr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500">
                <a:tc>
                  <a:txBody>
                    <a:bodyPr/>
                    <a:lstStyle/>
                    <a:p>
                      <a:pPr indent="0" lvl="0" marL="0" rtl="0" algn="l">
                        <a:lnSpc>
                          <a:spcPct val="115000"/>
                        </a:lnSpc>
                        <a:spcBef>
                          <a:spcPts val="0"/>
                        </a:spcBef>
                        <a:spcAft>
                          <a:spcPts val="0"/>
                        </a:spcAft>
                        <a:buNone/>
                      </a:pPr>
                      <a:r>
                        <a:rPr b="1" lang="en" sz="1300">
                          <a:latin typeface="DM Sans"/>
                          <a:ea typeface="DM Sans"/>
                          <a:cs typeface="DM Sans"/>
                          <a:sym typeface="DM Sans"/>
                        </a:rPr>
                        <a:t>Date-Time Functions </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300">
                          <a:latin typeface="DM Sans"/>
                          <a:ea typeface="DM Sans"/>
                          <a:cs typeface="DM Sans"/>
                          <a:sym typeface="DM Sans"/>
                        </a:rPr>
                        <a:t>25 mins</a:t>
                      </a:r>
                      <a:endParaRPr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500">
                <a:tc>
                  <a:txBody>
                    <a:bodyPr/>
                    <a:lstStyle/>
                    <a:p>
                      <a:pPr indent="0" lvl="0" marL="0" rtl="0" algn="l">
                        <a:lnSpc>
                          <a:spcPct val="115000"/>
                        </a:lnSpc>
                        <a:spcBef>
                          <a:spcPts val="0"/>
                        </a:spcBef>
                        <a:spcAft>
                          <a:spcPts val="0"/>
                        </a:spcAft>
                        <a:buNone/>
                      </a:pPr>
                      <a:r>
                        <a:rPr b="1" lang="en" sz="1300">
                          <a:latin typeface="DM Sans"/>
                          <a:ea typeface="DM Sans"/>
                          <a:cs typeface="DM Sans"/>
                          <a:sym typeface="DM Sans"/>
                        </a:rPr>
                        <a:t>Doubt Resolution</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300">
                          <a:latin typeface="DM Sans"/>
                          <a:ea typeface="DM Sans"/>
                          <a:cs typeface="DM Sans"/>
                          <a:sym typeface="DM Sans"/>
                        </a:rPr>
                        <a:t>15 mins</a:t>
                      </a:r>
                      <a:endParaRPr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500">
                <a:tc>
                  <a:txBody>
                    <a:bodyPr/>
                    <a:lstStyle/>
                    <a:p>
                      <a:pPr indent="0" lvl="0" marL="0" rtl="0" algn="l">
                        <a:lnSpc>
                          <a:spcPct val="115000"/>
                        </a:lnSpc>
                        <a:spcBef>
                          <a:spcPts val="0"/>
                        </a:spcBef>
                        <a:spcAft>
                          <a:spcPts val="0"/>
                        </a:spcAft>
                        <a:buNone/>
                      </a:pPr>
                      <a:r>
                        <a:rPr b="1" lang="en" sz="1300">
                          <a:latin typeface="DM Sans"/>
                          <a:ea typeface="DM Sans"/>
                          <a:cs typeface="DM Sans"/>
                          <a:sym typeface="DM Sans"/>
                        </a:rPr>
                        <a:t>Wrap-up</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300">
                          <a:latin typeface="DM Sans"/>
                          <a:ea typeface="DM Sans"/>
                          <a:cs typeface="DM Sans"/>
                          <a:sym typeface="DM Sans"/>
                        </a:rPr>
                        <a:t>10 mins</a:t>
                      </a:r>
                      <a:endParaRPr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500">
                <a:tc>
                  <a:txBody>
                    <a:bodyPr/>
                    <a:lstStyle/>
                    <a:p>
                      <a:pPr indent="0" lvl="0" marL="0" rtl="0" algn="l">
                        <a:lnSpc>
                          <a:spcPct val="115000"/>
                        </a:lnSpc>
                        <a:spcBef>
                          <a:spcPts val="0"/>
                        </a:spcBef>
                        <a:spcAft>
                          <a:spcPts val="0"/>
                        </a:spcAft>
                        <a:buNone/>
                      </a:pPr>
                      <a:r>
                        <a:rPr b="1" lang="en" sz="1300">
                          <a:latin typeface="DM Sans"/>
                          <a:ea typeface="DM Sans"/>
                          <a:cs typeface="DM Sans"/>
                          <a:sym typeface="DM Sans"/>
                        </a:rPr>
                        <a:t>Total</a:t>
                      </a:r>
                      <a:endParaRPr b="1"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CB9C"/>
                    </a:solidFill>
                  </a:tcPr>
                </a:tc>
                <a:tc>
                  <a:txBody>
                    <a:bodyPr/>
                    <a:lstStyle/>
                    <a:p>
                      <a:pPr indent="0" lvl="0" marL="0" rtl="0" algn="l">
                        <a:lnSpc>
                          <a:spcPct val="115000"/>
                        </a:lnSpc>
                        <a:spcBef>
                          <a:spcPts val="0"/>
                        </a:spcBef>
                        <a:spcAft>
                          <a:spcPts val="0"/>
                        </a:spcAft>
                        <a:buNone/>
                      </a:pPr>
                      <a:r>
                        <a:rPr lang="en" sz="1300">
                          <a:latin typeface="DM Sans"/>
                          <a:ea typeface="DM Sans"/>
                          <a:cs typeface="DM Sans"/>
                          <a:sym typeface="DM Sans"/>
                        </a:rPr>
                        <a:t>180 mins (3 hrs)</a:t>
                      </a:r>
                      <a:endParaRPr sz="1300">
                        <a:latin typeface="DM Sans"/>
                        <a:ea typeface="DM Sans"/>
                        <a:cs typeface="DM Sans"/>
                        <a:sym typeface="DM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CB9C"/>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DM Sans"/>
                <a:ea typeface="DM Sans"/>
                <a:cs typeface="DM Sans"/>
                <a:sym typeface="DM Sans"/>
              </a:rPr>
              <a:t>Logical Functions</a:t>
            </a:r>
            <a:endParaRPr b="1">
              <a:latin typeface="DM Sans"/>
              <a:ea typeface="DM Sans"/>
              <a:cs typeface="DM Sans"/>
              <a:sym typeface="DM Sans"/>
            </a:endParaRPr>
          </a:p>
        </p:txBody>
      </p:sp>
      <p:sp>
        <p:nvSpPr>
          <p:cNvPr id="74" name="Google Shape;74;p16"/>
          <p:cNvSpPr txBox="1"/>
          <p:nvPr>
            <p:ph idx="1" type="body"/>
          </p:nvPr>
        </p:nvSpPr>
        <p:spPr>
          <a:xfrm>
            <a:off x="311700" y="1152475"/>
            <a:ext cx="3289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400">
                <a:solidFill>
                  <a:srgbClr val="000000"/>
                </a:solidFill>
                <a:latin typeface="DM Sans"/>
                <a:ea typeface="DM Sans"/>
                <a:cs typeface="DM Sans"/>
                <a:sym typeface="DM Sans"/>
              </a:rPr>
              <a:t>What are Logical Functions?</a:t>
            </a:r>
            <a:endParaRPr b="1" sz="1400">
              <a:solidFill>
                <a:srgbClr val="000000"/>
              </a:solidFill>
              <a:latin typeface="DM Sans"/>
              <a:ea typeface="DM Sans"/>
              <a:cs typeface="DM Sans"/>
              <a:sym typeface="DM Sans"/>
            </a:endParaRPr>
          </a:p>
          <a:p>
            <a:pPr indent="-317500" lvl="0" marL="457200" rtl="0" algn="l">
              <a:spcBef>
                <a:spcPts val="1200"/>
              </a:spcBef>
              <a:spcAft>
                <a:spcPts val="0"/>
              </a:spcAft>
              <a:buClr>
                <a:srgbClr val="000000"/>
              </a:buClr>
              <a:buSzPts val="1400"/>
              <a:buFont typeface="DM Sans"/>
              <a:buChar char="●"/>
            </a:pPr>
            <a:r>
              <a:rPr lang="en" sz="1400">
                <a:solidFill>
                  <a:srgbClr val="000000"/>
                </a:solidFill>
                <a:latin typeface="DM Sans"/>
                <a:ea typeface="DM Sans"/>
                <a:cs typeface="DM Sans"/>
                <a:sym typeface="DM Sans"/>
              </a:rPr>
              <a:t>Logical functions evaluate conditions and return TRUE or FALSE.</a:t>
            </a:r>
            <a:endParaRPr sz="1400">
              <a:solidFill>
                <a:srgbClr val="000000"/>
              </a:solidFill>
              <a:latin typeface="DM Sans"/>
              <a:ea typeface="DM Sans"/>
              <a:cs typeface="DM Sans"/>
              <a:sym typeface="DM Sans"/>
            </a:endParaRPr>
          </a:p>
          <a:p>
            <a:pPr indent="0" lvl="0" marL="0" rtl="0" algn="l">
              <a:spcBef>
                <a:spcPts val="1200"/>
              </a:spcBef>
              <a:spcAft>
                <a:spcPts val="0"/>
              </a:spcAft>
              <a:buNone/>
            </a:pPr>
            <a:r>
              <a:rPr b="1" lang="en" sz="1400">
                <a:solidFill>
                  <a:srgbClr val="000000"/>
                </a:solidFill>
                <a:latin typeface="DM Sans"/>
                <a:ea typeface="DM Sans"/>
                <a:cs typeface="DM Sans"/>
                <a:sym typeface="DM Sans"/>
              </a:rPr>
              <a:t>Common Use Cases:</a:t>
            </a:r>
            <a:endParaRPr b="1" sz="1400">
              <a:solidFill>
                <a:srgbClr val="000000"/>
              </a:solidFill>
              <a:latin typeface="DM Sans"/>
              <a:ea typeface="DM Sans"/>
              <a:cs typeface="DM Sans"/>
              <a:sym typeface="DM Sans"/>
            </a:endParaRPr>
          </a:p>
          <a:p>
            <a:pPr indent="-317500" lvl="0" marL="457200" rtl="0" algn="l">
              <a:spcBef>
                <a:spcPts val="1200"/>
              </a:spcBef>
              <a:spcAft>
                <a:spcPts val="0"/>
              </a:spcAft>
              <a:buClr>
                <a:srgbClr val="000000"/>
              </a:buClr>
              <a:buSzPts val="1400"/>
              <a:buFont typeface="DM Sans"/>
              <a:buChar char="●"/>
            </a:pPr>
            <a:r>
              <a:rPr lang="en" sz="1400">
                <a:solidFill>
                  <a:srgbClr val="000000"/>
                </a:solidFill>
                <a:latin typeface="DM Sans"/>
                <a:ea typeface="DM Sans"/>
                <a:cs typeface="DM Sans"/>
                <a:sym typeface="DM Sans"/>
              </a:rPr>
              <a:t>Grading systems</a:t>
            </a:r>
            <a:endParaRPr sz="1400">
              <a:solidFill>
                <a:srgbClr val="000000"/>
              </a:solidFill>
              <a:latin typeface="DM Sans"/>
              <a:ea typeface="DM Sans"/>
              <a:cs typeface="DM Sans"/>
              <a:sym typeface="DM Sans"/>
            </a:endParaRPr>
          </a:p>
          <a:p>
            <a:pPr indent="-317500" lvl="0" marL="457200" rtl="0" algn="l">
              <a:spcBef>
                <a:spcPts val="0"/>
              </a:spcBef>
              <a:spcAft>
                <a:spcPts val="0"/>
              </a:spcAft>
              <a:buClr>
                <a:srgbClr val="000000"/>
              </a:buClr>
              <a:buSzPts val="1400"/>
              <a:buFont typeface="DM Sans"/>
              <a:buChar char="●"/>
            </a:pPr>
            <a:r>
              <a:rPr lang="en" sz="1400">
                <a:solidFill>
                  <a:srgbClr val="000000"/>
                </a:solidFill>
                <a:latin typeface="DM Sans"/>
                <a:ea typeface="DM Sans"/>
                <a:cs typeface="DM Sans"/>
                <a:sym typeface="DM Sans"/>
              </a:rPr>
              <a:t> Tax calculations</a:t>
            </a:r>
            <a:endParaRPr sz="1400">
              <a:solidFill>
                <a:srgbClr val="000000"/>
              </a:solidFill>
              <a:latin typeface="DM Sans"/>
              <a:ea typeface="DM Sans"/>
              <a:cs typeface="DM Sans"/>
              <a:sym typeface="DM Sans"/>
            </a:endParaRPr>
          </a:p>
          <a:p>
            <a:pPr indent="-317500" lvl="0" marL="457200" rtl="0" algn="l">
              <a:spcBef>
                <a:spcPts val="0"/>
              </a:spcBef>
              <a:spcAft>
                <a:spcPts val="0"/>
              </a:spcAft>
              <a:buClr>
                <a:srgbClr val="000000"/>
              </a:buClr>
              <a:buSzPts val="1400"/>
              <a:buFont typeface="DM Sans"/>
              <a:buChar char="●"/>
            </a:pPr>
            <a:r>
              <a:rPr lang="en" sz="1400">
                <a:solidFill>
                  <a:srgbClr val="000000"/>
                </a:solidFill>
                <a:latin typeface="DM Sans"/>
                <a:ea typeface="DM Sans"/>
                <a:cs typeface="DM Sans"/>
                <a:sym typeface="DM Sans"/>
              </a:rPr>
              <a:t> Error handling</a:t>
            </a:r>
            <a:endParaRPr sz="1400">
              <a:solidFill>
                <a:srgbClr val="000000"/>
              </a:solidFill>
              <a:latin typeface="DM Sans"/>
              <a:ea typeface="DM Sans"/>
              <a:cs typeface="DM Sans"/>
              <a:sym typeface="DM Sans"/>
            </a:endParaRPr>
          </a:p>
          <a:p>
            <a:pPr indent="-317500" lvl="0" marL="457200" rtl="0" algn="l">
              <a:spcBef>
                <a:spcPts val="0"/>
              </a:spcBef>
              <a:spcAft>
                <a:spcPts val="0"/>
              </a:spcAft>
              <a:buClr>
                <a:srgbClr val="000000"/>
              </a:buClr>
              <a:buSzPts val="1400"/>
              <a:buFont typeface="DM Sans"/>
              <a:buChar char="●"/>
            </a:pPr>
            <a:r>
              <a:rPr lang="en" sz="1400">
                <a:solidFill>
                  <a:srgbClr val="000000"/>
                </a:solidFill>
                <a:latin typeface="DM Sans"/>
                <a:ea typeface="DM Sans"/>
                <a:cs typeface="DM Sans"/>
                <a:sym typeface="DM Sans"/>
              </a:rPr>
              <a:t> Data validation.</a:t>
            </a:r>
            <a:endParaRPr sz="1400">
              <a:solidFill>
                <a:srgbClr val="000000"/>
              </a:solidFill>
              <a:latin typeface="DM Sans"/>
              <a:ea typeface="DM Sans"/>
              <a:cs typeface="DM Sans"/>
              <a:sym typeface="DM Sans"/>
            </a:endParaRPr>
          </a:p>
          <a:p>
            <a:pPr indent="0" lvl="0" marL="0" rtl="0" algn="l">
              <a:spcBef>
                <a:spcPts val="1200"/>
              </a:spcBef>
              <a:spcAft>
                <a:spcPts val="1200"/>
              </a:spcAft>
              <a:buNone/>
            </a:pPr>
            <a:r>
              <a:t/>
            </a:r>
            <a:endParaRPr>
              <a:latin typeface="DM Sans"/>
              <a:ea typeface="DM Sans"/>
              <a:cs typeface="DM Sans"/>
              <a:sym typeface="DM Sans"/>
            </a:endParaRPr>
          </a:p>
        </p:txBody>
      </p:sp>
      <p:pic>
        <p:nvPicPr>
          <p:cNvPr id="75" name="Google Shape;75;p16"/>
          <p:cNvPicPr preferRelativeResize="0"/>
          <p:nvPr/>
        </p:nvPicPr>
        <p:blipFill>
          <a:blip r:embed="rId3">
            <a:alphaModFix/>
          </a:blip>
          <a:stretch>
            <a:fillRect/>
          </a:stretch>
        </p:blipFill>
        <p:spPr>
          <a:xfrm>
            <a:off x="3755100" y="445025"/>
            <a:ext cx="4962826" cy="39702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p:cNvPicPr preferRelativeResize="0"/>
          <p:nvPr/>
        </p:nvPicPr>
        <p:blipFill rotWithShape="1">
          <a:blip r:embed="rId3">
            <a:alphaModFix/>
          </a:blip>
          <a:srcRect b="63996" l="0" r="0" t="0"/>
          <a:stretch/>
        </p:blipFill>
        <p:spPr>
          <a:xfrm>
            <a:off x="507400" y="1285125"/>
            <a:ext cx="8129199" cy="1951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a:solidFill>
            <a:srgbClr val="D9EAD3"/>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DM Sans"/>
                <a:ea typeface="DM Sans"/>
                <a:cs typeface="DM Sans"/>
                <a:sym typeface="DM Sans"/>
              </a:rPr>
              <a:t>IF Function</a:t>
            </a:r>
            <a:endParaRPr b="1">
              <a:latin typeface="DM Sans"/>
              <a:ea typeface="DM Sans"/>
              <a:cs typeface="DM Sans"/>
              <a:sym typeface="DM Sans"/>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Clr>
                <a:schemeClr val="dk1"/>
              </a:buClr>
              <a:buSzPts val="1400"/>
              <a:buChar char="●"/>
            </a:pPr>
            <a:r>
              <a:rPr b="1" lang="en" sz="1400">
                <a:solidFill>
                  <a:schemeClr val="dk1"/>
                </a:solidFill>
                <a:latin typeface="DM Sans"/>
                <a:ea typeface="DM Sans"/>
                <a:cs typeface="DM Sans"/>
                <a:sym typeface="DM Sans"/>
              </a:rPr>
              <a:t>Definition</a:t>
            </a:r>
            <a:r>
              <a:rPr lang="en" sz="1400">
                <a:solidFill>
                  <a:schemeClr val="dk1"/>
                </a:solidFill>
                <a:latin typeface="DM Sans"/>
                <a:ea typeface="DM Sans"/>
                <a:cs typeface="DM Sans"/>
                <a:sym typeface="DM Sans"/>
              </a:rPr>
              <a:t>: The IF function is a logical function in Excel used to test a condition and return one value if the condition is </a:t>
            </a:r>
            <a:r>
              <a:rPr b="1" lang="en" sz="1400">
                <a:solidFill>
                  <a:schemeClr val="dk1"/>
                </a:solidFill>
                <a:latin typeface="DM Sans"/>
                <a:ea typeface="DM Sans"/>
                <a:cs typeface="DM Sans"/>
                <a:sym typeface="DM Sans"/>
              </a:rPr>
              <a:t>TRUE</a:t>
            </a:r>
            <a:r>
              <a:rPr lang="en" sz="1400">
                <a:solidFill>
                  <a:schemeClr val="dk1"/>
                </a:solidFill>
                <a:latin typeface="DM Sans"/>
                <a:ea typeface="DM Sans"/>
                <a:cs typeface="DM Sans"/>
                <a:sym typeface="DM Sans"/>
              </a:rPr>
              <a:t> and another value if the condition is </a:t>
            </a:r>
            <a:r>
              <a:rPr b="1" lang="en" sz="1400">
                <a:solidFill>
                  <a:schemeClr val="dk1"/>
                </a:solidFill>
                <a:latin typeface="DM Sans"/>
                <a:ea typeface="DM Sans"/>
                <a:cs typeface="DM Sans"/>
                <a:sym typeface="DM Sans"/>
              </a:rPr>
              <a:t>FALSE</a:t>
            </a:r>
            <a:r>
              <a:rPr lang="en" sz="1400">
                <a:solidFill>
                  <a:schemeClr val="dk1"/>
                </a:solidFill>
                <a:latin typeface="DM Sans"/>
                <a:ea typeface="DM Sans"/>
                <a:cs typeface="DM Sans"/>
                <a:sym typeface="DM Sans"/>
              </a:rPr>
              <a:t>.</a:t>
            </a:r>
            <a:br>
              <a:rPr lang="en" sz="1400">
                <a:solidFill>
                  <a:schemeClr val="dk1"/>
                </a:solidFill>
                <a:latin typeface="DM Sans"/>
                <a:ea typeface="DM Sans"/>
                <a:cs typeface="DM Sans"/>
                <a:sym typeface="DM Sans"/>
              </a:rPr>
            </a:br>
            <a:endParaRPr sz="1400">
              <a:solidFill>
                <a:schemeClr val="dk1"/>
              </a:solidFill>
              <a:latin typeface="DM Sans"/>
              <a:ea typeface="DM Sans"/>
              <a:cs typeface="DM Sans"/>
              <a:sym typeface="DM Sans"/>
            </a:endParaRPr>
          </a:p>
          <a:p>
            <a:pPr indent="0" lvl="0" marL="457200" rtl="0" algn="l">
              <a:spcBef>
                <a:spcPts val="1200"/>
              </a:spcBef>
              <a:spcAft>
                <a:spcPts val="0"/>
              </a:spcAft>
              <a:buNone/>
            </a:pPr>
            <a:r>
              <a:rPr b="1" lang="en" sz="1400">
                <a:solidFill>
                  <a:schemeClr val="dk1"/>
                </a:solidFill>
                <a:latin typeface="DM Sans"/>
                <a:ea typeface="DM Sans"/>
                <a:cs typeface="DM Sans"/>
                <a:sym typeface="DM Sans"/>
              </a:rPr>
              <a:t>Syntax</a:t>
            </a:r>
            <a:r>
              <a:rPr lang="en" sz="1400">
                <a:solidFill>
                  <a:schemeClr val="dk1"/>
                </a:solidFill>
                <a:latin typeface="DM Sans"/>
                <a:ea typeface="DM Sans"/>
                <a:cs typeface="DM Sans"/>
                <a:sym typeface="DM Sans"/>
              </a:rPr>
              <a:t>:</a:t>
            </a:r>
            <a:endParaRPr sz="1400">
              <a:solidFill>
                <a:schemeClr val="dk1"/>
              </a:solidFill>
              <a:latin typeface="DM Sans"/>
              <a:ea typeface="DM Sans"/>
              <a:cs typeface="DM Sans"/>
              <a:sym typeface="DM Sans"/>
            </a:endParaRPr>
          </a:p>
          <a:p>
            <a:pPr indent="0" lvl="0" marL="457200" rtl="0" algn="l">
              <a:spcBef>
                <a:spcPts val="1200"/>
              </a:spcBef>
              <a:spcAft>
                <a:spcPts val="0"/>
              </a:spcAft>
              <a:buNone/>
            </a:pPr>
            <a:r>
              <a:t/>
            </a:r>
            <a:endParaRPr sz="1400">
              <a:solidFill>
                <a:schemeClr val="dk1"/>
              </a:solidFill>
              <a:latin typeface="DM Sans"/>
              <a:ea typeface="DM Sans"/>
              <a:cs typeface="DM Sans"/>
              <a:sym typeface="DM Sans"/>
            </a:endParaRPr>
          </a:p>
          <a:p>
            <a:pPr indent="-317500" lvl="1" marL="914400" rtl="0" algn="l">
              <a:spcBef>
                <a:spcPts val="1200"/>
              </a:spcBef>
              <a:spcAft>
                <a:spcPts val="0"/>
              </a:spcAft>
              <a:buClr>
                <a:schemeClr val="dk1"/>
              </a:buClr>
              <a:buSzPts val="1400"/>
              <a:buChar char="○"/>
            </a:pPr>
            <a:r>
              <a:rPr b="1" lang="en">
                <a:solidFill>
                  <a:schemeClr val="dk1"/>
                </a:solidFill>
                <a:latin typeface="DM Sans"/>
                <a:ea typeface="DM Sans"/>
                <a:cs typeface="DM Sans"/>
                <a:sym typeface="DM Sans"/>
              </a:rPr>
              <a:t>logical_test</a:t>
            </a:r>
            <a:r>
              <a:rPr lang="en">
                <a:solidFill>
                  <a:schemeClr val="dk1"/>
                </a:solidFill>
                <a:latin typeface="DM Sans"/>
                <a:ea typeface="DM Sans"/>
                <a:cs typeface="DM Sans"/>
                <a:sym typeface="DM Sans"/>
              </a:rPr>
              <a:t> → The condition you want to check (e.g., A2 ≥ 40).</a:t>
            </a:r>
            <a:br>
              <a:rPr lang="en">
                <a:solidFill>
                  <a:schemeClr val="dk1"/>
                </a:solidFill>
                <a:latin typeface="DM Sans"/>
                <a:ea typeface="DM Sans"/>
                <a:cs typeface="DM Sans"/>
                <a:sym typeface="DM Sans"/>
              </a:rPr>
            </a:br>
            <a:endParaRPr>
              <a:solidFill>
                <a:schemeClr val="dk1"/>
              </a:solidFill>
              <a:latin typeface="DM Sans"/>
              <a:ea typeface="DM Sans"/>
              <a:cs typeface="DM Sans"/>
              <a:sym typeface="DM Sans"/>
            </a:endParaRPr>
          </a:p>
          <a:p>
            <a:pPr indent="-317500" lvl="1" marL="914400" rtl="0" algn="l">
              <a:spcBef>
                <a:spcPts val="0"/>
              </a:spcBef>
              <a:spcAft>
                <a:spcPts val="0"/>
              </a:spcAft>
              <a:buClr>
                <a:schemeClr val="dk1"/>
              </a:buClr>
              <a:buSzPts val="1400"/>
              <a:buChar char="○"/>
            </a:pPr>
            <a:r>
              <a:rPr b="1" lang="en">
                <a:solidFill>
                  <a:schemeClr val="dk1"/>
                </a:solidFill>
                <a:latin typeface="DM Sans"/>
                <a:ea typeface="DM Sans"/>
                <a:cs typeface="DM Sans"/>
                <a:sym typeface="DM Sans"/>
              </a:rPr>
              <a:t>value_if_true</a:t>
            </a:r>
            <a:r>
              <a:rPr lang="en">
                <a:solidFill>
                  <a:schemeClr val="dk1"/>
                </a:solidFill>
                <a:latin typeface="DM Sans"/>
                <a:ea typeface="DM Sans"/>
                <a:cs typeface="DM Sans"/>
                <a:sym typeface="DM Sans"/>
              </a:rPr>
              <a:t> → What Excel should display if the condition is TRUE.</a:t>
            </a:r>
            <a:br>
              <a:rPr lang="en">
                <a:solidFill>
                  <a:schemeClr val="dk1"/>
                </a:solidFill>
                <a:latin typeface="DM Sans"/>
                <a:ea typeface="DM Sans"/>
                <a:cs typeface="DM Sans"/>
                <a:sym typeface="DM Sans"/>
              </a:rPr>
            </a:br>
            <a:endParaRPr>
              <a:solidFill>
                <a:schemeClr val="dk1"/>
              </a:solidFill>
              <a:latin typeface="DM Sans"/>
              <a:ea typeface="DM Sans"/>
              <a:cs typeface="DM Sans"/>
              <a:sym typeface="DM Sans"/>
            </a:endParaRPr>
          </a:p>
          <a:p>
            <a:pPr indent="-317500" lvl="1" marL="914400" rtl="0" algn="l">
              <a:spcBef>
                <a:spcPts val="0"/>
              </a:spcBef>
              <a:spcAft>
                <a:spcPts val="0"/>
              </a:spcAft>
              <a:buClr>
                <a:schemeClr val="dk1"/>
              </a:buClr>
              <a:buSzPts val="1400"/>
              <a:buChar char="○"/>
            </a:pPr>
            <a:r>
              <a:rPr b="1" lang="en">
                <a:solidFill>
                  <a:schemeClr val="dk1"/>
                </a:solidFill>
                <a:latin typeface="DM Sans"/>
                <a:ea typeface="DM Sans"/>
                <a:cs typeface="DM Sans"/>
                <a:sym typeface="DM Sans"/>
              </a:rPr>
              <a:t>value_if_false</a:t>
            </a:r>
            <a:r>
              <a:rPr lang="en">
                <a:solidFill>
                  <a:schemeClr val="dk1"/>
                </a:solidFill>
                <a:latin typeface="DM Sans"/>
                <a:ea typeface="DM Sans"/>
                <a:cs typeface="DM Sans"/>
                <a:sym typeface="DM Sans"/>
              </a:rPr>
              <a:t> → What Excel should display if the condition is FALSE.</a:t>
            </a:r>
            <a:endParaRPr sz="1400">
              <a:latin typeface="DM Sans"/>
              <a:ea typeface="DM Sans"/>
              <a:cs typeface="DM Sans"/>
              <a:sym typeface="DM Sans"/>
            </a:endParaRPr>
          </a:p>
        </p:txBody>
      </p:sp>
      <p:sp>
        <p:nvSpPr>
          <p:cNvPr id="87" name="Google Shape;87;p18"/>
          <p:cNvSpPr txBox="1"/>
          <p:nvPr/>
        </p:nvSpPr>
        <p:spPr>
          <a:xfrm>
            <a:off x="1168500" y="2421925"/>
            <a:ext cx="5779800" cy="400200"/>
          </a:xfrm>
          <a:prstGeom prst="rect">
            <a:avLst/>
          </a:prstGeom>
          <a:solidFill>
            <a:srgbClr val="FCE5CD"/>
          </a:solid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1200"/>
              </a:spcAft>
              <a:buNone/>
            </a:pPr>
            <a:r>
              <a:rPr lang="en">
                <a:solidFill>
                  <a:srgbClr val="188038"/>
                </a:solidFill>
                <a:latin typeface="DM Sans"/>
                <a:ea typeface="DM Sans"/>
                <a:cs typeface="DM Sans"/>
                <a:sym typeface="DM Sans"/>
              </a:rPr>
              <a:t>=IF(logical_test, value_if_true, value_if_false)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nvSpPr>
        <p:spPr>
          <a:xfrm>
            <a:off x="531838" y="1209125"/>
            <a:ext cx="72357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latin typeface="DM Sans"/>
                <a:ea typeface="DM Sans"/>
                <a:cs typeface="DM Sans"/>
                <a:sym typeface="DM Sans"/>
              </a:rPr>
              <a:t>Example :</a:t>
            </a:r>
            <a:r>
              <a:rPr lang="en">
                <a:latin typeface="DM Sans"/>
                <a:ea typeface="DM Sans"/>
                <a:cs typeface="DM Sans"/>
                <a:sym typeface="DM Sans"/>
              </a:rPr>
              <a:t> Check whether a student scored good or needs more practice.</a:t>
            </a:r>
            <a:endParaRPr>
              <a:latin typeface="DM Sans"/>
              <a:ea typeface="DM Sans"/>
              <a:cs typeface="DM Sans"/>
              <a:sym typeface="DM Sans"/>
            </a:endParaRPr>
          </a:p>
          <a:p>
            <a:pPr indent="0" lvl="0" marL="0" rtl="0" algn="l">
              <a:lnSpc>
                <a:spcPct val="115000"/>
              </a:lnSpc>
              <a:spcBef>
                <a:spcPts val="1200"/>
              </a:spcBef>
              <a:spcAft>
                <a:spcPts val="1200"/>
              </a:spcAft>
              <a:buNone/>
            </a:pPr>
            <a:r>
              <a:rPr b="1" lang="en">
                <a:solidFill>
                  <a:srgbClr val="6AA84F"/>
                </a:solidFill>
                <a:latin typeface="DM Sans"/>
                <a:ea typeface="DM Sans"/>
                <a:cs typeface="DM Sans"/>
                <a:sym typeface="DM Sans"/>
              </a:rPr>
              <a:t>=IF(E2&gt;75, "Good Performance", "Need Improvement")</a:t>
            </a:r>
            <a:endParaRPr b="1">
              <a:solidFill>
                <a:srgbClr val="6AA84F"/>
              </a:solidFill>
              <a:latin typeface="DM Sans"/>
              <a:ea typeface="DM Sans"/>
              <a:cs typeface="DM Sans"/>
              <a:sym typeface="DM Sans"/>
            </a:endParaRPr>
          </a:p>
        </p:txBody>
      </p:sp>
      <p:sp>
        <p:nvSpPr>
          <p:cNvPr id="93" name="Google Shape;93;p19"/>
          <p:cNvSpPr txBox="1"/>
          <p:nvPr/>
        </p:nvSpPr>
        <p:spPr>
          <a:xfrm>
            <a:off x="489500" y="459725"/>
            <a:ext cx="8305500" cy="5727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DM Sans"/>
                <a:ea typeface="DM Sans"/>
                <a:cs typeface="DM Sans"/>
                <a:sym typeface="DM Sans"/>
              </a:rPr>
              <a:t>IF Function</a:t>
            </a:r>
            <a:endParaRPr b="1" sz="2500">
              <a:solidFill>
                <a:schemeClr val="dk1"/>
              </a:solidFill>
              <a:latin typeface="DM Sans"/>
              <a:ea typeface="DM Sans"/>
              <a:cs typeface="DM Sans"/>
              <a:sym typeface="DM Sans"/>
            </a:endParaRPr>
          </a:p>
        </p:txBody>
      </p:sp>
      <p:pic>
        <p:nvPicPr>
          <p:cNvPr id="94" name="Google Shape;94;p19"/>
          <p:cNvPicPr preferRelativeResize="0"/>
          <p:nvPr/>
        </p:nvPicPr>
        <p:blipFill>
          <a:blip r:embed="rId3">
            <a:alphaModFix/>
          </a:blip>
          <a:stretch>
            <a:fillRect/>
          </a:stretch>
        </p:blipFill>
        <p:spPr>
          <a:xfrm>
            <a:off x="630888" y="2187725"/>
            <a:ext cx="7037626" cy="2795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a:solidFill>
            <a:srgbClr val="D9EAD3"/>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DM Sans"/>
                <a:ea typeface="DM Sans"/>
                <a:cs typeface="DM Sans"/>
                <a:sym typeface="DM Sans"/>
              </a:rPr>
              <a:t>IFS Function</a:t>
            </a:r>
            <a:endParaRPr b="1">
              <a:latin typeface="DM Sans"/>
              <a:ea typeface="DM Sans"/>
              <a:cs typeface="DM Sans"/>
              <a:sym typeface="DM Sans"/>
            </a:endParaRPr>
          </a:p>
        </p:txBody>
      </p:sp>
      <p:sp>
        <p:nvSpPr>
          <p:cNvPr id="100" name="Google Shape;100;p20"/>
          <p:cNvSpPr txBox="1"/>
          <p:nvPr>
            <p:ph idx="1" type="body"/>
          </p:nvPr>
        </p:nvSpPr>
        <p:spPr>
          <a:xfrm>
            <a:off x="311700" y="1152475"/>
            <a:ext cx="8520600" cy="374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DM Sans"/>
                <a:ea typeface="DM Sans"/>
                <a:cs typeface="DM Sans"/>
                <a:sym typeface="DM Sans"/>
              </a:rPr>
              <a:t>Why use IFS instead of Nested IF?</a:t>
            </a:r>
            <a:endParaRPr b="1" sz="1400">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b="1" lang="en" sz="1400">
                <a:solidFill>
                  <a:schemeClr val="dk1"/>
                </a:solidFill>
                <a:latin typeface="DM Sans"/>
                <a:ea typeface="DM Sans"/>
                <a:cs typeface="DM Sans"/>
                <a:sym typeface="DM Sans"/>
              </a:rPr>
              <a:t>Problem with Nested IF</a:t>
            </a:r>
            <a:r>
              <a:rPr lang="en" sz="1400">
                <a:solidFill>
                  <a:schemeClr val="dk1"/>
                </a:solidFill>
                <a:latin typeface="DM Sans"/>
                <a:ea typeface="DM Sans"/>
                <a:cs typeface="DM Sans"/>
                <a:sym typeface="DM Sans"/>
              </a:rPr>
              <a:t>:</a:t>
            </a:r>
            <a:endParaRPr sz="1400">
              <a:solidFill>
                <a:schemeClr val="dk1"/>
              </a:solidFill>
              <a:latin typeface="DM Sans"/>
              <a:ea typeface="DM Sans"/>
              <a:cs typeface="DM Sans"/>
              <a:sym typeface="DM Sans"/>
            </a:endParaRPr>
          </a:p>
          <a:p>
            <a:pPr indent="-317500" lvl="0" marL="457200" rtl="0" algn="l">
              <a:spcBef>
                <a:spcPts val="1200"/>
              </a:spcBef>
              <a:spcAft>
                <a:spcPts val="0"/>
              </a:spcAft>
              <a:buClr>
                <a:schemeClr val="dk1"/>
              </a:buClr>
              <a:buSzPts val="1400"/>
              <a:buChar char="●"/>
            </a:pPr>
            <a:r>
              <a:rPr lang="en" sz="1400">
                <a:solidFill>
                  <a:schemeClr val="dk1"/>
                </a:solidFill>
                <a:latin typeface="DM Sans"/>
                <a:ea typeface="DM Sans"/>
                <a:cs typeface="DM Sans"/>
                <a:sym typeface="DM Sans"/>
              </a:rPr>
              <a:t>For multiple conditions, using many </a:t>
            </a:r>
            <a:r>
              <a:rPr lang="en" sz="1400">
                <a:solidFill>
                  <a:srgbClr val="188038"/>
                </a:solidFill>
                <a:latin typeface="DM Sans"/>
                <a:ea typeface="DM Sans"/>
                <a:cs typeface="DM Sans"/>
                <a:sym typeface="DM Sans"/>
              </a:rPr>
              <a:t>IF</a:t>
            </a:r>
            <a:r>
              <a:rPr lang="en" sz="1400">
                <a:solidFill>
                  <a:schemeClr val="dk1"/>
                </a:solidFill>
                <a:latin typeface="DM Sans"/>
                <a:ea typeface="DM Sans"/>
                <a:cs typeface="DM Sans"/>
                <a:sym typeface="DM Sans"/>
              </a:rPr>
              <a:t> statements inside each other (nested IFs) makes the formula </a:t>
            </a:r>
            <a:r>
              <a:rPr b="1" lang="en" sz="1400">
                <a:solidFill>
                  <a:schemeClr val="dk1"/>
                </a:solidFill>
                <a:latin typeface="DM Sans"/>
                <a:ea typeface="DM Sans"/>
                <a:cs typeface="DM Sans"/>
                <a:sym typeface="DM Sans"/>
              </a:rPr>
              <a:t>long, hard to read, and error-prone</a:t>
            </a:r>
            <a:r>
              <a:rPr lang="en" sz="1400">
                <a:solidFill>
                  <a:schemeClr val="dk1"/>
                </a:solidFill>
                <a:latin typeface="DM Sans"/>
                <a:ea typeface="DM Sans"/>
                <a:cs typeface="DM Sans"/>
                <a:sym typeface="DM Sans"/>
              </a:rPr>
              <a:t>.</a:t>
            </a:r>
            <a:endParaRPr sz="1400">
              <a:solidFill>
                <a:schemeClr val="dk1"/>
              </a:solidFill>
              <a:latin typeface="DM Sans"/>
              <a:ea typeface="DM Sans"/>
              <a:cs typeface="DM Sans"/>
              <a:sym typeface="DM Sans"/>
            </a:endParaRPr>
          </a:p>
          <a:p>
            <a:pPr indent="0" lvl="0" marL="457200" rtl="0" algn="l">
              <a:spcBef>
                <a:spcPts val="1200"/>
              </a:spcBef>
              <a:spcAft>
                <a:spcPts val="0"/>
              </a:spcAft>
              <a:buNone/>
            </a:pPr>
            <a:r>
              <a:rPr lang="en" sz="1400">
                <a:solidFill>
                  <a:schemeClr val="dk1"/>
                </a:solidFill>
                <a:latin typeface="DM Sans"/>
                <a:ea typeface="DM Sans"/>
                <a:cs typeface="DM Sans"/>
                <a:sym typeface="DM Sans"/>
              </a:rPr>
              <a:t>Example of Nested IF:</a:t>
            </a:r>
            <a:endParaRPr sz="1400">
              <a:solidFill>
                <a:schemeClr val="dk1"/>
              </a:solidFill>
              <a:latin typeface="DM Sans"/>
              <a:ea typeface="DM Sans"/>
              <a:cs typeface="DM Sans"/>
              <a:sym typeface="DM Sans"/>
            </a:endParaRPr>
          </a:p>
          <a:p>
            <a:pPr indent="0" lvl="0" marL="457200" rtl="0" algn="l">
              <a:lnSpc>
                <a:spcPct val="100000"/>
              </a:lnSpc>
              <a:spcBef>
                <a:spcPts val="0"/>
              </a:spcBef>
              <a:spcAft>
                <a:spcPts val="0"/>
              </a:spcAft>
              <a:buNone/>
            </a:pPr>
            <a:br>
              <a:rPr lang="en" sz="1400">
                <a:solidFill>
                  <a:schemeClr val="dk1"/>
                </a:solidFill>
                <a:latin typeface="DM Sans"/>
                <a:ea typeface="DM Sans"/>
                <a:cs typeface="DM Sans"/>
                <a:sym typeface="DM Sans"/>
              </a:rPr>
            </a:br>
            <a:r>
              <a:rPr b="1" lang="en" sz="1400">
                <a:solidFill>
                  <a:schemeClr val="dk1"/>
                </a:solidFill>
                <a:latin typeface="DM Sans"/>
                <a:ea typeface="DM Sans"/>
                <a:cs typeface="DM Sans"/>
                <a:sym typeface="DM Sans"/>
              </a:rPr>
              <a:t> </a:t>
            </a:r>
            <a:r>
              <a:rPr b="1" lang="en" sz="1400">
                <a:solidFill>
                  <a:srgbClr val="188038"/>
                </a:solidFill>
                <a:latin typeface="DM Sans"/>
                <a:ea typeface="DM Sans"/>
                <a:cs typeface="DM Sans"/>
                <a:sym typeface="DM Sans"/>
              </a:rPr>
              <a:t>=IF(A2&gt;=90,"A",IF(A2&gt;=80,"B",IF(A2&gt;=70,"C","Fail")))</a:t>
            </a:r>
            <a:endParaRPr b="1" sz="1400">
              <a:solidFill>
                <a:srgbClr val="188038"/>
              </a:solidFill>
              <a:latin typeface="DM Sans"/>
              <a:ea typeface="DM Sans"/>
              <a:cs typeface="DM Sans"/>
              <a:sym typeface="DM Sans"/>
            </a:endParaRPr>
          </a:p>
          <a:p>
            <a:pPr indent="-317500" lvl="0" marL="457200" rtl="0" algn="l">
              <a:spcBef>
                <a:spcPts val="1200"/>
              </a:spcBef>
              <a:spcAft>
                <a:spcPts val="0"/>
              </a:spcAft>
              <a:buClr>
                <a:schemeClr val="dk1"/>
              </a:buClr>
              <a:buSzPts val="1400"/>
              <a:buFont typeface="DM Sans"/>
              <a:buChar char="●"/>
            </a:pPr>
            <a:r>
              <a:rPr lang="en" sz="1400">
                <a:solidFill>
                  <a:schemeClr val="dk1"/>
                </a:solidFill>
                <a:latin typeface="DM Sans"/>
                <a:ea typeface="DM Sans"/>
                <a:cs typeface="DM Sans"/>
                <a:sym typeface="DM Sans"/>
              </a:rPr>
              <a:t> Looks confusing when conditions increase.</a:t>
            </a:r>
            <a:endParaRPr sz="14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b="1" lang="en" sz="1400">
                <a:solidFill>
                  <a:schemeClr val="dk1"/>
                </a:solidFill>
                <a:latin typeface="DM Sans"/>
                <a:ea typeface="DM Sans"/>
                <a:cs typeface="DM Sans"/>
                <a:sym typeface="DM Sans"/>
              </a:rPr>
              <a:t>Solution – IFS Function</a:t>
            </a:r>
            <a:r>
              <a:rPr lang="en" sz="1400">
                <a:solidFill>
                  <a:schemeClr val="dk1"/>
                </a:solidFill>
                <a:latin typeface="DM Sans"/>
                <a:ea typeface="DM Sans"/>
                <a:cs typeface="DM Sans"/>
                <a:sym typeface="DM Sans"/>
              </a:rPr>
              <a:t>:</a:t>
            </a:r>
            <a:endParaRPr sz="1400">
              <a:solidFill>
                <a:schemeClr val="dk1"/>
              </a:solidFill>
              <a:latin typeface="DM Sans"/>
              <a:ea typeface="DM Sans"/>
              <a:cs typeface="DM Sans"/>
              <a:sym typeface="DM Sans"/>
            </a:endParaRPr>
          </a:p>
          <a:p>
            <a:pPr indent="-317500" lvl="0" marL="457200" rtl="0" algn="l">
              <a:spcBef>
                <a:spcPts val="1200"/>
              </a:spcBef>
              <a:spcAft>
                <a:spcPts val="0"/>
              </a:spcAft>
              <a:buClr>
                <a:schemeClr val="dk1"/>
              </a:buClr>
              <a:buSzPts val="1400"/>
              <a:buChar char="●"/>
            </a:pPr>
            <a:r>
              <a:rPr lang="en" sz="1400">
                <a:solidFill>
                  <a:schemeClr val="dk1"/>
                </a:solidFill>
                <a:latin typeface="DM Sans"/>
                <a:ea typeface="DM Sans"/>
                <a:cs typeface="DM Sans"/>
                <a:sym typeface="DM Sans"/>
              </a:rPr>
              <a:t>IFS allows you to test </a:t>
            </a:r>
            <a:r>
              <a:rPr b="1" lang="en" sz="1400">
                <a:solidFill>
                  <a:schemeClr val="dk1"/>
                </a:solidFill>
                <a:latin typeface="DM Sans"/>
                <a:ea typeface="DM Sans"/>
                <a:cs typeface="DM Sans"/>
                <a:sym typeface="DM Sans"/>
              </a:rPr>
              <a:t>multiple conditions in a cleaner way</a:t>
            </a:r>
            <a:r>
              <a:rPr lang="en" sz="1400">
                <a:solidFill>
                  <a:schemeClr val="dk1"/>
                </a:solidFill>
                <a:latin typeface="DM Sans"/>
                <a:ea typeface="DM Sans"/>
                <a:cs typeface="DM Sans"/>
                <a:sym typeface="DM Sans"/>
              </a:rPr>
              <a:t>, without nesting.</a:t>
            </a:r>
            <a:endParaRPr sz="1400">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Char char="●"/>
            </a:pPr>
            <a:r>
              <a:rPr lang="en" sz="1400">
                <a:solidFill>
                  <a:schemeClr val="dk1"/>
                </a:solidFill>
                <a:latin typeface="DM Sans"/>
                <a:ea typeface="DM Sans"/>
                <a:cs typeface="DM Sans"/>
                <a:sym typeface="DM Sans"/>
              </a:rPr>
              <a:t>It improves </a:t>
            </a:r>
            <a:r>
              <a:rPr b="1" lang="en" sz="1400">
                <a:solidFill>
                  <a:schemeClr val="dk1"/>
                </a:solidFill>
                <a:latin typeface="DM Sans"/>
                <a:ea typeface="DM Sans"/>
                <a:cs typeface="DM Sans"/>
                <a:sym typeface="DM Sans"/>
              </a:rPr>
              <a:t>readability and maintenance</a:t>
            </a:r>
            <a:r>
              <a:rPr lang="en" sz="1400">
                <a:solidFill>
                  <a:schemeClr val="dk1"/>
                </a:solidFill>
                <a:latin typeface="DM Sans"/>
                <a:ea typeface="DM Sans"/>
                <a:cs typeface="DM Sans"/>
                <a:sym typeface="DM Sans"/>
              </a:rPr>
              <a:t>.</a:t>
            </a:r>
            <a:endParaRPr b="1" sz="1400">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a:solidFill>
            <a:srgbClr val="D9EAD3"/>
          </a:solidFill>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2500">
                <a:latin typeface="DM Sans"/>
                <a:ea typeface="DM Sans"/>
                <a:cs typeface="DM Sans"/>
                <a:sym typeface="DM Sans"/>
              </a:rPr>
              <a:t>Syntax of IFS</a:t>
            </a:r>
            <a:endParaRPr sz="2500">
              <a:latin typeface="DM Sans"/>
              <a:ea typeface="DM Sans"/>
              <a:cs typeface="DM Sans"/>
              <a:sym typeface="DM Sans"/>
            </a:endParaRPr>
          </a:p>
        </p:txBody>
      </p:sp>
      <p:sp>
        <p:nvSpPr>
          <p:cNvPr id="106" name="Google Shape;106;p21"/>
          <p:cNvSpPr txBox="1"/>
          <p:nvPr>
            <p:ph idx="1" type="body"/>
          </p:nvPr>
        </p:nvSpPr>
        <p:spPr>
          <a:xfrm>
            <a:off x="311700" y="1347950"/>
            <a:ext cx="8520600" cy="322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sz="1400">
              <a:solidFill>
                <a:schemeClr val="dk1"/>
              </a:solidFill>
            </a:endParaRPr>
          </a:p>
          <a:p>
            <a:pPr indent="-317500" lvl="0" marL="457200" rtl="0" algn="l">
              <a:spcBef>
                <a:spcPts val="1200"/>
              </a:spcBef>
              <a:spcAft>
                <a:spcPts val="0"/>
              </a:spcAft>
              <a:buClr>
                <a:schemeClr val="dk1"/>
              </a:buClr>
              <a:buSzPts val="1400"/>
              <a:buChar char="●"/>
            </a:pPr>
            <a:r>
              <a:rPr b="1" lang="en" sz="1400">
                <a:solidFill>
                  <a:schemeClr val="dk1"/>
                </a:solidFill>
              </a:rPr>
              <a:t>logical_test1</a:t>
            </a:r>
            <a:r>
              <a:rPr lang="en" sz="1400">
                <a:solidFill>
                  <a:schemeClr val="dk1"/>
                </a:solidFill>
              </a:rPr>
              <a:t> → The first condition to check (e.g., A2 ≥ 90).</a:t>
            </a:r>
            <a:br>
              <a:rPr lang="en"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value_if_true1</a:t>
            </a:r>
            <a:r>
              <a:rPr lang="en" sz="1400">
                <a:solidFill>
                  <a:schemeClr val="dk1"/>
                </a:solidFill>
              </a:rPr>
              <a:t> → Result if the first condition is TRUE.</a:t>
            </a:r>
            <a:br>
              <a:rPr lang="en"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Continue with as many conditions as needed.</a:t>
            </a:r>
            <a:br>
              <a:rPr lang="en"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Important: </a:t>
            </a:r>
            <a:r>
              <a:rPr lang="en" sz="1400">
                <a:solidFill>
                  <a:schemeClr val="dk1"/>
                </a:solidFill>
              </a:rPr>
              <a:t>IFS doesn’t have a direct “else” option → To handle all other cases, use </a:t>
            </a:r>
            <a:r>
              <a:rPr lang="en" sz="1400">
                <a:solidFill>
                  <a:srgbClr val="188038"/>
                </a:solidFill>
                <a:latin typeface="Roboto Mono"/>
                <a:ea typeface="Roboto Mono"/>
                <a:cs typeface="Roboto Mono"/>
                <a:sym typeface="Roboto Mono"/>
              </a:rPr>
              <a:t>TRUE</a:t>
            </a:r>
            <a:r>
              <a:rPr lang="en" sz="1400">
                <a:solidFill>
                  <a:schemeClr val="dk1"/>
                </a:solidFill>
              </a:rPr>
              <a:t> as the last condition.</a:t>
            </a:r>
            <a:endParaRPr sz="1400">
              <a:solidFill>
                <a:schemeClr val="dk1"/>
              </a:solidFill>
            </a:endParaRPr>
          </a:p>
          <a:p>
            <a:pPr indent="0" lvl="0" marL="0" rtl="0" algn="l">
              <a:spcBef>
                <a:spcPts val="1200"/>
              </a:spcBef>
              <a:spcAft>
                <a:spcPts val="1200"/>
              </a:spcAft>
              <a:buNone/>
            </a:pPr>
            <a:r>
              <a:t/>
            </a:r>
            <a:endParaRPr sz="1400"/>
          </a:p>
        </p:txBody>
      </p:sp>
      <p:sp>
        <p:nvSpPr>
          <p:cNvPr id="107" name="Google Shape;107;p21"/>
          <p:cNvSpPr txBox="1"/>
          <p:nvPr/>
        </p:nvSpPr>
        <p:spPr>
          <a:xfrm>
            <a:off x="417325" y="1168500"/>
            <a:ext cx="7793400" cy="4002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a:solidFill>
                  <a:srgbClr val="188038"/>
                </a:solidFill>
                <a:latin typeface="Roboto Mono"/>
                <a:ea typeface="Roboto Mono"/>
                <a:cs typeface="Roboto Mono"/>
                <a:sym typeface="Roboto Mono"/>
              </a:rPr>
              <a:t>=IFS(logical_test1, value_if_true1, logical_test2, value_if_true2, …)</a:t>
            </a:r>
            <a:endParaRPr>
              <a:solidFill>
                <a:srgbClr val="188038"/>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2"/>
          <p:cNvPicPr preferRelativeResize="0"/>
          <p:nvPr/>
        </p:nvPicPr>
        <p:blipFill>
          <a:blip r:embed="rId3">
            <a:alphaModFix/>
          </a:blip>
          <a:stretch>
            <a:fillRect/>
          </a:stretch>
        </p:blipFill>
        <p:spPr>
          <a:xfrm>
            <a:off x="414338" y="108900"/>
            <a:ext cx="8315325" cy="4762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a:solidFill>
            <a:srgbClr val="D9EAD3"/>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ADD Function</a:t>
            </a:r>
            <a:endParaRPr b="1"/>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b="1" lang="en" sz="1400">
                <a:solidFill>
                  <a:srgbClr val="000000"/>
                </a:solidFill>
                <a:latin typeface="Montserrat"/>
                <a:ea typeface="Montserrat"/>
                <a:cs typeface="Montserrat"/>
                <a:sym typeface="Montserrat"/>
              </a:rPr>
              <a:t>AND Function : </a:t>
            </a:r>
            <a:r>
              <a:rPr lang="en" sz="1400">
                <a:solidFill>
                  <a:srgbClr val="000000"/>
                </a:solidFill>
                <a:latin typeface="Montserrat"/>
                <a:ea typeface="Montserrat"/>
                <a:cs typeface="Montserrat"/>
                <a:sym typeface="Montserrat"/>
              </a:rPr>
              <a:t>Returns TRUE if all arguments are TRUE.</a:t>
            </a:r>
            <a:endParaRPr sz="1400">
              <a:solidFill>
                <a:srgbClr val="000000"/>
              </a:solidFill>
              <a:latin typeface="Montserrat"/>
              <a:ea typeface="Montserrat"/>
              <a:cs typeface="Montserrat"/>
              <a:sym typeface="Montserrat"/>
            </a:endParaRPr>
          </a:p>
          <a:p>
            <a:pPr indent="0" lvl="0" marL="0" rtl="0" algn="l">
              <a:lnSpc>
                <a:spcPct val="150000"/>
              </a:lnSpc>
              <a:spcBef>
                <a:spcPts val="1200"/>
              </a:spcBef>
              <a:spcAft>
                <a:spcPts val="0"/>
              </a:spcAft>
              <a:buNone/>
            </a:pPr>
            <a:r>
              <a:rPr b="1" lang="en" sz="1400">
                <a:solidFill>
                  <a:srgbClr val="000000"/>
                </a:solidFill>
                <a:latin typeface="Montserrat"/>
                <a:ea typeface="Montserrat"/>
                <a:cs typeface="Montserrat"/>
                <a:sym typeface="Montserrat"/>
              </a:rPr>
              <a:t>Syntax :</a:t>
            </a:r>
            <a:r>
              <a:rPr b="1" lang="en" sz="1400">
                <a:solidFill>
                  <a:srgbClr val="38761D"/>
                </a:solidFill>
                <a:latin typeface="Montserrat"/>
                <a:ea typeface="Montserrat"/>
                <a:cs typeface="Montserrat"/>
                <a:sym typeface="Montserrat"/>
              </a:rPr>
              <a:t> </a:t>
            </a:r>
            <a:endParaRPr sz="1400">
              <a:solidFill>
                <a:srgbClr val="6AA84F"/>
              </a:solidFill>
              <a:latin typeface="Montserrat SemiBold"/>
              <a:ea typeface="Montserrat SemiBold"/>
              <a:cs typeface="Montserrat SemiBold"/>
              <a:sym typeface="Montserrat SemiBold"/>
            </a:endParaRPr>
          </a:p>
          <a:p>
            <a:pPr indent="0" lvl="0" marL="0" rtl="0" algn="l">
              <a:lnSpc>
                <a:spcPct val="150000"/>
              </a:lnSpc>
              <a:spcBef>
                <a:spcPts val="1200"/>
              </a:spcBef>
              <a:spcAft>
                <a:spcPts val="0"/>
              </a:spcAft>
              <a:buNone/>
            </a:pPr>
            <a:r>
              <a:rPr b="1" lang="en" sz="1400">
                <a:solidFill>
                  <a:srgbClr val="000000"/>
                </a:solidFill>
                <a:latin typeface="Montserrat"/>
                <a:ea typeface="Montserrat"/>
                <a:cs typeface="Montserrat"/>
                <a:sym typeface="Montserrat"/>
              </a:rPr>
              <a:t>Example : </a:t>
            </a:r>
            <a:r>
              <a:rPr lang="en" sz="1400">
                <a:solidFill>
                  <a:srgbClr val="000000"/>
                </a:solidFill>
                <a:latin typeface="Montserrat"/>
                <a:ea typeface="Montserrat"/>
                <a:cs typeface="Montserrat"/>
                <a:sym typeface="Montserrat"/>
              </a:rPr>
              <a:t>Check whether the student is a boy and has a hobby of dancing.</a:t>
            </a:r>
            <a:endParaRPr sz="1400">
              <a:solidFill>
                <a:srgbClr val="000000"/>
              </a:solidFill>
              <a:latin typeface="Montserrat"/>
              <a:ea typeface="Montserrat"/>
              <a:cs typeface="Montserrat"/>
              <a:sym typeface="Montserrat"/>
            </a:endParaRPr>
          </a:p>
          <a:p>
            <a:pPr indent="0" lvl="0" marL="0" rtl="0" algn="l">
              <a:lnSpc>
                <a:spcPct val="150000"/>
              </a:lnSpc>
              <a:spcBef>
                <a:spcPts val="1200"/>
              </a:spcBef>
              <a:spcAft>
                <a:spcPts val="0"/>
              </a:spcAft>
              <a:buNone/>
            </a:pPr>
            <a:r>
              <a:rPr b="1" lang="en" sz="1400">
                <a:solidFill>
                  <a:srgbClr val="38761D"/>
                </a:solidFill>
                <a:latin typeface="Roboto Mono"/>
                <a:ea typeface="Roboto Mono"/>
                <a:cs typeface="Roboto Mono"/>
                <a:sym typeface="Roboto Mono"/>
              </a:rPr>
              <a:t>=AND(B2 &gt; 70,C2 = “Drawing”)</a:t>
            </a:r>
            <a:endParaRPr b="1" sz="1400">
              <a:solidFill>
                <a:srgbClr val="38761D"/>
              </a:solidFill>
              <a:latin typeface="Roboto Mono"/>
              <a:ea typeface="Roboto Mono"/>
              <a:cs typeface="Roboto Mono"/>
              <a:sym typeface="Roboto Mono"/>
            </a:endParaRPr>
          </a:p>
          <a:p>
            <a:pPr indent="0" lvl="0" marL="0" rtl="0" algn="l">
              <a:lnSpc>
                <a:spcPct val="150000"/>
              </a:lnSpc>
              <a:spcBef>
                <a:spcPts val="1200"/>
              </a:spcBef>
              <a:spcAft>
                <a:spcPts val="0"/>
              </a:spcAft>
              <a:buNone/>
            </a:pPr>
            <a:r>
              <a:rPr lang="en" sz="1400">
                <a:solidFill>
                  <a:srgbClr val="000000"/>
                </a:solidFill>
                <a:latin typeface="Montserrat"/>
                <a:ea typeface="Montserrat"/>
                <a:cs typeface="Montserrat"/>
                <a:sym typeface="Montserrat"/>
              </a:rPr>
              <a:t>It will return either true or false.</a:t>
            </a:r>
            <a:endParaRPr b="1" sz="1400">
              <a:solidFill>
                <a:srgbClr val="000000"/>
              </a:solidFill>
              <a:latin typeface="Montserrat"/>
              <a:ea typeface="Montserrat"/>
              <a:cs typeface="Montserrat"/>
              <a:sym typeface="Montserrat"/>
            </a:endParaRPr>
          </a:p>
          <a:p>
            <a:pPr indent="0" lvl="0" marL="0" rtl="0" algn="l">
              <a:spcBef>
                <a:spcPts val="1200"/>
              </a:spcBef>
              <a:spcAft>
                <a:spcPts val="1200"/>
              </a:spcAft>
              <a:buNone/>
            </a:pPr>
            <a:r>
              <a:t/>
            </a:r>
            <a:endParaRPr/>
          </a:p>
        </p:txBody>
      </p:sp>
      <p:pic>
        <p:nvPicPr>
          <p:cNvPr id="119" name="Google Shape;119;p23"/>
          <p:cNvPicPr preferRelativeResize="0"/>
          <p:nvPr/>
        </p:nvPicPr>
        <p:blipFill rotWithShape="1">
          <a:blip r:embed="rId3">
            <a:alphaModFix/>
          </a:blip>
          <a:srcRect b="29934" l="0" r="0" t="34548"/>
          <a:stretch/>
        </p:blipFill>
        <p:spPr>
          <a:xfrm>
            <a:off x="3393625" y="2886000"/>
            <a:ext cx="5227501" cy="1826850"/>
          </a:xfrm>
          <a:prstGeom prst="rect">
            <a:avLst/>
          </a:prstGeom>
          <a:noFill/>
          <a:ln>
            <a:noFill/>
          </a:ln>
        </p:spPr>
      </p:pic>
      <p:sp>
        <p:nvSpPr>
          <p:cNvPr id="120" name="Google Shape;120;p23"/>
          <p:cNvSpPr txBox="1"/>
          <p:nvPr/>
        </p:nvSpPr>
        <p:spPr>
          <a:xfrm>
            <a:off x="1408475" y="1648433"/>
            <a:ext cx="3693300" cy="4002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b="1" lang="en">
                <a:solidFill>
                  <a:srgbClr val="38761D"/>
                </a:solidFill>
                <a:latin typeface="DM Sans"/>
                <a:ea typeface="DM Sans"/>
                <a:cs typeface="DM Sans"/>
                <a:sym typeface="DM Sans"/>
              </a:rPr>
              <a:t>=AND(condition1, condition2, ...)</a:t>
            </a:r>
            <a:endParaRPr b="1">
              <a:solidFill>
                <a:srgbClr val="38761D"/>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nvSpPr>
        <p:spPr>
          <a:xfrm>
            <a:off x="489500" y="459725"/>
            <a:ext cx="7950900" cy="5727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latin typeface="DM Sans ExtraBold"/>
                <a:ea typeface="DM Sans ExtraBold"/>
                <a:cs typeface="DM Sans ExtraBold"/>
                <a:sym typeface="DM Sans ExtraBold"/>
              </a:rPr>
              <a:t>OR Function</a:t>
            </a:r>
            <a:endParaRPr sz="2500">
              <a:solidFill>
                <a:schemeClr val="dk1"/>
              </a:solidFill>
              <a:latin typeface="DM Sans ExtraBold"/>
              <a:ea typeface="DM Sans ExtraBold"/>
              <a:cs typeface="DM Sans ExtraBold"/>
              <a:sym typeface="DM Sans ExtraBold"/>
            </a:endParaRPr>
          </a:p>
        </p:txBody>
      </p:sp>
      <p:sp>
        <p:nvSpPr>
          <p:cNvPr id="126" name="Google Shape;126;p24"/>
          <p:cNvSpPr txBox="1"/>
          <p:nvPr/>
        </p:nvSpPr>
        <p:spPr>
          <a:xfrm>
            <a:off x="398600" y="1409825"/>
            <a:ext cx="7772100" cy="19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Montserrat"/>
                <a:ea typeface="Montserrat"/>
                <a:cs typeface="Montserrat"/>
                <a:sym typeface="Montserrat"/>
              </a:rPr>
              <a:t>OR Function : </a:t>
            </a:r>
            <a:r>
              <a:rPr lang="en">
                <a:latin typeface="Montserrat"/>
                <a:ea typeface="Montserrat"/>
                <a:cs typeface="Montserrat"/>
                <a:sym typeface="Montserrat"/>
              </a:rPr>
              <a:t>Checks whether any of the arguments is true and returns true or false. Returns False only if all the arguments are false.</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rPr b="1" lang="en">
                <a:latin typeface="Montserrat"/>
                <a:ea typeface="Montserrat"/>
                <a:cs typeface="Montserrat"/>
                <a:sym typeface="Montserrat"/>
              </a:rPr>
              <a:t>Syntax : </a:t>
            </a:r>
            <a:r>
              <a:rPr b="1" lang="en">
                <a:solidFill>
                  <a:srgbClr val="38761D"/>
                </a:solidFill>
                <a:latin typeface="Montserrat"/>
                <a:ea typeface="Montserrat"/>
                <a:cs typeface="Montserrat"/>
                <a:sym typeface="Montserrat"/>
              </a:rPr>
              <a:t> </a:t>
            </a:r>
            <a:endParaRPr>
              <a:solidFill>
                <a:srgbClr val="38761D"/>
              </a:solidFill>
              <a:latin typeface="DM Sans SemiBold"/>
              <a:ea typeface="DM Sans SemiBold"/>
              <a:cs typeface="DM Sans SemiBold"/>
              <a:sym typeface="DM Sans SemiBold"/>
            </a:endParaRPr>
          </a:p>
          <a:p>
            <a:pPr indent="0" lvl="0" marL="0" rtl="0" algn="l">
              <a:spcBef>
                <a:spcPts val="0"/>
              </a:spcBef>
              <a:spcAft>
                <a:spcPts val="0"/>
              </a:spcAft>
              <a:buNone/>
            </a:pPr>
            <a:r>
              <a:t/>
            </a:r>
            <a:endParaRPr>
              <a:latin typeface="Montserrat SemiBold"/>
              <a:ea typeface="Montserrat SemiBold"/>
              <a:cs typeface="Montserrat SemiBold"/>
              <a:sym typeface="Montserrat SemiBold"/>
            </a:endParaRPr>
          </a:p>
          <a:p>
            <a:pPr indent="0" lvl="0" marL="0" rtl="0" algn="l">
              <a:spcBef>
                <a:spcPts val="0"/>
              </a:spcBef>
              <a:spcAft>
                <a:spcPts val="0"/>
              </a:spcAft>
              <a:buNone/>
            </a:pPr>
            <a:r>
              <a:rPr b="1" lang="en">
                <a:latin typeface="Montserrat"/>
                <a:ea typeface="Montserrat"/>
                <a:cs typeface="Montserrat"/>
                <a:sym typeface="Montserrat"/>
              </a:rPr>
              <a:t>Example : Check either the student is female or has scored more than 90 marks.</a:t>
            </a:r>
            <a:endParaRPr b="1">
              <a:latin typeface="Montserrat"/>
              <a:ea typeface="Montserrat"/>
              <a:cs typeface="Montserrat"/>
              <a:sym typeface="Montserrat"/>
            </a:endParaRPr>
          </a:p>
          <a:p>
            <a:pPr indent="0" lvl="0" marL="0" rtl="0" algn="l">
              <a:spcBef>
                <a:spcPts val="0"/>
              </a:spcBef>
              <a:spcAft>
                <a:spcPts val="0"/>
              </a:spcAft>
              <a:buNone/>
            </a:pPr>
            <a:r>
              <a:t/>
            </a:r>
            <a:endParaRPr b="1">
              <a:latin typeface="Montserrat"/>
              <a:ea typeface="Montserrat"/>
              <a:cs typeface="Montserrat"/>
              <a:sym typeface="Montserrat"/>
            </a:endParaRPr>
          </a:p>
          <a:p>
            <a:pPr indent="0" lvl="0" marL="0" rtl="0" algn="l">
              <a:spcBef>
                <a:spcPts val="0"/>
              </a:spcBef>
              <a:spcAft>
                <a:spcPts val="0"/>
              </a:spcAft>
              <a:buNone/>
            </a:pPr>
            <a:r>
              <a:rPr lang="en">
                <a:solidFill>
                  <a:srgbClr val="38761D"/>
                </a:solidFill>
                <a:latin typeface="Roboto Mono SemiBold"/>
                <a:ea typeface="Roboto Mono SemiBold"/>
                <a:cs typeface="Roboto Mono SemiBold"/>
                <a:sym typeface="Roboto Mono SemiBold"/>
              </a:rPr>
              <a:t>=OR(B2 &gt; 70,C2 = “Drawing”)</a:t>
            </a:r>
            <a:endParaRPr b="1">
              <a:latin typeface="Roboto Mono"/>
              <a:ea typeface="Roboto Mono"/>
              <a:cs typeface="Roboto Mono"/>
              <a:sym typeface="Roboto Mono"/>
            </a:endParaRPr>
          </a:p>
        </p:txBody>
      </p:sp>
      <p:pic>
        <p:nvPicPr>
          <p:cNvPr id="127" name="Google Shape;127;p24"/>
          <p:cNvPicPr preferRelativeResize="0"/>
          <p:nvPr/>
        </p:nvPicPr>
        <p:blipFill>
          <a:blip r:embed="rId3">
            <a:alphaModFix/>
          </a:blip>
          <a:stretch>
            <a:fillRect/>
          </a:stretch>
        </p:blipFill>
        <p:spPr>
          <a:xfrm>
            <a:off x="1585075" y="3393450"/>
            <a:ext cx="4892128" cy="1510675"/>
          </a:xfrm>
          <a:prstGeom prst="rect">
            <a:avLst/>
          </a:prstGeom>
          <a:noFill/>
          <a:ln>
            <a:noFill/>
          </a:ln>
        </p:spPr>
      </p:pic>
      <p:sp>
        <p:nvSpPr>
          <p:cNvPr id="128" name="Google Shape;128;p24"/>
          <p:cNvSpPr txBox="1"/>
          <p:nvPr/>
        </p:nvSpPr>
        <p:spPr>
          <a:xfrm>
            <a:off x="1408475" y="2076200"/>
            <a:ext cx="3000000" cy="4002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38761D"/>
                </a:solidFill>
                <a:latin typeface="DM Sans"/>
                <a:ea typeface="DM Sans"/>
                <a:cs typeface="DM Sans"/>
                <a:sym typeface="DM Sans"/>
              </a:rPr>
              <a:t>=OR(condition1, condition2,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a:solidFill>
            <a:srgbClr val="D9EAD3"/>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500">
                <a:latin typeface="DM Sans ExtraBold"/>
                <a:ea typeface="DM Sans ExtraBold"/>
                <a:cs typeface="DM Sans ExtraBold"/>
                <a:sym typeface="DM Sans ExtraBold"/>
              </a:rPr>
              <a:t>NOT Function</a:t>
            </a:r>
            <a:endParaRPr b="1">
              <a:latin typeface="DM Sans"/>
              <a:ea typeface="DM Sans"/>
              <a:cs typeface="DM Sans"/>
              <a:sym typeface="DM Sans"/>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n" sz="1400">
                <a:solidFill>
                  <a:srgbClr val="000000"/>
                </a:solidFill>
                <a:latin typeface="Montserrat"/>
                <a:ea typeface="Montserrat"/>
                <a:cs typeface="Montserrat"/>
                <a:sym typeface="Montserrat"/>
              </a:rPr>
              <a:t>NOT Function : </a:t>
            </a:r>
            <a:r>
              <a:rPr lang="en" sz="1400">
                <a:solidFill>
                  <a:srgbClr val="000000"/>
                </a:solidFill>
                <a:latin typeface="Montserrat"/>
                <a:ea typeface="Montserrat"/>
                <a:cs typeface="Montserrat"/>
                <a:sym typeface="Montserrat"/>
              </a:rPr>
              <a:t>Changes TRUE to FALSE or FALSE to TRUE.</a:t>
            </a:r>
            <a:r>
              <a:rPr b="1" lang="en" sz="1400">
                <a:solidFill>
                  <a:srgbClr val="000000"/>
                </a:solidFill>
                <a:latin typeface="Montserrat"/>
                <a:ea typeface="Montserrat"/>
                <a:cs typeface="Montserrat"/>
                <a:sym typeface="Montserrat"/>
              </a:rPr>
              <a:t> </a:t>
            </a:r>
            <a:endParaRPr b="1" sz="1400">
              <a:solidFill>
                <a:srgbClr val="000000"/>
              </a:solidFill>
              <a:latin typeface="Montserrat"/>
              <a:ea typeface="Montserrat"/>
              <a:cs typeface="Montserrat"/>
              <a:sym typeface="Montserrat"/>
            </a:endParaRPr>
          </a:p>
          <a:p>
            <a:pPr indent="0" lvl="0" marL="0" rtl="0" algn="l">
              <a:lnSpc>
                <a:spcPct val="150000"/>
              </a:lnSpc>
              <a:spcBef>
                <a:spcPts val="0"/>
              </a:spcBef>
              <a:spcAft>
                <a:spcPts val="0"/>
              </a:spcAft>
              <a:buNone/>
            </a:pPr>
            <a:r>
              <a:rPr b="1" lang="en" sz="1400">
                <a:solidFill>
                  <a:srgbClr val="000000"/>
                </a:solidFill>
                <a:latin typeface="Montserrat"/>
                <a:ea typeface="Montserrat"/>
                <a:cs typeface="Montserrat"/>
                <a:sym typeface="Montserrat"/>
              </a:rPr>
              <a:t>Syntax : </a:t>
            </a:r>
            <a:endParaRPr b="1" sz="1400">
              <a:solidFill>
                <a:srgbClr val="FFFFFF"/>
              </a:solidFill>
              <a:highlight>
                <a:srgbClr val="333333"/>
              </a:highlight>
              <a:latin typeface="Montserrat"/>
              <a:ea typeface="Montserrat"/>
              <a:cs typeface="Montserrat"/>
              <a:sym typeface="Montserrat"/>
            </a:endParaRPr>
          </a:p>
          <a:p>
            <a:pPr indent="0" lvl="0" marL="0" rtl="0" algn="l">
              <a:lnSpc>
                <a:spcPct val="150000"/>
              </a:lnSpc>
              <a:spcBef>
                <a:spcPts val="0"/>
              </a:spcBef>
              <a:spcAft>
                <a:spcPts val="0"/>
              </a:spcAft>
              <a:buNone/>
            </a:pPr>
            <a:r>
              <a:t/>
            </a:r>
            <a:endParaRPr b="1" sz="1400">
              <a:solidFill>
                <a:srgbClr val="FFFFFF"/>
              </a:solidFill>
              <a:highlight>
                <a:srgbClr val="333333"/>
              </a:highlight>
              <a:latin typeface="Montserrat"/>
              <a:ea typeface="Montserrat"/>
              <a:cs typeface="Montserrat"/>
              <a:sym typeface="Montserrat"/>
            </a:endParaRPr>
          </a:p>
          <a:p>
            <a:pPr indent="0" lvl="0" marL="0" rtl="0" algn="l">
              <a:lnSpc>
                <a:spcPct val="150000"/>
              </a:lnSpc>
              <a:spcBef>
                <a:spcPts val="0"/>
              </a:spcBef>
              <a:spcAft>
                <a:spcPts val="0"/>
              </a:spcAft>
              <a:buNone/>
            </a:pPr>
            <a:r>
              <a:rPr b="1" lang="en" sz="1400">
                <a:solidFill>
                  <a:srgbClr val="000000"/>
                </a:solidFill>
                <a:latin typeface="Montserrat"/>
                <a:ea typeface="Montserrat"/>
                <a:cs typeface="Montserrat"/>
                <a:sym typeface="Montserrat"/>
              </a:rPr>
              <a:t>Example : </a:t>
            </a:r>
            <a:endParaRPr sz="1400">
              <a:solidFill>
                <a:srgbClr val="000000"/>
              </a:solidFill>
              <a:latin typeface="Montserrat"/>
              <a:ea typeface="Montserrat"/>
              <a:cs typeface="Montserrat"/>
              <a:sym typeface="Montserrat"/>
            </a:endParaRPr>
          </a:p>
          <a:p>
            <a:pPr indent="0" lvl="0" marL="0" rtl="0" algn="l">
              <a:lnSpc>
                <a:spcPct val="150000"/>
              </a:lnSpc>
              <a:spcBef>
                <a:spcPts val="0"/>
              </a:spcBef>
              <a:spcAft>
                <a:spcPts val="0"/>
              </a:spcAft>
              <a:buNone/>
            </a:pPr>
            <a:r>
              <a:rPr b="1" lang="en" sz="1400">
                <a:solidFill>
                  <a:srgbClr val="000000"/>
                </a:solidFill>
                <a:latin typeface="Roboto Mono"/>
                <a:ea typeface="Roboto Mono"/>
                <a:cs typeface="Roboto Mono"/>
                <a:sym typeface="Roboto Mono"/>
              </a:rPr>
              <a:t> </a:t>
            </a:r>
            <a:r>
              <a:rPr b="1" lang="en" sz="1400">
                <a:solidFill>
                  <a:srgbClr val="38761D"/>
                </a:solidFill>
                <a:latin typeface="Roboto Mono"/>
                <a:ea typeface="Roboto Mono"/>
                <a:cs typeface="Roboto Mono"/>
                <a:sym typeface="Roboto Mono"/>
              </a:rPr>
              <a:t>=NOT(B2&gt;70)</a:t>
            </a:r>
            <a:endParaRPr b="1" sz="1400">
              <a:solidFill>
                <a:srgbClr val="000000"/>
              </a:solidFill>
              <a:latin typeface="Roboto Mono"/>
              <a:ea typeface="Roboto Mono"/>
              <a:cs typeface="Roboto Mono"/>
              <a:sym typeface="Roboto Mono"/>
            </a:endParaRPr>
          </a:p>
          <a:p>
            <a:pPr indent="0" lvl="0" marL="0" rtl="0" algn="l">
              <a:spcBef>
                <a:spcPts val="0"/>
              </a:spcBef>
              <a:spcAft>
                <a:spcPts val="1200"/>
              </a:spcAft>
              <a:buNone/>
            </a:pPr>
            <a:r>
              <a:t/>
            </a:r>
            <a:endParaRPr/>
          </a:p>
        </p:txBody>
      </p:sp>
      <p:pic>
        <p:nvPicPr>
          <p:cNvPr id="135" name="Google Shape;135;p25"/>
          <p:cNvPicPr preferRelativeResize="0"/>
          <p:nvPr/>
        </p:nvPicPr>
        <p:blipFill>
          <a:blip r:embed="rId3">
            <a:alphaModFix/>
          </a:blip>
          <a:stretch>
            <a:fillRect/>
          </a:stretch>
        </p:blipFill>
        <p:spPr>
          <a:xfrm>
            <a:off x="3147338" y="2302413"/>
            <a:ext cx="4067175" cy="1647825"/>
          </a:xfrm>
          <a:prstGeom prst="rect">
            <a:avLst/>
          </a:prstGeom>
          <a:noFill/>
          <a:ln>
            <a:noFill/>
          </a:ln>
        </p:spPr>
      </p:pic>
      <p:sp>
        <p:nvSpPr>
          <p:cNvPr id="136" name="Google Shape;136;p25"/>
          <p:cNvSpPr txBox="1"/>
          <p:nvPr/>
        </p:nvSpPr>
        <p:spPr>
          <a:xfrm>
            <a:off x="1258300" y="1550425"/>
            <a:ext cx="3000000" cy="4002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a:solidFill>
                  <a:srgbClr val="38761D"/>
                </a:solidFill>
                <a:latin typeface="DM Sans"/>
                <a:ea typeface="DM Sans"/>
                <a:cs typeface="DM Sans"/>
                <a:sym typeface="DM Sans"/>
              </a:rPr>
              <a:t>NOT(Logical)</a:t>
            </a:r>
            <a:endParaRPr>
              <a:solidFill>
                <a:srgbClr val="38761D"/>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latin typeface="DM Sans"/>
                <a:ea typeface="DM Sans"/>
                <a:cs typeface="DM Sans"/>
                <a:sym typeface="DM Sans"/>
              </a:rPr>
              <a:t>Introduction to Nested Functions</a:t>
            </a:r>
            <a:endParaRPr b="1" sz="2500">
              <a:latin typeface="DM Sans"/>
              <a:ea typeface="DM Sans"/>
              <a:cs typeface="DM Sans"/>
              <a:sym typeface="DM Sans"/>
            </a:endParaRPr>
          </a:p>
          <a:p>
            <a:pPr indent="0" lvl="0" marL="0" rtl="0" algn="l">
              <a:spcBef>
                <a:spcPts val="400"/>
              </a:spcBef>
              <a:spcAft>
                <a:spcPts val="0"/>
              </a:spcAft>
              <a:buNone/>
            </a:pPr>
            <a:r>
              <a:t/>
            </a:r>
            <a:endParaRPr sz="2500">
              <a:latin typeface="DM Sans"/>
              <a:ea typeface="DM Sans"/>
              <a:cs typeface="DM Sans"/>
              <a:sym typeface="DM Sans"/>
            </a:endParaRPr>
          </a:p>
        </p:txBody>
      </p:sp>
      <p:sp>
        <p:nvSpPr>
          <p:cNvPr id="142" name="Google Shape;14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400">
                <a:solidFill>
                  <a:schemeClr val="dk1"/>
                </a:solidFill>
                <a:latin typeface="DM Sans"/>
                <a:ea typeface="DM Sans"/>
                <a:cs typeface="DM Sans"/>
                <a:sym typeface="DM Sans"/>
              </a:rPr>
              <a:t>What are Nested Functions?</a:t>
            </a:r>
            <a:endParaRPr b="1" sz="1400">
              <a:solidFill>
                <a:schemeClr val="dk1"/>
              </a:solidFill>
              <a:latin typeface="DM Sans"/>
              <a:ea typeface="DM Sans"/>
              <a:cs typeface="DM Sans"/>
              <a:sym typeface="DM Sans"/>
            </a:endParaRPr>
          </a:p>
          <a:p>
            <a:pPr indent="-317500" lvl="0" marL="457200" rtl="0" algn="l">
              <a:spcBef>
                <a:spcPts val="1200"/>
              </a:spcBef>
              <a:spcAft>
                <a:spcPts val="0"/>
              </a:spcAft>
              <a:buClr>
                <a:schemeClr val="dk1"/>
              </a:buClr>
              <a:buSzPts val="1400"/>
              <a:buFont typeface="DM Sans"/>
              <a:buChar char="●"/>
            </a:pPr>
            <a:r>
              <a:rPr lang="en" sz="1400">
                <a:solidFill>
                  <a:schemeClr val="dk1"/>
                </a:solidFill>
                <a:latin typeface="DM Sans"/>
                <a:ea typeface="DM Sans"/>
                <a:cs typeface="DM Sans"/>
                <a:sym typeface="DM Sans"/>
              </a:rPr>
              <a:t>A nested function is a function placed inside another function.</a:t>
            </a:r>
            <a:endParaRPr sz="1400">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DM Sans"/>
              <a:buChar char="●"/>
            </a:pPr>
            <a:r>
              <a:rPr lang="en" sz="1400">
                <a:solidFill>
                  <a:schemeClr val="dk1"/>
                </a:solidFill>
                <a:latin typeface="DM Sans"/>
                <a:ea typeface="DM Sans"/>
                <a:cs typeface="DM Sans"/>
                <a:sym typeface="DM Sans"/>
              </a:rPr>
              <a:t>The inner function is calculated first.</a:t>
            </a:r>
            <a:endParaRPr sz="1400">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DM Sans"/>
              <a:buChar char="●"/>
            </a:pPr>
            <a:r>
              <a:rPr lang="en" sz="1400">
                <a:solidFill>
                  <a:schemeClr val="dk1"/>
                </a:solidFill>
                <a:latin typeface="DM Sans"/>
                <a:ea typeface="DM Sans"/>
                <a:cs typeface="DM Sans"/>
                <a:sym typeface="DM Sans"/>
              </a:rPr>
              <a:t>The result is then used by the outer function.</a:t>
            </a:r>
            <a:endParaRPr sz="1400">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DM Sans"/>
              <a:buChar char="●"/>
            </a:pPr>
            <a:r>
              <a:rPr lang="en" sz="1400">
                <a:solidFill>
                  <a:schemeClr val="dk1"/>
                </a:solidFill>
                <a:latin typeface="DM Sans"/>
                <a:ea typeface="DM Sans"/>
                <a:cs typeface="DM Sans"/>
                <a:sym typeface="DM Sans"/>
              </a:rPr>
              <a:t>Used to perform multiple calculations in a single formula.</a:t>
            </a:r>
            <a:endParaRPr sz="1400">
              <a:solidFill>
                <a:schemeClr val="dk1"/>
              </a:solidFill>
              <a:latin typeface="DM Sans"/>
              <a:ea typeface="DM Sans"/>
              <a:cs typeface="DM Sans"/>
              <a:sym typeface="DM Sans"/>
            </a:endParaRPr>
          </a:p>
          <a:p>
            <a:pPr indent="0" lvl="0" marL="0" rtl="0" algn="l">
              <a:spcBef>
                <a:spcPts val="1200"/>
              </a:spcBef>
              <a:spcAft>
                <a:spcPts val="1200"/>
              </a:spcAft>
              <a:buNone/>
            </a:pPr>
            <a:r>
              <a:t/>
            </a:r>
            <a:endParaRPr sz="1400">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148" name="Google Shape;148;p27"/>
          <p:cNvSpPr txBox="1"/>
          <p:nvPr>
            <p:ph type="title"/>
          </p:nvPr>
        </p:nvSpPr>
        <p:spPr>
          <a:xfrm>
            <a:off x="489500" y="459725"/>
            <a:ext cx="5987700" cy="5727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Nested Function</a:t>
            </a:r>
            <a:endParaRPr b="1" sz="2500">
              <a:latin typeface="DM Sans"/>
              <a:ea typeface="DM Sans"/>
              <a:cs typeface="DM Sans"/>
              <a:sym typeface="DM Sans"/>
            </a:endParaRPr>
          </a:p>
        </p:txBody>
      </p:sp>
      <p:sp>
        <p:nvSpPr>
          <p:cNvPr id="149" name="Google Shape;149;p27"/>
          <p:cNvSpPr txBox="1"/>
          <p:nvPr/>
        </p:nvSpPr>
        <p:spPr>
          <a:xfrm>
            <a:off x="337100" y="1393825"/>
            <a:ext cx="71337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latin typeface="DM Sans"/>
                <a:ea typeface="DM Sans"/>
                <a:cs typeface="DM Sans"/>
                <a:sym typeface="DM Sans"/>
              </a:rPr>
              <a:t>Combining multiple logical functions to solve complex scenarios</a:t>
            </a:r>
            <a:endParaRPr>
              <a:latin typeface="DM Sans"/>
              <a:ea typeface="DM Sans"/>
              <a:cs typeface="DM Sans"/>
              <a:sym typeface="DM Sans"/>
            </a:endParaRPr>
          </a:p>
          <a:p>
            <a:pPr indent="0" lvl="0" marL="0" rtl="0" algn="l">
              <a:lnSpc>
                <a:spcPct val="115000"/>
              </a:lnSpc>
              <a:spcBef>
                <a:spcPts val="0"/>
              </a:spcBef>
              <a:spcAft>
                <a:spcPts val="0"/>
              </a:spcAft>
              <a:buNone/>
            </a:pPr>
            <a:r>
              <a:t/>
            </a:r>
            <a:endParaRPr>
              <a:latin typeface="DM Sans"/>
              <a:ea typeface="DM Sans"/>
              <a:cs typeface="DM Sans"/>
              <a:sym typeface="DM Sans"/>
            </a:endParaRPr>
          </a:p>
          <a:p>
            <a:pPr indent="0" lvl="0" marL="0" rtl="0" algn="l">
              <a:lnSpc>
                <a:spcPct val="115000"/>
              </a:lnSpc>
              <a:spcBef>
                <a:spcPts val="0"/>
              </a:spcBef>
              <a:spcAft>
                <a:spcPts val="0"/>
              </a:spcAft>
              <a:buNone/>
            </a:pPr>
            <a:r>
              <a:rPr b="1" lang="en">
                <a:latin typeface="DM Sans"/>
                <a:ea typeface="DM Sans"/>
                <a:cs typeface="DM Sans"/>
                <a:sym typeface="DM Sans"/>
              </a:rPr>
              <a:t>Example : </a:t>
            </a:r>
            <a:endParaRPr b="1">
              <a:latin typeface="DM Sans"/>
              <a:ea typeface="DM Sans"/>
              <a:cs typeface="DM Sans"/>
              <a:sym typeface="DM Sans"/>
            </a:endParaRPr>
          </a:p>
          <a:p>
            <a:pPr indent="0" lvl="0" marL="0" rtl="0" algn="l">
              <a:lnSpc>
                <a:spcPct val="115000"/>
              </a:lnSpc>
              <a:spcBef>
                <a:spcPts val="0"/>
              </a:spcBef>
              <a:spcAft>
                <a:spcPts val="0"/>
              </a:spcAft>
              <a:buNone/>
            </a:pPr>
            <a:r>
              <a:t/>
            </a:r>
            <a:endParaRPr b="1">
              <a:latin typeface="DM Sans"/>
              <a:ea typeface="DM Sans"/>
              <a:cs typeface="DM Sans"/>
              <a:sym typeface="DM Sans"/>
            </a:endParaRPr>
          </a:p>
          <a:p>
            <a:pPr indent="-317500" lvl="0" marL="457200" rtl="0" algn="l">
              <a:lnSpc>
                <a:spcPct val="115000"/>
              </a:lnSpc>
              <a:spcBef>
                <a:spcPts val="0"/>
              </a:spcBef>
              <a:spcAft>
                <a:spcPts val="0"/>
              </a:spcAft>
              <a:buSzPts val="1400"/>
              <a:buFont typeface="DM Sans"/>
              <a:buChar char="●"/>
            </a:pPr>
            <a:r>
              <a:rPr b="1" lang="en">
                <a:latin typeface="DM Sans"/>
                <a:ea typeface="DM Sans"/>
                <a:cs typeface="DM Sans"/>
                <a:sym typeface="DM Sans"/>
              </a:rPr>
              <a:t>Nested IF Function</a:t>
            </a:r>
            <a:endParaRPr b="1">
              <a:latin typeface="DM Sans"/>
              <a:ea typeface="DM Sans"/>
              <a:cs typeface="DM Sans"/>
              <a:sym typeface="DM Sans"/>
            </a:endParaRPr>
          </a:p>
          <a:p>
            <a:pPr indent="0" lvl="0" marL="457200" rtl="0" algn="l">
              <a:lnSpc>
                <a:spcPct val="115000"/>
              </a:lnSpc>
              <a:spcBef>
                <a:spcPts val="0"/>
              </a:spcBef>
              <a:spcAft>
                <a:spcPts val="0"/>
              </a:spcAft>
              <a:buNone/>
            </a:pPr>
            <a:r>
              <a:t/>
            </a:r>
            <a:endParaRPr b="1">
              <a:latin typeface="DM Sans"/>
              <a:ea typeface="DM Sans"/>
              <a:cs typeface="DM Sans"/>
              <a:sym typeface="DM Sans"/>
            </a:endParaRPr>
          </a:p>
        </p:txBody>
      </p:sp>
      <p:sp>
        <p:nvSpPr>
          <p:cNvPr id="150" name="Google Shape;150;p27"/>
          <p:cNvSpPr txBox="1"/>
          <p:nvPr/>
        </p:nvSpPr>
        <p:spPr>
          <a:xfrm>
            <a:off x="337100" y="3484425"/>
            <a:ext cx="30531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Font typeface="DM Sans"/>
              <a:buChar char="●"/>
            </a:pPr>
            <a:r>
              <a:rPr b="1" lang="en">
                <a:latin typeface="DM Sans"/>
                <a:ea typeface="DM Sans"/>
                <a:cs typeface="DM Sans"/>
                <a:sym typeface="DM Sans"/>
              </a:rPr>
              <a:t>Nested IF- AND Function</a:t>
            </a:r>
            <a:endParaRPr>
              <a:latin typeface="DM Sans"/>
              <a:ea typeface="DM Sans"/>
              <a:cs typeface="DM Sans"/>
              <a:sym typeface="DM Sans"/>
            </a:endParaRPr>
          </a:p>
        </p:txBody>
      </p:sp>
      <p:sp>
        <p:nvSpPr>
          <p:cNvPr id="151" name="Google Shape;151;p27"/>
          <p:cNvSpPr txBox="1"/>
          <p:nvPr/>
        </p:nvSpPr>
        <p:spPr>
          <a:xfrm>
            <a:off x="886850" y="2784275"/>
            <a:ext cx="7824900" cy="6480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rgbClr val="38761D"/>
                </a:solidFill>
                <a:latin typeface="DM Sans"/>
                <a:ea typeface="DM Sans"/>
                <a:cs typeface="DM Sans"/>
                <a:sym typeface="DM Sans"/>
              </a:rPr>
              <a:t>IF(condition , value_if_true , IF(condition , value_if_true, IF(condition , value_if_true , ......)</a:t>
            </a:r>
            <a:endParaRPr>
              <a:solidFill>
                <a:srgbClr val="38761D"/>
              </a:solidFill>
              <a:latin typeface="DM Sans"/>
              <a:ea typeface="DM Sans"/>
              <a:cs typeface="DM Sans"/>
              <a:sym typeface="DM Sans"/>
            </a:endParaRPr>
          </a:p>
        </p:txBody>
      </p:sp>
      <p:sp>
        <p:nvSpPr>
          <p:cNvPr id="152" name="Google Shape;152;p27"/>
          <p:cNvSpPr txBox="1"/>
          <p:nvPr/>
        </p:nvSpPr>
        <p:spPr>
          <a:xfrm>
            <a:off x="886850" y="3884625"/>
            <a:ext cx="7824900" cy="4002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rgbClr val="38761D"/>
                </a:solidFill>
                <a:latin typeface="DM Sans"/>
                <a:ea typeface="DM Sans"/>
                <a:cs typeface="DM Sans"/>
                <a:sym typeface="DM Sans"/>
              </a:rPr>
              <a:t>IF(AND(condition1,condition2,.....),value_if_true,value_if_false)</a:t>
            </a:r>
            <a:endParaRPr>
              <a:solidFill>
                <a:srgbClr val="38761D"/>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DM Sans"/>
                <a:ea typeface="DM Sans"/>
                <a:cs typeface="DM Sans"/>
                <a:sym typeface="DM Sans"/>
              </a:rPr>
              <a:t>Nested Functions using Logical Functions </a:t>
            </a:r>
            <a:endParaRPr b="1">
              <a:latin typeface="DM Sans"/>
              <a:ea typeface="DM Sans"/>
              <a:cs typeface="DM Sans"/>
              <a:sym typeface="DM Sans"/>
            </a:endParaRPr>
          </a:p>
        </p:txBody>
      </p:sp>
      <p:sp>
        <p:nvSpPr>
          <p:cNvPr id="158" name="Google Shape;158;p28"/>
          <p:cNvSpPr txBox="1"/>
          <p:nvPr>
            <p:ph idx="1" type="body"/>
          </p:nvPr>
        </p:nvSpPr>
        <p:spPr>
          <a:xfrm>
            <a:off x="311700" y="1142050"/>
            <a:ext cx="4372800" cy="1656000"/>
          </a:xfrm>
          <a:prstGeom prst="rect">
            <a:avLst/>
          </a:prstGeom>
          <a:solidFill>
            <a:srgbClr val="FCE5CD"/>
          </a:solidFill>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300">
                <a:solidFill>
                  <a:schemeClr val="dk1"/>
                </a:solidFill>
                <a:latin typeface="DM Sans"/>
                <a:ea typeface="DM Sans"/>
                <a:cs typeface="DM Sans"/>
                <a:sym typeface="DM Sans"/>
              </a:rPr>
              <a:t>1. IF with AND</a:t>
            </a:r>
            <a:endParaRPr b="1" sz="1300">
              <a:solidFill>
                <a:schemeClr val="dk1"/>
              </a:solidFill>
              <a:latin typeface="DM Sans"/>
              <a:ea typeface="DM Sans"/>
              <a:cs typeface="DM Sans"/>
              <a:sym typeface="DM Sans"/>
            </a:endParaRPr>
          </a:p>
          <a:p>
            <a:pPr indent="0" lvl="0" marL="0" rtl="0" algn="l">
              <a:spcBef>
                <a:spcPts val="200"/>
              </a:spcBef>
              <a:spcAft>
                <a:spcPts val="0"/>
              </a:spcAft>
              <a:buClr>
                <a:schemeClr val="dk1"/>
              </a:buClr>
              <a:buSzPts val="1100"/>
              <a:buFont typeface="Arial"/>
              <a:buNone/>
            </a:pPr>
            <a:r>
              <a:rPr lang="en" sz="1300">
                <a:solidFill>
                  <a:schemeClr val="dk1"/>
                </a:solidFill>
                <a:latin typeface="DM Sans"/>
                <a:ea typeface="DM Sans"/>
                <a:cs typeface="DM Sans"/>
                <a:sym typeface="DM Sans"/>
              </a:rPr>
              <a:t>=IF(AND(B2&gt;=50,C2&gt;=50),"Pass","Fail")</a:t>
            </a:r>
            <a:endParaRPr sz="13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b="1" lang="en" sz="1300">
                <a:solidFill>
                  <a:schemeClr val="dk1"/>
                </a:solidFill>
                <a:latin typeface="DM Sans"/>
                <a:ea typeface="DM Sans"/>
                <a:cs typeface="DM Sans"/>
                <a:sym typeface="DM Sans"/>
              </a:rPr>
              <a:t>Logic:</a:t>
            </a:r>
            <a:endParaRPr b="1" sz="1300">
              <a:solidFill>
                <a:schemeClr val="dk1"/>
              </a:solidFill>
              <a:latin typeface="DM Sans"/>
              <a:ea typeface="DM Sans"/>
              <a:cs typeface="DM Sans"/>
              <a:sym typeface="DM Sans"/>
            </a:endParaRPr>
          </a:p>
          <a:p>
            <a:pPr indent="-311150" lvl="0" marL="457200" rtl="0" algn="l">
              <a:spcBef>
                <a:spcPts val="12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Checks if both subjects have marks ≥ 50.</a:t>
            </a:r>
            <a:endParaRPr sz="1300">
              <a:solidFill>
                <a:schemeClr val="dk1"/>
              </a:solidFill>
              <a:latin typeface="DM Sans"/>
              <a:ea typeface="DM Sans"/>
              <a:cs typeface="DM Sans"/>
              <a:sym typeface="DM Sans"/>
            </a:endParaRPr>
          </a:p>
          <a:p>
            <a:pPr indent="-311150" lvl="0" marL="457200" rtl="0" algn="l">
              <a:spcBef>
                <a:spcPts val="0"/>
              </a:spcBef>
              <a:spcAft>
                <a:spcPts val="0"/>
              </a:spcAft>
              <a:buClr>
                <a:schemeClr val="dk1"/>
              </a:buClr>
              <a:buSzPts val="1300"/>
              <a:buChar char="●"/>
            </a:pPr>
            <a:r>
              <a:rPr lang="en" sz="1300">
                <a:solidFill>
                  <a:schemeClr val="dk1"/>
                </a:solidFill>
                <a:latin typeface="DM Sans"/>
                <a:ea typeface="DM Sans"/>
                <a:cs typeface="DM Sans"/>
                <a:sym typeface="DM Sans"/>
              </a:rPr>
              <a:t>Returns </a:t>
            </a:r>
            <a:r>
              <a:rPr b="1" lang="en" sz="1300">
                <a:solidFill>
                  <a:schemeClr val="dk1"/>
                </a:solidFill>
                <a:latin typeface="DM Sans"/>
                <a:ea typeface="DM Sans"/>
                <a:cs typeface="DM Sans"/>
                <a:sym typeface="DM Sans"/>
              </a:rPr>
              <a:t>Pass</a:t>
            </a:r>
            <a:r>
              <a:rPr lang="en" sz="1300">
                <a:solidFill>
                  <a:schemeClr val="dk1"/>
                </a:solidFill>
                <a:latin typeface="DM Sans"/>
                <a:ea typeface="DM Sans"/>
                <a:cs typeface="DM Sans"/>
                <a:sym typeface="DM Sans"/>
              </a:rPr>
              <a:t> if both conditions are true.</a:t>
            </a:r>
            <a:endParaRPr sz="1300">
              <a:latin typeface="DM Sans"/>
              <a:ea typeface="DM Sans"/>
              <a:cs typeface="DM Sans"/>
              <a:sym typeface="DM Sans"/>
            </a:endParaRPr>
          </a:p>
        </p:txBody>
      </p:sp>
      <p:sp>
        <p:nvSpPr>
          <p:cNvPr id="159" name="Google Shape;159;p28"/>
          <p:cNvSpPr txBox="1"/>
          <p:nvPr/>
        </p:nvSpPr>
        <p:spPr>
          <a:xfrm>
            <a:off x="4945250" y="1924525"/>
            <a:ext cx="3787200" cy="18690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solidFill>
                  <a:schemeClr val="dk1"/>
                </a:solidFill>
                <a:latin typeface="DM Sans"/>
                <a:ea typeface="DM Sans"/>
                <a:cs typeface="DM Sans"/>
                <a:sym typeface="DM Sans"/>
              </a:rPr>
              <a:t>3. Nested IF</a:t>
            </a:r>
            <a:endParaRPr b="1" sz="1300">
              <a:solidFill>
                <a:schemeClr val="dk1"/>
              </a:solidFill>
              <a:latin typeface="DM Sans"/>
              <a:ea typeface="DM Sans"/>
              <a:cs typeface="DM Sans"/>
              <a:sym typeface="DM Sans"/>
            </a:endParaRPr>
          </a:p>
          <a:p>
            <a:pPr indent="0" lvl="0" marL="0" rtl="0" algn="l">
              <a:lnSpc>
                <a:spcPct val="115000"/>
              </a:lnSpc>
              <a:spcBef>
                <a:spcPts val="200"/>
              </a:spcBef>
              <a:spcAft>
                <a:spcPts val="0"/>
              </a:spcAft>
              <a:buNone/>
            </a:pPr>
            <a:r>
              <a:rPr lang="en" sz="1300">
                <a:solidFill>
                  <a:schemeClr val="dk1"/>
                </a:solidFill>
                <a:latin typeface="DM Sans"/>
                <a:ea typeface="DM Sans"/>
                <a:cs typeface="DM Sans"/>
                <a:sym typeface="DM Sans"/>
              </a:rPr>
              <a:t>=IF(B2&gt;=75,"Distinction",IF(B2&gt;=50,"Pass","Fail"))</a:t>
            </a:r>
            <a:endParaRPr sz="13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 sz="1300">
                <a:solidFill>
                  <a:schemeClr val="dk1"/>
                </a:solidFill>
                <a:latin typeface="DM Sans"/>
                <a:ea typeface="DM Sans"/>
                <a:cs typeface="DM Sans"/>
                <a:sym typeface="DM Sans"/>
              </a:rPr>
              <a:t>Logic:</a:t>
            </a:r>
            <a:endParaRPr b="1" sz="1300">
              <a:solidFill>
                <a:schemeClr val="dk1"/>
              </a:solidFill>
              <a:latin typeface="DM Sans"/>
              <a:ea typeface="DM Sans"/>
              <a:cs typeface="DM Sans"/>
              <a:sym typeface="DM Sans"/>
            </a:endParaRPr>
          </a:p>
          <a:p>
            <a:pPr indent="-311150" lvl="0" marL="457200" rtl="0" algn="l">
              <a:lnSpc>
                <a:spcPct val="115000"/>
              </a:lnSpc>
              <a:spcBef>
                <a:spcPts val="12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Marks ≥ 75 → Distinction</a:t>
            </a:r>
            <a:endParaRPr sz="1300">
              <a:solidFill>
                <a:schemeClr val="dk1"/>
              </a:solidFill>
              <a:latin typeface="DM Sans"/>
              <a:ea typeface="DM Sans"/>
              <a:cs typeface="DM Sans"/>
              <a:sym typeface="DM Sans"/>
            </a:endParaRPr>
          </a:p>
          <a:p>
            <a:pPr indent="-311150" lvl="0" marL="457200" rtl="0" algn="l">
              <a:lnSpc>
                <a:spcPct val="115000"/>
              </a:lnSpc>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Marks ≥ 50 → Pass</a:t>
            </a:r>
            <a:endParaRPr sz="1300">
              <a:solidFill>
                <a:schemeClr val="dk1"/>
              </a:solidFill>
              <a:latin typeface="DM Sans"/>
              <a:ea typeface="DM Sans"/>
              <a:cs typeface="DM Sans"/>
              <a:sym typeface="DM Sans"/>
            </a:endParaRPr>
          </a:p>
          <a:p>
            <a:pPr indent="-311150" lvl="0" marL="457200" rtl="0" algn="l">
              <a:lnSpc>
                <a:spcPct val="115000"/>
              </a:lnSpc>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Otherwise → Fail</a:t>
            </a:r>
            <a:endParaRPr sz="1300">
              <a:latin typeface="DM Sans"/>
              <a:ea typeface="DM Sans"/>
              <a:cs typeface="DM Sans"/>
              <a:sym typeface="DM Sans"/>
            </a:endParaRPr>
          </a:p>
        </p:txBody>
      </p:sp>
      <p:sp>
        <p:nvSpPr>
          <p:cNvPr id="160" name="Google Shape;160;p28"/>
          <p:cNvSpPr txBox="1"/>
          <p:nvPr/>
        </p:nvSpPr>
        <p:spPr>
          <a:xfrm>
            <a:off x="311675" y="3011050"/>
            <a:ext cx="4372800" cy="16386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solidFill>
                  <a:schemeClr val="dk1"/>
                </a:solidFill>
                <a:latin typeface="DM Sans"/>
                <a:ea typeface="DM Sans"/>
                <a:cs typeface="DM Sans"/>
                <a:sym typeface="DM Sans"/>
              </a:rPr>
              <a:t>2. IF with OR</a:t>
            </a:r>
            <a:endParaRPr b="1" sz="1300">
              <a:solidFill>
                <a:schemeClr val="dk1"/>
              </a:solidFill>
              <a:latin typeface="DM Sans"/>
              <a:ea typeface="DM Sans"/>
              <a:cs typeface="DM Sans"/>
              <a:sym typeface="DM Sans"/>
            </a:endParaRPr>
          </a:p>
          <a:p>
            <a:pPr indent="0" lvl="0" marL="0" rtl="0" algn="l">
              <a:lnSpc>
                <a:spcPct val="115000"/>
              </a:lnSpc>
              <a:spcBef>
                <a:spcPts val="200"/>
              </a:spcBef>
              <a:spcAft>
                <a:spcPts val="0"/>
              </a:spcAft>
              <a:buNone/>
            </a:pPr>
            <a:r>
              <a:rPr lang="en" sz="1300">
                <a:solidFill>
                  <a:schemeClr val="dk1"/>
                </a:solidFill>
                <a:latin typeface="DM Sans"/>
                <a:ea typeface="DM Sans"/>
                <a:cs typeface="DM Sans"/>
                <a:sym typeface="DM Sans"/>
              </a:rPr>
              <a:t>=IF(OR(B2&gt;=90,C2&gt;=90),"Outstanding","Good")</a:t>
            </a:r>
            <a:endParaRPr sz="13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 sz="1300">
                <a:solidFill>
                  <a:schemeClr val="dk1"/>
                </a:solidFill>
                <a:latin typeface="DM Sans"/>
                <a:ea typeface="DM Sans"/>
                <a:cs typeface="DM Sans"/>
                <a:sym typeface="DM Sans"/>
              </a:rPr>
              <a:t>Logic:</a:t>
            </a:r>
            <a:endParaRPr b="1" sz="1300">
              <a:solidFill>
                <a:schemeClr val="dk1"/>
              </a:solidFill>
              <a:latin typeface="DM Sans"/>
              <a:ea typeface="DM Sans"/>
              <a:cs typeface="DM Sans"/>
              <a:sym typeface="DM Sans"/>
            </a:endParaRPr>
          </a:p>
          <a:p>
            <a:pPr indent="-311150" lvl="0" marL="457200" rtl="0" algn="l">
              <a:lnSpc>
                <a:spcPct val="115000"/>
              </a:lnSpc>
              <a:spcBef>
                <a:spcPts val="12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Checks if at least one subject has marks ≥ 90.</a:t>
            </a:r>
            <a:endParaRPr sz="1300">
              <a:solidFill>
                <a:schemeClr val="dk1"/>
              </a:solidFill>
              <a:latin typeface="DM Sans"/>
              <a:ea typeface="DM Sans"/>
              <a:cs typeface="DM Sans"/>
              <a:sym typeface="DM Sans"/>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latin typeface="DM Sans"/>
                <a:ea typeface="DM Sans"/>
                <a:cs typeface="DM Sans"/>
                <a:sym typeface="DM Sans"/>
              </a:rPr>
              <a:t>Returns </a:t>
            </a:r>
            <a:r>
              <a:rPr b="1" lang="en" sz="1300">
                <a:solidFill>
                  <a:schemeClr val="dk1"/>
                </a:solidFill>
                <a:latin typeface="DM Sans"/>
                <a:ea typeface="DM Sans"/>
                <a:cs typeface="DM Sans"/>
                <a:sym typeface="DM Sans"/>
              </a:rPr>
              <a:t>Outstanding</a:t>
            </a:r>
            <a:r>
              <a:rPr lang="en" sz="1300">
                <a:solidFill>
                  <a:schemeClr val="dk1"/>
                </a:solidFill>
                <a:latin typeface="DM Sans"/>
                <a:ea typeface="DM Sans"/>
                <a:cs typeface="DM Sans"/>
                <a:sym typeface="DM Sans"/>
              </a:rPr>
              <a:t> if any condition is true.</a:t>
            </a:r>
            <a:endParaRPr sz="1300">
              <a:solidFill>
                <a:schemeClr val="dk2"/>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9"/>
          <p:cNvPicPr preferRelativeResize="0"/>
          <p:nvPr/>
        </p:nvPicPr>
        <p:blipFill>
          <a:blip r:embed="rId3">
            <a:alphaModFix/>
          </a:blip>
          <a:stretch>
            <a:fillRect/>
          </a:stretch>
        </p:blipFill>
        <p:spPr>
          <a:xfrm>
            <a:off x="733588" y="288376"/>
            <a:ext cx="7676824" cy="4673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CONCAT Function</a:t>
            </a:r>
            <a:endParaRPr b="1"/>
          </a:p>
        </p:txBody>
      </p:sp>
      <p:sp>
        <p:nvSpPr>
          <p:cNvPr id="171" name="Google Shape;171;p30"/>
          <p:cNvSpPr txBox="1"/>
          <p:nvPr>
            <p:ph idx="1" type="body"/>
          </p:nvPr>
        </p:nvSpPr>
        <p:spPr>
          <a:xfrm>
            <a:off x="311700" y="1152475"/>
            <a:ext cx="8520600" cy="3586500"/>
          </a:xfrm>
          <a:prstGeom prst="rect">
            <a:avLst/>
          </a:prstGeom>
        </p:spPr>
        <p:txBody>
          <a:bodyPr anchorCtr="0" anchor="t" bIns="91425" lIns="91425" spcFirstLastPara="1" rIns="91425" wrap="square" tIns="91425">
            <a:noAutofit/>
          </a:bodyPr>
          <a:lstStyle/>
          <a:p>
            <a:pPr indent="-323850" lvl="0" marL="457200" rtl="0" algn="l">
              <a:spcBef>
                <a:spcPts val="1000"/>
              </a:spcBef>
              <a:spcAft>
                <a:spcPts val="0"/>
              </a:spcAft>
              <a:buClr>
                <a:schemeClr val="dk1"/>
              </a:buClr>
              <a:buSzPts val="1500"/>
              <a:buChar char="●"/>
            </a:pPr>
            <a:r>
              <a:rPr lang="en" sz="1500">
                <a:solidFill>
                  <a:schemeClr val="dk1"/>
                </a:solidFill>
              </a:rPr>
              <a:t>Joins text from multiple cells.</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Formula: </a:t>
            </a:r>
            <a:r>
              <a:rPr lang="en" sz="1500">
                <a:solidFill>
                  <a:schemeClr val="dk1"/>
                </a:solidFill>
                <a:latin typeface="Roboto Mono"/>
                <a:ea typeface="Roboto Mono"/>
                <a:cs typeface="Roboto Mono"/>
                <a:sym typeface="Roboto Mono"/>
              </a:rPr>
              <a:t>=CONCAT(text1, text2, …)</a:t>
            </a:r>
            <a:endParaRPr sz="1500">
              <a:solidFill>
                <a:schemeClr val="dk1"/>
              </a:solidFill>
              <a:latin typeface="Roboto Mono"/>
              <a:ea typeface="Roboto Mono"/>
              <a:cs typeface="Roboto Mono"/>
              <a:sym typeface="Roboto Mono"/>
            </a:endParaRPr>
          </a:p>
          <a:p>
            <a:pPr indent="-323850" lvl="0" marL="457200" rtl="0" algn="l">
              <a:spcBef>
                <a:spcPts val="1000"/>
              </a:spcBef>
              <a:spcAft>
                <a:spcPts val="0"/>
              </a:spcAft>
              <a:buClr>
                <a:schemeClr val="dk1"/>
              </a:buClr>
              <a:buSzPts val="1500"/>
              <a:buChar char="●"/>
            </a:pPr>
            <a:r>
              <a:rPr lang="en" sz="1500">
                <a:solidFill>
                  <a:schemeClr val="dk1"/>
                </a:solidFill>
              </a:rPr>
              <a:t>Example:</a:t>
            </a:r>
            <a:endParaRPr sz="1500">
              <a:solidFill>
                <a:schemeClr val="dk1"/>
              </a:solidFill>
            </a:endParaRPr>
          </a:p>
          <a:p>
            <a:pPr indent="0" lvl="0" marL="457200" rtl="0" algn="l">
              <a:spcBef>
                <a:spcPts val="1200"/>
              </a:spcBef>
              <a:spcAft>
                <a:spcPts val="0"/>
              </a:spcAft>
              <a:buNone/>
            </a:pPr>
            <a:br>
              <a:rPr lang="en" sz="1500">
                <a:solidFill>
                  <a:schemeClr val="dk1"/>
                </a:solidFill>
              </a:rPr>
            </a:b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457200" rtl="0" algn="l">
              <a:spcBef>
                <a:spcPts val="1000"/>
              </a:spcBef>
              <a:spcAft>
                <a:spcPts val="0"/>
              </a:spcAft>
              <a:buNone/>
            </a:pPr>
            <a:r>
              <a:t/>
            </a:r>
            <a:endParaRPr sz="1500">
              <a:solidFill>
                <a:schemeClr val="dk1"/>
              </a:solidFill>
            </a:endParaRPr>
          </a:p>
          <a:p>
            <a:pPr indent="-323850" lvl="0" marL="457200" rtl="0" algn="l">
              <a:spcBef>
                <a:spcPts val="1000"/>
              </a:spcBef>
              <a:spcAft>
                <a:spcPts val="0"/>
              </a:spcAft>
              <a:buClr>
                <a:schemeClr val="dk1"/>
              </a:buClr>
              <a:buSzPts val="1500"/>
              <a:buChar char="●"/>
            </a:pPr>
            <a:r>
              <a:rPr lang="en" sz="1500">
                <a:solidFill>
                  <a:schemeClr val="dk1"/>
                </a:solidFill>
              </a:rPr>
              <a:t>Use Case: Combine first &amp; last names, merge address fields.</a:t>
            </a:r>
            <a:endParaRPr sz="1500">
              <a:solidFill>
                <a:schemeClr val="dk1"/>
              </a:solidFill>
            </a:endParaRPr>
          </a:p>
          <a:p>
            <a:pPr indent="0" lvl="0" marL="457200" rtl="0" algn="l">
              <a:spcBef>
                <a:spcPts val="1000"/>
              </a:spcBef>
              <a:spcAft>
                <a:spcPts val="1200"/>
              </a:spcAft>
              <a:buNone/>
            </a:pPr>
            <a:r>
              <a:t/>
            </a:r>
            <a:endParaRPr sz="1500">
              <a:solidFill>
                <a:schemeClr val="dk1"/>
              </a:solidFill>
            </a:endParaRPr>
          </a:p>
        </p:txBody>
      </p:sp>
      <p:pic>
        <p:nvPicPr>
          <p:cNvPr id="172" name="Google Shape;172;p30"/>
          <p:cNvPicPr preferRelativeResize="0"/>
          <p:nvPr/>
        </p:nvPicPr>
        <p:blipFill>
          <a:blip r:embed="rId3">
            <a:alphaModFix/>
          </a:blip>
          <a:stretch>
            <a:fillRect/>
          </a:stretch>
        </p:blipFill>
        <p:spPr>
          <a:xfrm>
            <a:off x="535625" y="2571750"/>
            <a:ext cx="6057674" cy="1459275"/>
          </a:xfrm>
          <a:prstGeom prst="rect">
            <a:avLst/>
          </a:prstGeom>
          <a:noFill/>
          <a:ln>
            <a:noFill/>
          </a:ln>
        </p:spPr>
      </p:pic>
      <p:sp>
        <p:nvSpPr>
          <p:cNvPr id="173" name="Google Shape;173;p30"/>
          <p:cNvSpPr txBox="1"/>
          <p:nvPr/>
        </p:nvSpPr>
        <p:spPr>
          <a:xfrm>
            <a:off x="6657925" y="2622025"/>
            <a:ext cx="1736100" cy="477300"/>
          </a:xfrm>
          <a:prstGeom prst="rect">
            <a:avLst/>
          </a:prstGeom>
          <a:solidFill>
            <a:srgbClr val="B6D7A8"/>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 sz="1600">
                <a:solidFill>
                  <a:schemeClr val="dk1"/>
                </a:solidFill>
              </a:rPr>
              <a:t>→ Hello World!</a:t>
            </a:r>
            <a:endParaRPr b="1" sz="16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Similar Functions to CONCAT</a:t>
            </a:r>
            <a:endParaRPr b="1"/>
          </a:p>
        </p:txBody>
      </p:sp>
      <p:graphicFrame>
        <p:nvGraphicFramePr>
          <p:cNvPr id="179" name="Google Shape;179;p31"/>
          <p:cNvGraphicFramePr/>
          <p:nvPr/>
        </p:nvGraphicFramePr>
        <p:xfrm>
          <a:off x="431750" y="1245163"/>
          <a:ext cx="3000000" cy="3000000"/>
        </p:xfrm>
        <a:graphic>
          <a:graphicData uri="http://schemas.openxmlformats.org/drawingml/2006/table">
            <a:tbl>
              <a:tblPr>
                <a:noFill/>
                <a:tableStyleId>{6190B458-1E71-4F2B-88B4-514E9524A88F}</a:tableStyleId>
              </a:tblPr>
              <a:tblGrid>
                <a:gridCol w="1981275"/>
                <a:gridCol w="1575550"/>
                <a:gridCol w="2458225"/>
                <a:gridCol w="1822200"/>
              </a:tblGrid>
              <a:tr h="602900">
                <a:tc>
                  <a:txBody>
                    <a:bodyPr/>
                    <a:lstStyle/>
                    <a:p>
                      <a:pPr indent="0" lvl="0" marL="0" rtl="0" algn="l">
                        <a:spcBef>
                          <a:spcPts val="0"/>
                        </a:spcBef>
                        <a:spcAft>
                          <a:spcPts val="0"/>
                        </a:spcAft>
                        <a:buNone/>
                      </a:pPr>
                      <a:r>
                        <a:rPr b="1" lang="en">
                          <a:latin typeface="Montserrat"/>
                          <a:ea typeface="Montserrat"/>
                          <a:cs typeface="Montserrat"/>
                          <a:sym typeface="Montserrat"/>
                        </a:rPr>
                        <a:t>Function/Operator</a:t>
                      </a:r>
                      <a:endParaRPr b="1">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b="1" lang="en">
                          <a:latin typeface="Montserrat"/>
                          <a:ea typeface="Montserrat"/>
                          <a:cs typeface="Montserrat"/>
                          <a:sym typeface="Montserrat"/>
                        </a:rPr>
                        <a:t>Purpose</a:t>
                      </a:r>
                      <a:endParaRPr b="1">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b="1" lang="en">
                          <a:latin typeface="Montserrat"/>
                          <a:ea typeface="Montserrat"/>
                          <a:cs typeface="Montserrat"/>
                          <a:sym typeface="Montserrat"/>
                        </a:rPr>
                        <a:t>Example</a:t>
                      </a:r>
                      <a:endParaRPr b="1">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b="1" lang="en">
                          <a:latin typeface="Montserrat"/>
                          <a:ea typeface="Montserrat"/>
                          <a:cs typeface="Montserrat"/>
                          <a:sym typeface="Montserrat"/>
                        </a:rPr>
                        <a:t>Result</a:t>
                      </a:r>
                      <a:endParaRPr b="1">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A4C2F4"/>
                    </a:solidFill>
                  </a:tcPr>
                </a:tc>
              </a:tr>
              <a:tr h="947550">
                <a:tc>
                  <a:txBody>
                    <a:bodyPr/>
                    <a:lstStyle/>
                    <a:p>
                      <a:pPr indent="0" lvl="0" marL="0" rtl="0" algn="l">
                        <a:spcBef>
                          <a:spcPts val="0"/>
                        </a:spcBef>
                        <a:spcAft>
                          <a:spcPts val="0"/>
                        </a:spcAft>
                        <a:buNone/>
                      </a:pPr>
                      <a:r>
                        <a:rPr lang="en">
                          <a:latin typeface="Montserrat"/>
                          <a:ea typeface="Montserrat"/>
                          <a:cs typeface="Montserrat"/>
                          <a:sym typeface="Montserrat"/>
                        </a:rPr>
                        <a:t>CONCAT</a:t>
                      </a:r>
                      <a:endParaRPr>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c>
                  <a:txBody>
                    <a:bodyPr/>
                    <a:lstStyle/>
                    <a:p>
                      <a:pPr indent="0" lvl="0" marL="0" rtl="0" algn="l">
                        <a:spcBef>
                          <a:spcPts val="0"/>
                        </a:spcBef>
                        <a:spcAft>
                          <a:spcPts val="0"/>
                        </a:spcAft>
                        <a:buNone/>
                      </a:pPr>
                      <a:r>
                        <a:rPr lang="en">
                          <a:latin typeface="Montserrat"/>
                          <a:ea typeface="Montserrat"/>
                          <a:cs typeface="Montserrat"/>
                          <a:sym typeface="Montserrat"/>
                        </a:rPr>
                        <a:t>Combines text without delimiters</a:t>
                      </a:r>
                      <a:endParaRPr>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c>
                  <a:txBody>
                    <a:bodyPr/>
                    <a:lstStyle/>
                    <a:p>
                      <a:pPr indent="0" lvl="0" marL="0" rtl="0" algn="l">
                        <a:lnSpc>
                          <a:spcPct val="115000"/>
                        </a:lnSpc>
                        <a:spcBef>
                          <a:spcPts val="0"/>
                        </a:spcBef>
                        <a:spcAft>
                          <a:spcPts val="0"/>
                        </a:spcAft>
                        <a:buNone/>
                      </a:pPr>
                      <a:r>
                        <a:rPr b="1" lang="en">
                          <a:solidFill>
                            <a:schemeClr val="dk1"/>
                          </a:solidFill>
                          <a:latin typeface="Roboto Mono"/>
                          <a:ea typeface="Roboto Mono"/>
                          <a:cs typeface="Roboto Mono"/>
                          <a:sym typeface="Roboto Mono"/>
                        </a:rPr>
                        <a:t>=CONCAT(A1, " ", A2)</a:t>
                      </a:r>
                      <a:endParaRPr b="1">
                        <a:solidFill>
                          <a:schemeClr val="dk1"/>
                        </a:solidFill>
                        <a:latin typeface="Roboto Mono"/>
                        <a:ea typeface="Roboto Mono"/>
                        <a:cs typeface="Roboto Mono"/>
                        <a:sym typeface="Roboto Mono"/>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c>
                  <a:txBody>
                    <a:bodyPr/>
                    <a:lstStyle/>
                    <a:p>
                      <a:pPr indent="0" lvl="0" marL="0" rtl="0" algn="l">
                        <a:spcBef>
                          <a:spcPts val="0"/>
                        </a:spcBef>
                        <a:spcAft>
                          <a:spcPts val="0"/>
                        </a:spcAft>
                        <a:buNone/>
                      </a:pPr>
                      <a:r>
                        <a:rPr lang="en">
                          <a:latin typeface="Montserrat"/>
                          <a:ea typeface="Montserrat"/>
                          <a:cs typeface="Montserrat"/>
                          <a:sym typeface="Montserrat"/>
                        </a:rPr>
                        <a:t>Hello World</a:t>
                      </a:r>
                      <a:endParaRPr>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r>
              <a:tr h="801800">
                <a:tc>
                  <a:txBody>
                    <a:bodyPr/>
                    <a:lstStyle/>
                    <a:p>
                      <a:pPr indent="0" lvl="0" marL="0" rtl="0" algn="l">
                        <a:spcBef>
                          <a:spcPts val="0"/>
                        </a:spcBef>
                        <a:spcAft>
                          <a:spcPts val="0"/>
                        </a:spcAft>
                        <a:buNone/>
                      </a:pPr>
                      <a:r>
                        <a:rPr lang="en">
                          <a:latin typeface="Montserrat"/>
                          <a:ea typeface="Montserrat"/>
                          <a:cs typeface="Montserrat"/>
                          <a:sym typeface="Montserrat"/>
                        </a:rPr>
                        <a:t>TEXTJOIN</a:t>
                      </a:r>
                      <a:endParaRPr>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c>
                  <a:txBody>
                    <a:bodyPr/>
                    <a:lstStyle/>
                    <a:p>
                      <a:pPr indent="0" lvl="0" marL="0" rtl="0" algn="l">
                        <a:spcBef>
                          <a:spcPts val="0"/>
                        </a:spcBef>
                        <a:spcAft>
                          <a:spcPts val="0"/>
                        </a:spcAft>
                        <a:buNone/>
                      </a:pPr>
                      <a:r>
                        <a:rPr lang="en">
                          <a:latin typeface="Montserrat"/>
                          <a:ea typeface="Montserrat"/>
                          <a:cs typeface="Montserrat"/>
                          <a:sym typeface="Montserrat"/>
                        </a:rPr>
                        <a:t>Combines text with a delimiter</a:t>
                      </a:r>
                      <a:endParaRPr>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c>
                  <a:txBody>
                    <a:bodyPr/>
                    <a:lstStyle/>
                    <a:p>
                      <a:pPr indent="0" lvl="0" marL="0" rtl="0" algn="l">
                        <a:lnSpc>
                          <a:spcPct val="115000"/>
                        </a:lnSpc>
                        <a:spcBef>
                          <a:spcPts val="0"/>
                        </a:spcBef>
                        <a:spcAft>
                          <a:spcPts val="0"/>
                        </a:spcAft>
                        <a:buNone/>
                      </a:pPr>
                      <a:r>
                        <a:rPr b="1" lang="en">
                          <a:solidFill>
                            <a:schemeClr val="dk1"/>
                          </a:solidFill>
                          <a:latin typeface="Roboto Mono"/>
                          <a:ea typeface="Roboto Mono"/>
                          <a:cs typeface="Roboto Mono"/>
                          <a:sym typeface="Roboto Mono"/>
                        </a:rPr>
                        <a:t>=TEXTJOIN(", ", TRUE, A4)</a:t>
                      </a:r>
                      <a:endParaRPr b="1">
                        <a:solidFill>
                          <a:schemeClr val="dk1"/>
                        </a:solidFill>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c>
                  <a:txBody>
                    <a:bodyPr/>
                    <a:lstStyle/>
                    <a:p>
                      <a:pPr indent="0" lvl="0" marL="0" rtl="0" algn="l">
                        <a:spcBef>
                          <a:spcPts val="0"/>
                        </a:spcBef>
                        <a:spcAft>
                          <a:spcPts val="0"/>
                        </a:spcAft>
                        <a:buNone/>
                      </a:pPr>
                      <a:r>
                        <a:rPr lang="en">
                          <a:latin typeface="Montserrat"/>
                          <a:ea typeface="Montserrat"/>
                          <a:cs typeface="Montserrat"/>
                          <a:sym typeface="Montserrat"/>
                        </a:rPr>
                        <a:t>Apple, Banana, Cherry</a:t>
                      </a:r>
                      <a:endParaRPr>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r>
              <a:tr h="801800">
                <a:tc>
                  <a:txBody>
                    <a:bodyPr/>
                    <a:lstStyle/>
                    <a:p>
                      <a:pPr indent="0" lvl="0" marL="0" rtl="0" algn="l">
                        <a:spcBef>
                          <a:spcPts val="0"/>
                        </a:spcBef>
                        <a:spcAft>
                          <a:spcPts val="0"/>
                        </a:spcAft>
                        <a:buNone/>
                      </a:pPr>
                      <a:r>
                        <a:rPr lang="en">
                          <a:latin typeface="Montserrat"/>
                          <a:ea typeface="Montserrat"/>
                          <a:cs typeface="Montserrat"/>
                          <a:sym typeface="Montserrat"/>
                        </a:rPr>
                        <a:t>&amp;</a:t>
                      </a:r>
                      <a:endParaRPr>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c>
                  <a:txBody>
                    <a:bodyPr/>
                    <a:lstStyle/>
                    <a:p>
                      <a:pPr indent="0" lvl="0" marL="0" rtl="0" algn="l">
                        <a:spcBef>
                          <a:spcPts val="0"/>
                        </a:spcBef>
                        <a:spcAft>
                          <a:spcPts val="0"/>
                        </a:spcAft>
                        <a:buNone/>
                      </a:pPr>
                      <a:r>
                        <a:rPr lang="en">
                          <a:latin typeface="Montserrat"/>
                          <a:ea typeface="Montserrat"/>
                          <a:cs typeface="Montserrat"/>
                          <a:sym typeface="Montserrat"/>
                        </a:rPr>
                        <a:t>Concatenates text strings directly</a:t>
                      </a:r>
                      <a:endParaRPr>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c>
                  <a:txBody>
                    <a:bodyPr/>
                    <a:lstStyle/>
                    <a:p>
                      <a:pPr indent="0" lvl="0" marL="0" rtl="0" algn="l">
                        <a:lnSpc>
                          <a:spcPct val="115000"/>
                        </a:lnSpc>
                        <a:spcBef>
                          <a:spcPts val="0"/>
                        </a:spcBef>
                        <a:spcAft>
                          <a:spcPts val="0"/>
                        </a:spcAft>
                        <a:buNone/>
                      </a:pPr>
                      <a:r>
                        <a:rPr b="1" lang="en">
                          <a:solidFill>
                            <a:schemeClr val="dk1"/>
                          </a:solidFill>
                          <a:latin typeface="Roboto Mono"/>
                          <a:ea typeface="Roboto Mono"/>
                          <a:cs typeface="Roboto Mono"/>
                          <a:sym typeface="Roboto Mono"/>
                        </a:rPr>
                        <a:t>="Hello" &amp; " " &amp; "World"</a:t>
                      </a:r>
                      <a:endParaRPr b="1">
                        <a:solidFill>
                          <a:schemeClr val="dk1"/>
                        </a:solidFill>
                        <a:latin typeface="Roboto Mono"/>
                        <a:ea typeface="Roboto Mono"/>
                        <a:cs typeface="Roboto Mono"/>
                        <a:sym typeface="Roboto Mono"/>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c>
                  <a:txBody>
                    <a:bodyPr/>
                    <a:lstStyle/>
                    <a:p>
                      <a:pPr indent="0" lvl="0" marL="0" rtl="0" algn="l">
                        <a:spcBef>
                          <a:spcPts val="0"/>
                        </a:spcBef>
                        <a:spcAft>
                          <a:spcPts val="0"/>
                        </a:spcAft>
                        <a:buNone/>
                      </a:pPr>
                      <a:r>
                        <a:rPr lang="en">
                          <a:latin typeface="Montserrat"/>
                          <a:ea typeface="Montserrat"/>
                          <a:cs typeface="Montserrat"/>
                          <a:sym typeface="Montserrat"/>
                        </a:rPr>
                        <a:t>Hello World</a:t>
                      </a:r>
                      <a:endParaRPr>
                        <a:latin typeface="Montserrat"/>
                        <a:ea typeface="Montserrat"/>
                        <a:cs typeface="Montserrat"/>
                        <a:sym typeface="Montserrat"/>
                      </a:endParaRPr>
                    </a:p>
                  </a:txBody>
                  <a:tcPr marT="91425" marB="91425" marR="91425" marL="91425" anchor="ctr">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9CB9C"/>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Fun Fact:</a:t>
            </a:r>
            <a:endParaRPr b="1"/>
          </a:p>
        </p:txBody>
      </p:sp>
      <p:sp>
        <p:nvSpPr>
          <p:cNvPr id="185" name="Google Shape;185;p32"/>
          <p:cNvSpPr txBox="1"/>
          <p:nvPr>
            <p:ph idx="1" type="body"/>
          </p:nvPr>
        </p:nvSpPr>
        <p:spPr>
          <a:xfrm>
            <a:off x="311700" y="1152475"/>
            <a:ext cx="46842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600">
                <a:solidFill>
                  <a:schemeClr val="dk1"/>
                </a:solidFill>
                <a:latin typeface="Lexend"/>
                <a:ea typeface="Lexend"/>
                <a:cs typeface="Lexend"/>
                <a:sym typeface="Lexend"/>
              </a:rPr>
              <a:t>✨ Did you know?</a:t>
            </a:r>
            <a:endParaRPr sz="1600">
              <a:solidFill>
                <a:schemeClr val="dk1"/>
              </a:solidFill>
              <a:latin typeface="Lexend"/>
              <a:ea typeface="Lexend"/>
              <a:cs typeface="Lexend"/>
              <a:sym typeface="Lexend"/>
            </a:endParaRPr>
          </a:p>
          <a:p>
            <a:pPr indent="-330200" lvl="0" marL="457200" rtl="0" algn="l">
              <a:spcBef>
                <a:spcPts val="1200"/>
              </a:spcBef>
              <a:spcAft>
                <a:spcPts val="0"/>
              </a:spcAft>
              <a:buClr>
                <a:schemeClr val="dk1"/>
              </a:buClr>
              <a:buSzPts val="1600"/>
              <a:buChar char="●"/>
            </a:pPr>
            <a:r>
              <a:rPr lang="en" sz="1600">
                <a:solidFill>
                  <a:schemeClr val="dk1"/>
                </a:solidFill>
                <a:latin typeface="Lexend"/>
                <a:ea typeface="Lexend"/>
                <a:cs typeface="Lexend"/>
                <a:sym typeface="Lexend"/>
              </a:rPr>
              <a:t>Older Excel versions used </a:t>
            </a:r>
            <a:r>
              <a:rPr lang="en" sz="1600">
                <a:solidFill>
                  <a:srgbClr val="188038"/>
                </a:solidFill>
                <a:latin typeface="Lexend"/>
                <a:ea typeface="Lexend"/>
                <a:cs typeface="Lexend"/>
                <a:sym typeface="Lexend"/>
              </a:rPr>
              <a:t>CONCATENATE</a:t>
            </a:r>
            <a:r>
              <a:rPr lang="en" sz="1600">
                <a:solidFill>
                  <a:schemeClr val="dk1"/>
                </a:solidFill>
                <a:latin typeface="Lexend"/>
                <a:ea typeface="Lexend"/>
                <a:cs typeface="Lexend"/>
                <a:sym typeface="Lexend"/>
              </a:rPr>
              <a:t>.</a:t>
            </a:r>
            <a:br>
              <a:rPr lang="en" sz="1600">
                <a:solidFill>
                  <a:schemeClr val="dk1"/>
                </a:solidFill>
                <a:latin typeface="Lexend"/>
                <a:ea typeface="Lexend"/>
                <a:cs typeface="Lexend"/>
                <a:sym typeface="Lexend"/>
              </a:rPr>
            </a:b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Char char="●"/>
            </a:pPr>
            <a:r>
              <a:rPr lang="en" sz="1600">
                <a:solidFill>
                  <a:schemeClr val="dk1"/>
                </a:solidFill>
                <a:latin typeface="Lexend"/>
                <a:ea typeface="Lexend"/>
                <a:cs typeface="Lexend"/>
                <a:sym typeface="Lexend"/>
              </a:rPr>
              <a:t>In Excel 2016+, </a:t>
            </a:r>
            <a:r>
              <a:rPr lang="en" sz="1600">
                <a:solidFill>
                  <a:srgbClr val="188038"/>
                </a:solidFill>
                <a:latin typeface="Lexend"/>
                <a:ea typeface="Lexend"/>
                <a:cs typeface="Lexend"/>
                <a:sym typeface="Lexend"/>
              </a:rPr>
              <a:t>CONCAT</a:t>
            </a:r>
            <a:r>
              <a:rPr lang="en" sz="1600">
                <a:solidFill>
                  <a:schemeClr val="dk1"/>
                </a:solidFill>
                <a:latin typeface="Lexend"/>
                <a:ea typeface="Lexend"/>
                <a:cs typeface="Lexend"/>
                <a:sym typeface="Lexend"/>
              </a:rPr>
              <a:t> replaced it with more flexibility.</a:t>
            </a:r>
            <a:endParaRPr sz="1600">
              <a:solidFill>
                <a:schemeClr val="dk1"/>
              </a:solidFill>
              <a:latin typeface="Lexend"/>
              <a:ea typeface="Lexend"/>
              <a:cs typeface="Lexend"/>
              <a:sym typeface="Lexend"/>
            </a:endParaRPr>
          </a:p>
          <a:p>
            <a:pPr indent="0" lvl="0" marL="0" rtl="0" algn="l">
              <a:spcBef>
                <a:spcPts val="1200"/>
              </a:spcBef>
              <a:spcAft>
                <a:spcPts val="1200"/>
              </a:spcAft>
              <a:buNone/>
            </a:pPr>
            <a:r>
              <a:t/>
            </a:r>
            <a:endParaRPr sz="1600">
              <a:solidFill>
                <a:schemeClr val="dk1"/>
              </a:solidFill>
              <a:latin typeface="Lexend"/>
              <a:ea typeface="Lexend"/>
              <a:cs typeface="Lexend"/>
              <a:sym typeface="Lexend"/>
            </a:endParaRPr>
          </a:p>
        </p:txBody>
      </p:sp>
      <p:pic>
        <p:nvPicPr>
          <p:cNvPr id="186" name="Google Shape;186;p32"/>
          <p:cNvPicPr preferRelativeResize="0"/>
          <p:nvPr/>
        </p:nvPicPr>
        <p:blipFill rotWithShape="1">
          <a:blip r:embed="rId3">
            <a:alphaModFix/>
          </a:blip>
          <a:srcRect b="11699" l="7787" r="8031" t="9362"/>
          <a:stretch/>
        </p:blipFill>
        <p:spPr>
          <a:xfrm>
            <a:off x="5291225" y="1454400"/>
            <a:ext cx="3592149" cy="2234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LEFT Function</a:t>
            </a:r>
            <a:endParaRPr b="1"/>
          </a:p>
        </p:txBody>
      </p:sp>
      <p:sp>
        <p:nvSpPr>
          <p:cNvPr id="192" name="Google Shape;19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30200" lvl="0" marL="457200" rtl="0" algn="l">
              <a:spcBef>
                <a:spcPts val="1000"/>
              </a:spcBef>
              <a:spcAft>
                <a:spcPts val="0"/>
              </a:spcAft>
              <a:buClr>
                <a:schemeClr val="dk1"/>
              </a:buClr>
              <a:buSzPts val="1600"/>
              <a:buChar char="●"/>
            </a:pPr>
            <a:r>
              <a:rPr lang="en" sz="1600">
                <a:solidFill>
                  <a:schemeClr val="dk1"/>
                </a:solidFill>
              </a:rPr>
              <a:t>Extracts characters from the </a:t>
            </a:r>
            <a:r>
              <a:rPr b="1" lang="en" sz="1600">
                <a:solidFill>
                  <a:schemeClr val="dk1"/>
                </a:solidFill>
              </a:rPr>
              <a:t>start</a:t>
            </a:r>
            <a:r>
              <a:rPr lang="en" sz="1600">
                <a:solidFill>
                  <a:schemeClr val="dk1"/>
                </a:solidFill>
              </a:rPr>
              <a:t> of text.</a:t>
            </a:r>
            <a:endParaRPr sz="1600">
              <a:solidFill>
                <a:schemeClr val="dk1"/>
              </a:solidFill>
            </a:endParaRPr>
          </a:p>
          <a:p>
            <a:pPr indent="-330200" lvl="0" marL="457200" rtl="0" algn="l">
              <a:spcBef>
                <a:spcPts val="1200"/>
              </a:spcBef>
              <a:spcAft>
                <a:spcPts val="0"/>
              </a:spcAft>
              <a:buClr>
                <a:schemeClr val="dk1"/>
              </a:buClr>
              <a:buSzPts val="1600"/>
              <a:buChar char="●"/>
            </a:pPr>
            <a:r>
              <a:rPr b="1" lang="en" sz="1600">
                <a:solidFill>
                  <a:schemeClr val="dk1"/>
                </a:solidFill>
              </a:rPr>
              <a:t>Formula:</a:t>
            </a:r>
            <a:r>
              <a:rPr lang="en" sz="1600">
                <a:solidFill>
                  <a:schemeClr val="dk1"/>
                </a:solidFill>
              </a:rPr>
              <a:t> </a:t>
            </a:r>
            <a:r>
              <a:rPr lang="en" sz="1600">
                <a:solidFill>
                  <a:srgbClr val="188038"/>
                </a:solidFill>
                <a:latin typeface="Roboto Mono"/>
                <a:ea typeface="Roboto Mono"/>
                <a:cs typeface="Roboto Mono"/>
                <a:sym typeface="Roboto Mono"/>
              </a:rPr>
              <a:t>=LEFT(text, num_chars)</a:t>
            </a:r>
            <a:endParaRPr sz="1600">
              <a:solidFill>
                <a:srgbClr val="188038"/>
              </a:solidFill>
              <a:latin typeface="Roboto Mono"/>
              <a:ea typeface="Roboto Mono"/>
              <a:cs typeface="Roboto Mono"/>
              <a:sym typeface="Roboto Mono"/>
            </a:endParaRPr>
          </a:p>
          <a:p>
            <a:pPr indent="-330200" lvl="0" marL="457200" rtl="0" algn="l">
              <a:spcBef>
                <a:spcPts val="1000"/>
              </a:spcBef>
              <a:spcAft>
                <a:spcPts val="0"/>
              </a:spcAft>
              <a:buClr>
                <a:schemeClr val="dk1"/>
              </a:buClr>
              <a:buSzPts val="1600"/>
              <a:buChar char="●"/>
            </a:pPr>
            <a:r>
              <a:rPr b="1" lang="en" sz="1600">
                <a:solidFill>
                  <a:schemeClr val="dk1"/>
                </a:solidFill>
              </a:rPr>
              <a:t>Example:</a:t>
            </a:r>
            <a:endParaRPr b="1" sz="1600">
              <a:solidFill>
                <a:schemeClr val="dk1"/>
              </a:solidFill>
            </a:endParaRPr>
          </a:p>
          <a:p>
            <a:pPr indent="0" lvl="0" marL="457200" rtl="0" algn="l">
              <a:spcBef>
                <a:spcPts val="1200"/>
              </a:spcBef>
              <a:spcAft>
                <a:spcPts val="0"/>
              </a:spcAft>
              <a:buNone/>
            </a:pPr>
            <a:r>
              <a:t/>
            </a:r>
            <a:endParaRPr sz="1600">
              <a:solidFill>
                <a:schemeClr val="dk1"/>
              </a:solidFill>
            </a:endParaRPr>
          </a:p>
          <a:p>
            <a:pPr indent="0" lvl="0" marL="457200" rtl="0" algn="l">
              <a:spcBef>
                <a:spcPts val="1200"/>
              </a:spcBef>
              <a:spcAft>
                <a:spcPts val="0"/>
              </a:spcAft>
              <a:buNone/>
            </a:pPr>
            <a:br>
              <a:rPr lang="en" sz="1600">
                <a:solidFill>
                  <a:schemeClr val="dk1"/>
                </a:solidFill>
              </a:rPr>
            </a:b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330200" lvl="0" marL="457200" rtl="0" algn="l">
              <a:spcBef>
                <a:spcPts val="1000"/>
              </a:spcBef>
              <a:spcAft>
                <a:spcPts val="0"/>
              </a:spcAft>
              <a:buClr>
                <a:schemeClr val="dk1"/>
              </a:buClr>
              <a:buSzPts val="1600"/>
              <a:buChar char="●"/>
            </a:pPr>
            <a:r>
              <a:rPr b="1" lang="en" sz="1600">
                <a:solidFill>
                  <a:schemeClr val="dk1"/>
                </a:solidFill>
              </a:rPr>
              <a:t>Use Case:</a:t>
            </a:r>
            <a:r>
              <a:rPr lang="en" sz="1600">
                <a:solidFill>
                  <a:schemeClr val="dk1"/>
                </a:solidFill>
              </a:rPr>
              <a:t> Extract first few digits of ID or year from a date string.</a:t>
            </a:r>
            <a:endParaRPr sz="1600">
              <a:solidFill>
                <a:schemeClr val="dk1"/>
              </a:solidFill>
            </a:endParaRPr>
          </a:p>
          <a:p>
            <a:pPr indent="0" lvl="0" marL="457200" rtl="0" algn="l">
              <a:spcBef>
                <a:spcPts val="1000"/>
              </a:spcBef>
              <a:spcAft>
                <a:spcPts val="1200"/>
              </a:spcAft>
              <a:buNone/>
            </a:pPr>
            <a:r>
              <a:t/>
            </a:r>
            <a:endParaRPr/>
          </a:p>
        </p:txBody>
      </p:sp>
      <p:pic>
        <p:nvPicPr>
          <p:cNvPr id="193" name="Google Shape;193;p33"/>
          <p:cNvPicPr preferRelativeResize="0"/>
          <p:nvPr/>
        </p:nvPicPr>
        <p:blipFill>
          <a:blip r:embed="rId3">
            <a:alphaModFix/>
          </a:blip>
          <a:stretch>
            <a:fillRect/>
          </a:stretch>
        </p:blipFill>
        <p:spPr>
          <a:xfrm>
            <a:off x="808063" y="2470163"/>
            <a:ext cx="4905375" cy="923925"/>
          </a:xfrm>
          <a:prstGeom prst="rect">
            <a:avLst/>
          </a:prstGeom>
          <a:noFill/>
          <a:ln>
            <a:noFill/>
          </a:ln>
        </p:spPr>
      </p:pic>
      <p:sp>
        <p:nvSpPr>
          <p:cNvPr id="194" name="Google Shape;194;p33"/>
          <p:cNvSpPr txBox="1"/>
          <p:nvPr/>
        </p:nvSpPr>
        <p:spPr>
          <a:xfrm>
            <a:off x="5780650" y="2622035"/>
            <a:ext cx="1957800" cy="477300"/>
          </a:xfrm>
          <a:prstGeom prst="rect">
            <a:avLst/>
          </a:prstGeom>
          <a:solidFill>
            <a:srgbClr val="B6D7A8"/>
          </a:solidFill>
          <a:ln>
            <a:noFill/>
          </a:ln>
        </p:spPr>
        <p:txBody>
          <a:bodyPr anchorCtr="0" anchor="ctr" bIns="91425" lIns="91425" spcFirstLastPara="1" rIns="91425" wrap="square" tIns="91425">
            <a:noAutofit/>
          </a:bodyPr>
          <a:lstStyle/>
          <a:p>
            <a:pPr indent="0" lvl="0" marL="457200" rtl="0" algn="l">
              <a:lnSpc>
                <a:spcPct val="115000"/>
              </a:lnSpc>
              <a:spcBef>
                <a:spcPts val="1200"/>
              </a:spcBef>
              <a:spcAft>
                <a:spcPts val="1200"/>
              </a:spcAft>
              <a:buClr>
                <a:schemeClr val="dk1"/>
              </a:buClr>
              <a:buSzPts val="1100"/>
              <a:buFont typeface="Arial"/>
              <a:buNone/>
            </a:pPr>
            <a:r>
              <a:rPr b="1" lang="en" sz="1600">
                <a:solidFill>
                  <a:schemeClr val="dk1"/>
                </a:solidFill>
              </a:rPr>
              <a:t>→ Excel</a:t>
            </a:r>
            <a:endParaRPr b="1" sz="16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RIGHT Function</a:t>
            </a:r>
            <a:endParaRPr b="1"/>
          </a:p>
        </p:txBody>
      </p:sp>
      <p:sp>
        <p:nvSpPr>
          <p:cNvPr id="200" name="Google Shape;200;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lnSpc>
                <a:spcPct val="95000"/>
              </a:lnSpc>
              <a:spcBef>
                <a:spcPts val="1000"/>
              </a:spcBef>
              <a:spcAft>
                <a:spcPts val="0"/>
              </a:spcAft>
              <a:buClr>
                <a:schemeClr val="dk1"/>
              </a:buClr>
              <a:buSzPts val="1600"/>
              <a:buChar char="●"/>
            </a:pPr>
            <a:r>
              <a:rPr lang="en" sz="1600">
                <a:solidFill>
                  <a:schemeClr val="dk1"/>
                </a:solidFill>
              </a:rPr>
              <a:t>Extracts characters from the </a:t>
            </a:r>
            <a:r>
              <a:rPr b="1" lang="en" sz="1600">
                <a:solidFill>
                  <a:schemeClr val="dk1"/>
                </a:solidFill>
              </a:rPr>
              <a:t>end</a:t>
            </a:r>
            <a:r>
              <a:rPr lang="en" sz="1600">
                <a:solidFill>
                  <a:schemeClr val="dk1"/>
                </a:solidFill>
              </a:rPr>
              <a:t> of text.</a:t>
            </a:r>
            <a:endParaRPr sz="1600">
              <a:solidFill>
                <a:schemeClr val="dk1"/>
              </a:solidFill>
            </a:endParaRPr>
          </a:p>
          <a:p>
            <a:pPr indent="-330200" lvl="0" marL="457200" rtl="0" algn="l">
              <a:lnSpc>
                <a:spcPct val="95000"/>
              </a:lnSpc>
              <a:spcBef>
                <a:spcPts val="1200"/>
              </a:spcBef>
              <a:spcAft>
                <a:spcPts val="0"/>
              </a:spcAft>
              <a:buClr>
                <a:schemeClr val="dk1"/>
              </a:buClr>
              <a:buSzPts val="1600"/>
              <a:buChar char="●"/>
            </a:pPr>
            <a:r>
              <a:rPr b="1" lang="en" sz="1600">
                <a:solidFill>
                  <a:schemeClr val="dk1"/>
                </a:solidFill>
              </a:rPr>
              <a:t>Formula:</a:t>
            </a:r>
            <a:r>
              <a:rPr lang="en" sz="1600">
                <a:solidFill>
                  <a:schemeClr val="dk1"/>
                </a:solidFill>
              </a:rPr>
              <a:t> </a:t>
            </a:r>
            <a:r>
              <a:rPr lang="en" sz="1600">
                <a:solidFill>
                  <a:srgbClr val="188038"/>
                </a:solidFill>
                <a:latin typeface="Roboto Mono"/>
                <a:ea typeface="Roboto Mono"/>
                <a:cs typeface="Roboto Mono"/>
                <a:sym typeface="Roboto Mono"/>
              </a:rPr>
              <a:t>=RIGHT(text, num_chars)</a:t>
            </a:r>
            <a:endParaRPr sz="1600">
              <a:solidFill>
                <a:srgbClr val="188038"/>
              </a:solidFill>
              <a:latin typeface="Roboto Mono"/>
              <a:ea typeface="Roboto Mono"/>
              <a:cs typeface="Roboto Mono"/>
              <a:sym typeface="Roboto Mono"/>
            </a:endParaRPr>
          </a:p>
          <a:p>
            <a:pPr indent="-330200" lvl="0" marL="457200" rtl="0" algn="l">
              <a:lnSpc>
                <a:spcPct val="95000"/>
              </a:lnSpc>
              <a:spcBef>
                <a:spcPts val="1000"/>
              </a:spcBef>
              <a:spcAft>
                <a:spcPts val="0"/>
              </a:spcAft>
              <a:buClr>
                <a:schemeClr val="dk1"/>
              </a:buClr>
              <a:buSzPts val="1600"/>
              <a:buChar char="●"/>
            </a:pPr>
            <a:r>
              <a:rPr b="1" lang="en" sz="1600">
                <a:solidFill>
                  <a:schemeClr val="dk1"/>
                </a:solidFill>
              </a:rPr>
              <a:t>Example:</a:t>
            </a:r>
            <a:endParaRPr b="1" sz="1600">
              <a:solidFill>
                <a:schemeClr val="dk1"/>
              </a:solidFill>
            </a:endParaRPr>
          </a:p>
          <a:p>
            <a:pPr indent="0" lvl="0" marL="457200" rtl="0" algn="l">
              <a:lnSpc>
                <a:spcPct val="95000"/>
              </a:lnSpc>
              <a:spcBef>
                <a:spcPts val="1200"/>
              </a:spcBef>
              <a:spcAft>
                <a:spcPts val="0"/>
              </a:spcAft>
              <a:buSzPts val="935"/>
              <a:buNone/>
            </a:pPr>
            <a:r>
              <a:t/>
            </a:r>
            <a:endParaRPr sz="1600">
              <a:solidFill>
                <a:srgbClr val="188038"/>
              </a:solidFill>
              <a:latin typeface="Roboto Mono"/>
              <a:ea typeface="Roboto Mono"/>
              <a:cs typeface="Roboto Mono"/>
              <a:sym typeface="Roboto Mono"/>
            </a:endParaRPr>
          </a:p>
          <a:p>
            <a:pPr indent="0" lvl="0" marL="457200" rtl="0" algn="l">
              <a:lnSpc>
                <a:spcPct val="95000"/>
              </a:lnSpc>
              <a:spcBef>
                <a:spcPts val="1200"/>
              </a:spcBef>
              <a:spcAft>
                <a:spcPts val="0"/>
              </a:spcAft>
              <a:buSzPts val="935"/>
              <a:buNone/>
            </a:pPr>
            <a:r>
              <a:t/>
            </a:r>
            <a:endParaRPr sz="1600">
              <a:solidFill>
                <a:srgbClr val="188038"/>
              </a:solidFill>
              <a:latin typeface="Roboto Mono"/>
              <a:ea typeface="Roboto Mono"/>
              <a:cs typeface="Roboto Mono"/>
              <a:sym typeface="Roboto Mono"/>
            </a:endParaRPr>
          </a:p>
          <a:p>
            <a:pPr indent="0" lvl="0" marL="457200" rtl="0" algn="l">
              <a:lnSpc>
                <a:spcPct val="95000"/>
              </a:lnSpc>
              <a:spcBef>
                <a:spcPts val="1200"/>
              </a:spcBef>
              <a:spcAft>
                <a:spcPts val="0"/>
              </a:spcAft>
              <a:buSzPts val="935"/>
              <a:buNone/>
            </a:pPr>
            <a:r>
              <a:t/>
            </a:r>
            <a:endParaRPr sz="1600">
              <a:solidFill>
                <a:schemeClr val="dk1"/>
              </a:solidFill>
            </a:endParaRPr>
          </a:p>
          <a:p>
            <a:pPr indent="0" lvl="0" marL="457200" rtl="0" algn="l">
              <a:lnSpc>
                <a:spcPct val="95000"/>
              </a:lnSpc>
              <a:spcBef>
                <a:spcPts val="1200"/>
              </a:spcBef>
              <a:spcAft>
                <a:spcPts val="0"/>
              </a:spcAft>
              <a:buSzPts val="935"/>
              <a:buNone/>
            </a:pPr>
            <a:r>
              <a:t/>
            </a:r>
            <a:endParaRPr sz="1600">
              <a:solidFill>
                <a:schemeClr val="dk1"/>
              </a:solidFill>
            </a:endParaRPr>
          </a:p>
          <a:p>
            <a:pPr indent="-330200" lvl="0" marL="457200" rtl="0" algn="l">
              <a:lnSpc>
                <a:spcPct val="95000"/>
              </a:lnSpc>
              <a:spcBef>
                <a:spcPts val="1200"/>
              </a:spcBef>
              <a:spcAft>
                <a:spcPts val="0"/>
              </a:spcAft>
              <a:buClr>
                <a:schemeClr val="dk1"/>
              </a:buClr>
              <a:buSzPts val="1600"/>
              <a:buChar char="●"/>
            </a:pPr>
            <a:r>
              <a:rPr b="1" lang="en" sz="1600">
                <a:solidFill>
                  <a:schemeClr val="dk1"/>
                </a:solidFill>
              </a:rPr>
              <a:t>Use Case: </a:t>
            </a:r>
            <a:r>
              <a:rPr lang="en" sz="1600">
                <a:solidFill>
                  <a:schemeClr val="dk1"/>
                </a:solidFill>
              </a:rPr>
              <a:t>Extract file extensions, last 4 digits of phone numbers.</a:t>
            </a:r>
            <a:br>
              <a:rPr lang="en" sz="1600">
                <a:solidFill>
                  <a:schemeClr val="dk1"/>
                </a:solidFill>
              </a:rPr>
            </a:br>
            <a:endParaRPr sz="1600">
              <a:solidFill>
                <a:schemeClr val="dk1"/>
              </a:solidFill>
            </a:endParaRPr>
          </a:p>
          <a:p>
            <a:pPr indent="0" lvl="0" marL="0" rtl="0" algn="l">
              <a:lnSpc>
                <a:spcPct val="95000"/>
              </a:lnSpc>
              <a:spcBef>
                <a:spcPts val="1200"/>
              </a:spcBef>
              <a:spcAft>
                <a:spcPts val="1200"/>
              </a:spcAft>
              <a:buSzPts val="935"/>
              <a:buNone/>
            </a:pPr>
            <a:r>
              <a:t/>
            </a:r>
            <a:endParaRPr sz="1600"/>
          </a:p>
        </p:txBody>
      </p:sp>
      <p:pic>
        <p:nvPicPr>
          <p:cNvPr id="201" name="Google Shape;201;p34"/>
          <p:cNvPicPr preferRelativeResize="0"/>
          <p:nvPr/>
        </p:nvPicPr>
        <p:blipFill>
          <a:blip r:embed="rId3">
            <a:alphaModFix/>
          </a:blip>
          <a:stretch>
            <a:fillRect/>
          </a:stretch>
        </p:blipFill>
        <p:spPr>
          <a:xfrm>
            <a:off x="861413" y="2349400"/>
            <a:ext cx="5038725" cy="1257300"/>
          </a:xfrm>
          <a:prstGeom prst="rect">
            <a:avLst/>
          </a:prstGeom>
          <a:noFill/>
          <a:ln>
            <a:noFill/>
          </a:ln>
        </p:spPr>
      </p:pic>
      <p:sp>
        <p:nvSpPr>
          <p:cNvPr id="202" name="Google Shape;202;p34"/>
          <p:cNvSpPr txBox="1"/>
          <p:nvPr/>
        </p:nvSpPr>
        <p:spPr>
          <a:xfrm>
            <a:off x="6251600" y="2682723"/>
            <a:ext cx="1957800" cy="477300"/>
          </a:xfrm>
          <a:prstGeom prst="rect">
            <a:avLst/>
          </a:prstGeom>
          <a:solidFill>
            <a:srgbClr val="B6D7A8"/>
          </a:solidFill>
          <a:ln>
            <a:noFill/>
          </a:ln>
        </p:spPr>
        <p:txBody>
          <a:bodyPr anchorCtr="0" anchor="ctr" bIns="91425" lIns="91425" spcFirstLastPara="1" rIns="91425" wrap="square" tIns="91425">
            <a:noAutofit/>
          </a:bodyPr>
          <a:lstStyle/>
          <a:p>
            <a:pPr indent="0" lvl="0" marL="457200" rtl="0" algn="l">
              <a:lnSpc>
                <a:spcPct val="115000"/>
              </a:lnSpc>
              <a:spcBef>
                <a:spcPts val="1200"/>
              </a:spcBef>
              <a:spcAft>
                <a:spcPts val="1200"/>
              </a:spcAft>
              <a:buNone/>
            </a:pPr>
            <a:r>
              <a:rPr b="1" lang="en" sz="1600">
                <a:solidFill>
                  <a:schemeClr val="dk1"/>
                </a:solidFill>
              </a:rPr>
              <a:t>→ .xlsx</a:t>
            </a:r>
            <a:endParaRPr b="1" sz="16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MID Function</a:t>
            </a:r>
            <a:endParaRPr b="1"/>
          </a:p>
        </p:txBody>
      </p:sp>
      <p:sp>
        <p:nvSpPr>
          <p:cNvPr id="208" name="Google Shape;208;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22580" lvl="0" marL="457200" rtl="0" algn="l">
              <a:spcBef>
                <a:spcPts val="1200"/>
              </a:spcBef>
              <a:spcAft>
                <a:spcPts val="0"/>
              </a:spcAft>
              <a:buClr>
                <a:schemeClr val="dk1"/>
              </a:buClr>
              <a:buSzPct val="100000"/>
              <a:buChar char="●"/>
            </a:pPr>
            <a:r>
              <a:rPr lang="en" sz="1600">
                <a:solidFill>
                  <a:schemeClr val="dk1"/>
                </a:solidFill>
              </a:rPr>
              <a:t>Extracts text from the </a:t>
            </a:r>
            <a:r>
              <a:rPr b="1" lang="en" sz="1600">
                <a:solidFill>
                  <a:schemeClr val="dk1"/>
                </a:solidFill>
              </a:rPr>
              <a:t>middle</a:t>
            </a:r>
            <a:r>
              <a:rPr lang="en" sz="1600">
                <a:solidFill>
                  <a:schemeClr val="dk1"/>
                </a:solidFill>
              </a:rPr>
              <a:t>.</a:t>
            </a:r>
            <a:br>
              <a:rPr lang="en" sz="1600">
                <a:solidFill>
                  <a:schemeClr val="dk1"/>
                </a:solidFill>
              </a:rPr>
            </a:br>
            <a:endParaRPr sz="1600">
              <a:solidFill>
                <a:schemeClr val="dk1"/>
              </a:solidFill>
            </a:endParaRPr>
          </a:p>
          <a:p>
            <a:pPr indent="-322580" lvl="0" marL="457200" rtl="0" algn="l">
              <a:spcBef>
                <a:spcPts val="0"/>
              </a:spcBef>
              <a:spcAft>
                <a:spcPts val="0"/>
              </a:spcAft>
              <a:buClr>
                <a:schemeClr val="dk1"/>
              </a:buClr>
              <a:buSzPct val="100000"/>
              <a:buChar char="●"/>
            </a:pPr>
            <a:r>
              <a:rPr b="1" lang="en" sz="1600">
                <a:solidFill>
                  <a:schemeClr val="dk1"/>
                </a:solidFill>
              </a:rPr>
              <a:t>Formula:</a:t>
            </a:r>
            <a:r>
              <a:rPr lang="en" sz="1600">
                <a:solidFill>
                  <a:schemeClr val="dk1"/>
                </a:solidFill>
              </a:rPr>
              <a:t> </a:t>
            </a:r>
            <a:r>
              <a:rPr lang="en" sz="1600">
                <a:solidFill>
                  <a:srgbClr val="188038"/>
                </a:solidFill>
                <a:latin typeface="Roboto Mono"/>
                <a:ea typeface="Roboto Mono"/>
                <a:cs typeface="Roboto Mono"/>
                <a:sym typeface="Roboto Mono"/>
              </a:rPr>
              <a:t>=MID(text, start_num, num_chars)</a:t>
            </a:r>
            <a:br>
              <a:rPr lang="en" sz="1600">
                <a:solidFill>
                  <a:srgbClr val="188038"/>
                </a:solidFill>
                <a:latin typeface="Roboto Mono"/>
                <a:ea typeface="Roboto Mono"/>
                <a:cs typeface="Roboto Mono"/>
                <a:sym typeface="Roboto Mono"/>
              </a:rPr>
            </a:br>
            <a:endParaRPr sz="1600">
              <a:solidFill>
                <a:srgbClr val="188038"/>
              </a:solidFill>
              <a:latin typeface="Roboto Mono"/>
              <a:ea typeface="Roboto Mono"/>
              <a:cs typeface="Roboto Mono"/>
              <a:sym typeface="Roboto Mono"/>
            </a:endParaRPr>
          </a:p>
          <a:p>
            <a:pPr indent="-322580" lvl="0" marL="457200" rtl="0" algn="l">
              <a:spcBef>
                <a:spcPts val="0"/>
              </a:spcBef>
              <a:spcAft>
                <a:spcPts val="0"/>
              </a:spcAft>
              <a:buClr>
                <a:schemeClr val="dk1"/>
              </a:buClr>
              <a:buSzPct val="100000"/>
              <a:buChar char="●"/>
            </a:pPr>
            <a:r>
              <a:rPr b="1" lang="en" sz="1600">
                <a:solidFill>
                  <a:schemeClr val="dk1"/>
                </a:solidFill>
              </a:rPr>
              <a:t>Example:</a:t>
            </a:r>
            <a:br>
              <a:rPr lang="en" sz="1600">
                <a:solidFill>
                  <a:schemeClr val="dk1"/>
                </a:solidFill>
              </a:rPr>
            </a:br>
            <a:endParaRPr sz="1600">
              <a:solidFill>
                <a:schemeClr val="dk1"/>
              </a:solidFill>
            </a:endParaRPr>
          </a:p>
          <a:p>
            <a:pPr indent="0" lvl="0" marL="0" rtl="0" algn="l">
              <a:spcBef>
                <a:spcPts val="1200"/>
              </a:spcBef>
              <a:spcAft>
                <a:spcPts val="0"/>
              </a:spcAft>
              <a:buNone/>
            </a:pPr>
            <a:r>
              <a:t/>
            </a:r>
            <a:endParaRPr sz="1600">
              <a:solidFill>
                <a:srgbClr val="188038"/>
              </a:solidFill>
              <a:latin typeface="Roboto Mono"/>
              <a:ea typeface="Roboto Mono"/>
              <a:cs typeface="Roboto Mono"/>
              <a:sym typeface="Roboto Mono"/>
            </a:endParaRPr>
          </a:p>
          <a:p>
            <a:pPr indent="0" lvl="0" marL="0" rtl="0" algn="l">
              <a:spcBef>
                <a:spcPts val="1200"/>
              </a:spcBef>
              <a:spcAft>
                <a:spcPts val="0"/>
              </a:spcAft>
              <a:buNone/>
            </a:pPr>
            <a:br>
              <a:rPr lang="en" sz="1600">
                <a:solidFill>
                  <a:schemeClr val="dk1"/>
                </a:solidFill>
              </a:rPr>
            </a:br>
            <a:endParaRPr sz="1600">
              <a:solidFill>
                <a:schemeClr val="dk1"/>
              </a:solidFill>
            </a:endParaRPr>
          </a:p>
          <a:p>
            <a:pPr indent="-322580" lvl="0" marL="457200" rtl="0" algn="l">
              <a:spcBef>
                <a:spcPts val="1200"/>
              </a:spcBef>
              <a:spcAft>
                <a:spcPts val="0"/>
              </a:spcAft>
              <a:buClr>
                <a:schemeClr val="dk1"/>
              </a:buClr>
              <a:buSzPct val="100000"/>
              <a:buChar char="●"/>
            </a:pPr>
            <a:r>
              <a:rPr b="1" lang="en" sz="1600">
                <a:solidFill>
                  <a:schemeClr val="dk1"/>
                </a:solidFill>
              </a:rPr>
              <a:t>Use Case:</a:t>
            </a:r>
            <a:r>
              <a:rPr lang="en" sz="1600">
                <a:solidFill>
                  <a:schemeClr val="dk1"/>
                </a:solidFill>
              </a:rPr>
              <a:t> Extract numbers from IDs or codes.</a:t>
            </a:r>
            <a:br>
              <a:rPr lang="en" sz="1600">
                <a:solidFill>
                  <a:schemeClr val="dk1"/>
                </a:solidFill>
              </a:rPr>
            </a:br>
            <a:endParaRPr sz="1600">
              <a:solidFill>
                <a:schemeClr val="dk1"/>
              </a:solidFill>
            </a:endParaRPr>
          </a:p>
          <a:p>
            <a:pPr indent="0" lvl="0" marL="0" rtl="0" algn="l">
              <a:spcBef>
                <a:spcPts val="1200"/>
              </a:spcBef>
              <a:spcAft>
                <a:spcPts val="1200"/>
              </a:spcAft>
              <a:buNone/>
            </a:pPr>
            <a:r>
              <a:t/>
            </a:r>
            <a:endParaRPr sz="1600"/>
          </a:p>
        </p:txBody>
      </p:sp>
      <p:pic>
        <p:nvPicPr>
          <p:cNvPr id="209" name="Google Shape;209;p35"/>
          <p:cNvPicPr preferRelativeResize="0"/>
          <p:nvPr/>
        </p:nvPicPr>
        <p:blipFill>
          <a:blip r:embed="rId3">
            <a:alphaModFix/>
          </a:blip>
          <a:stretch>
            <a:fillRect/>
          </a:stretch>
        </p:blipFill>
        <p:spPr>
          <a:xfrm>
            <a:off x="530175" y="2571750"/>
            <a:ext cx="3752850" cy="685800"/>
          </a:xfrm>
          <a:prstGeom prst="rect">
            <a:avLst/>
          </a:prstGeom>
          <a:noFill/>
          <a:ln>
            <a:noFill/>
          </a:ln>
        </p:spPr>
      </p:pic>
      <p:sp>
        <p:nvSpPr>
          <p:cNvPr id="210" name="Google Shape;210;p35"/>
          <p:cNvSpPr txBox="1"/>
          <p:nvPr/>
        </p:nvSpPr>
        <p:spPr>
          <a:xfrm>
            <a:off x="4801800" y="2675998"/>
            <a:ext cx="1957800" cy="477300"/>
          </a:xfrm>
          <a:prstGeom prst="rect">
            <a:avLst/>
          </a:prstGeom>
          <a:solidFill>
            <a:srgbClr val="B6D7A8"/>
          </a:solidFill>
          <a:ln>
            <a:noFill/>
          </a:ln>
        </p:spPr>
        <p:txBody>
          <a:bodyPr anchorCtr="0" anchor="ctr" bIns="91425" lIns="91425" spcFirstLastPara="1" rIns="91425" wrap="square" tIns="91425">
            <a:noAutofit/>
          </a:bodyPr>
          <a:lstStyle/>
          <a:p>
            <a:pPr indent="0" lvl="0" marL="457200" rtl="0" algn="l">
              <a:lnSpc>
                <a:spcPct val="115000"/>
              </a:lnSpc>
              <a:spcBef>
                <a:spcPts val="1200"/>
              </a:spcBef>
              <a:spcAft>
                <a:spcPts val="1200"/>
              </a:spcAft>
              <a:buNone/>
            </a:pPr>
            <a:r>
              <a:rPr b="1" lang="en" sz="1600">
                <a:solidFill>
                  <a:schemeClr val="dk1"/>
                </a:solidFill>
              </a:rPr>
              <a:t>→ 12345</a:t>
            </a:r>
            <a:endParaRPr b="1" sz="16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LEN Function</a:t>
            </a:r>
            <a:endParaRPr b="1"/>
          </a:p>
        </p:txBody>
      </p:sp>
      <p:sp>
        <p:nvSpPr>
          <p:cNvPr id="216" name="Google Shape;216;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1200"/>
              </a:spcBef>
              <a:spcAft>
                <a:spcPts val="0"/>
              </a:spcAft>
              <a:buClr>
                <a:schemeClr val="dk1"/>
              </a:buClr>
              <a:buSzPts val="1500"/>
              <a:buFont typeface="Assistant"/>
              <a:buChar char="●"/>
            </a:pPr>
            <a:r>
              <a:rPr lang="en" sz="1500">
                <a:solidFill>
                  <a:schemeClr val="dk1"/>
                </a:solidFill>
              </a:rPr>
              <a:t>Counts the total number of characters in a string, including spaces and special symbols.</a:t>
            </a:r>
            <a:endParaRPr sz="1500">
              <a:solidFill>
                <a:srgbClr val="000000"/>
              </a:solidFill>
            </a:endParaRPr>
          </a:p>
          <a:p>
            <a:pPr indent="-323850" lvl="0" marL="457200" rtl="0" algn="l">
              <a:lnSpc>
                <a:spcPct val="150000"/>
              </a:lnSpc>
              <a:spcBef>
                <a:spcPts val="0"/>
              </a:spcBef>
              <a:spcAft>
                <a:spcPts val="0"/>
              </a:spcAft>
              <a:buClr>
                <a:schemeClr val="dk1"/>
              </a:buClr>
              <a:buSzPts val="1500"/>
              <a:buFont typeface="Assistant"/>
              <a:buChar char="●"/>
            </a:pPr>
            <a:r>
              <a:rPr b="1" lang="en" sz="1500">
                <a:solidFill>
                  <a:srgbClr val="000000"/>
                </a:solidFill>
              </a:rPr>
              <a:t>Formula:</a:t>
            </a:r>
            <a:r>
              <a:rPr lang="en" sz="1500">
                <a:solidFill>
                  <a:srgbClr val="000000"/>
                </a:solidFill>
              </a:rPr>
              <a:t> </a:t>
            </a:r>
            <a:r>
              <a:rPr b="1" lang="en" sz="1500">
                <a:solidFill>
                  <a:srgbClr val="188038"/>
                </a:solidFill>
              </a:rPr>
              <a:t>=LEN(text)</a:t>
            </a:r>
            <a:endParaRPr sz="1500">
              <a:solidFill>
                <a:srgbClr val="188038"/>
              </a:solidFill>
            </a:endParaRPr>
          </a:p>
          <a:p>
            <a:pPr indent="-323850" lvl="0" marL="457200" rtl="0" algn="l">
              <a:lnSpc>
                <a:spcPct val="150000"/>
              </a:lnSpc>
              <a:spcBef>
                <a:spcPts val="0"/>
              </a:spcBef>
              <a:spcAft>
                <a:spcPts val="0"/>
              </a:spcAft>
              <a:buClr>
                <a:schemeClr val="dk1"/>
              </a:buClr>
              <a:buSzPts val="1500"/>
              <a:buFont typeface="Assistant"/>
              <a:buChar char="●"/>
            </a:pPr>
            <a:r>
              <a:rPr b="1" lang="en" sz="1500">
                <a:solidFill>
                  <a:srgbClr val="000000"/>
                </a:solidFill>
              </a:rPr>
              <a:t>Example:</a:t>
            </a:r>
            <a:endParaRPr b="1" sz="1500">
              <a:solidFill>
                <a:srgbClr val="000000"/>
              </a:solidFill>
            </a:endParaRPr>
          </a:p>
          <a:p>
            <a:pPr indent="0" lvl="0" marL="457200" rtl="0" algn="l">
              <a:lnSpc>
                <a:spcPct val="150000"/>
              </a:lnSpc>
              <a:spcBef>
                <a:spcPts val="1200"/>
              </a:spcBef>
              <a:spcAft>
                <a:spcPts val="0"/>
              </a:spcAft>
              <a:buNone/>
            </a:pPr>
            <a:br>
              <a:rPr lang="en" sz="1500">
                <a:solidFill>
                  <a:srgbClr val="188038"/>
                </a:solidFill>
              </a:rPr>
            </a:br>
            <a:endParaRPr b="1" sz="1500">
              <a:solidFill>
                <a:srgbClr val="000000"/>
              </a:solidFill>
            </a:endParaRPr>
          </a:p>
          <a:p>
            <a:pPr indent="0" lvl="0" marL="0" rtl="0" algn="l">
              <a:lnSpc>
                <a:spcPct val="150000"/>
              </a:lnSpc>
              <a:spcBef>
                <a:spcPts val="1200"/>
              </a:spcBef>
              <a:spcAft>
                <a:spcPts val="0"/>
              </a:spcAft>
              <a:buNone/>
            </a:pPr>
            <a:r>
              <a:t/>
            </a:r>
            <a:endParaRPr b="1" sz="1500">
              <a:solidFill>
                <a:srgbClr val="000000"/>
              </a:solidFill>
            </a:endParaRPr>
          </a:p>
          <a:p>
            <a:pPr indent="-323850" lvl="0" marL="457200" rtl="0" algn="l">
              <a:lnSpc>
                <a:spcPct val="150000"/>
              </a:lnSpc>
              <a:spcBef>
                <a:spcPts val="1200"/>
              </a:spcBef>
              <a:spcAft>
                <a:spcPts val="0"/>
              </a:spcAft>
              <a:buClr>
                <a:schemeClr val="dk1"/>
              </a:buClr>
              <a:buSzPts val="1500"/>
              <a:buFont typeface="Arial"/>
              <a:buChar char="●"/>
            </a:pPr>
            <a:r>
              <a:rPr b="1" lang="en" sz="1500">
                <a:solidFill>
                  <a:srgbClr val="000000"/>
                </a:solidFill>
              </a:rPr>
              <a:t>Explanation :</a:t>
            </a:r>
            <a:r>
              <a:rPr lang="en" sz="1500">
                <a:solidFill>
                  <a:srgbClr val="000000"/>
                </a:solidFill>
              </a:rPr>
              <a:t> "mypassword!@#" contains 13 characters, including special characters.</a:t>
            </a:r>
            <a:endParaRPr sz="1500">
              <a:solidFill>
                <a:srgbClr val="000000"/>
              </a:solidFill>
            </a:endParaRPr>
          </a:p>
          <a:p>
            <a:pPr indent="-323850" lvl="0" marL="457200" rtl="0" algn="l">
              <a:lnSpc>
                <a:spcPct val="150000"/>
              </a:lnSpc>
              <a:spcBef>
                <a:spcPts val="0"/>
              </a:spcBef>
              <a:spcAft>
                <a:spcPts val="0"/>
              </a:spcAft>
              <a:buClr>
                <a:srgbClr val="000000"/>
              </a:buClr>
              <a:buSzPts val="1500"/>
              <a:buFont typeface="Assistant"/>
              <a:buChar char="●"/>
            </a:pPr>
            <a:r>
              <a:rPr b="1" lang="en" sz="1500">
                <a:solidFill>
                  <a:srgbClr val="000000"/>
                </a:solidFill>
              </a:rPr>
              <a:t>Use Case: </a:t>
            </a:r>
            <a:r>
              <a:rPr lang="en" sz="1500">
                <a:solidFill>
                  <a:schemeClr val="dk1"/>
                </a:solidFill>
              </a:rPr>
              <a:t>Validate password lengths or ensure data integrity</a:t>
            </a:r>
            <a:endParaRPr b="1" sz="1500">
              <a:solidFill>
                <a:srgbClr val="000000"/>
              </a:solidFill>
            </a:endParaRPr>
          </a:p>
          <a:p>
            <a:pPr indent="0" lvl="0" marL="0" rtl="0" algn="l">
              <a:spcBef>
                <a:spcPts val="1200"/>
              </a:spcBef>
              <a:spcAft>
                <a:spcPts val="1200"/>
              </a:spcAft>
              <a:buNone/>
            </a:pPr>
            <a:r>
              <a:t/>
            </a:r>
            <a:endParaRPr sz="1500"/>
          </a:p>
        </p:txBody>
      </p:sp>
      <p:pic>
        <p:nvPicPr>
          <p:cNvPr id="217" name="Google Shape;217;p36"/>
          <p:cNvPicPr preferRelativeResize="0"/>
          <p:nvPr/>
        </p:nvPicPr>
        <p:blipFill>
          <a:blip r:embed="rId3">
            <a:alphaModFix/>
          </a:blip>
          <a:stretch>
            <a:fillRect/>
          </a:stretch>
        </p:blipFill>
        <p:spPr>
          <a:xfrm>
            <a:off x="570025" y="2310125"/>
            <a:ext cx="4933625" cy="1225125"/>
          </a:xfrm>
          <a:prstGeom prst="rect">
            <a:avLst/>
          </a:prstGeom>
          <a:noFill/>
          <a:ln>
            <a:noFill/>
          </a:ln>
        </p:spPr>
      </p:pic>
      <p:sp>
        <p:nvSpPr>
          <p:cNvPr id="218" name="Google Shape;218;p36"/>
          <p:cNvSpPr txBox="1"/>
          <p:nvPr/>
        </p:nvSpPr>
        <p:spPr>
          <a:xfrm>
            <a:off x="5882200" y="2333098"/>
            <a:ext cx="1957800" cy="477300"/>
          </a:xfrm>
          <a:prstGeom prst="rect">
            <a:avLst/>
          </a:prstGeom>
          <a:solidFill>
            <a:srgbClr val="B6D7A8"/>
          </a:solidFill>
          <a:ln>
            <a:noFill/>
          </a:ln>
        </p:spPr>
        <p:txBody>
          <a:bodyPr anchorCtr="0" anchor="ctr" bIns="91425" lIns="91425" spcFirstLastPara="1" rIns="91425" wrap="square" tIns="91425">
            <a:noAutofit/>
          </a:bodyPr>
          <a:lstStyle/>
          <a:p>
            <a:pPr indent="0" lvl="0" marL="457200" rtl="0" algn="l">
              <a:lnSpc>
                <a:spcPct val="115000"/>
              </a:lnSpc>
              <a:spcBef>
                <a:spcPts val="1200"/>
              </a:spcBef>
              <a:spcAft>
                <a:spcPts val="1200"/>
              </a:spcAft>
              <a:buNone/>
            </a:pPr>
            <a:r>
              <a:rPr b="1" lang="en" sz="1600">
                <a:solidFill>
                  <a:schemeClr val="dk1"/>
                </a:solidFill>
              </a:rPr>
              <a:t>→ 13</a:t>
            </a:r>
            <a:endParaRPr b="1" sz="16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2500"/>
              <a:t>TRIM Function</a:t>
            </a:r>
            <a:endParaRPr b="1" sz="2500"/>
          </a:p>
          <a:p>
            <a:pPr indent="0" lvl="0" marL="0" rtl="0" algn="l">
              <a:spcBef>
                <a:spcPts val="400"/>
              </a:spcBef>
              <a:spcAft>
                <a:spcPts val="0"/>
              </a:spcAft>
              <a:buNone/>
            </a:pPr>
            <a:r>
              <a:t/>
            </a:r>
            <a:endParaRPr sz="2500"/>
          </a:p>
        </p:txBody>
      </p:sp>
      <p:sp>
        <p:nvSpPr>
          <p:cNvPr id="224" name="Google Shape;224;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1000"/>
              </a:spcBef>
              <a:spcAft>
                <a:spcPts val="0"/>
              </a:spcAft>
              <a:buClr>
                <a:schemeClr val="dk1"/>
              </a:buClr>
              <a:buSzPts val="1600"/>
              <a:buChar char="●"/>
            </a:pPr>
            <a:r>
              <a:rPr lang="en" sz="1600">
                <a:solidFill>
                  <a:schemeClr val="dk1"/>
                </a:solidFill>
              </a:rPr>
              <a:t>Removes </a:t>
            </a:r>
            <a:r>
              <a:rPr b="1" lang="en" sz="1600">
                <a:solidFill>
                  <a:schemeClr val="dk1"/>
                </a:solidFill>
              </a:rPr>
              <a:t>extra spaces</a:t>
            </a:r>
            <a:r>
              <a:rPr lang="en" sz="1600">
                <a:solidFill>
                  <a:schemeClr val="dk1"/>
                </a:solidFill>
              </a:rPr>
              <a:t> from text, except single spaces between words.</a:t>
            </a:r>
            <a:endParaRPr sz="1600">
              <a:solidFill>
                <a:schemeClr val="dk1"/>
              </a:solidFill>
            </a:endParaRPr>
          </a:p>
          <a:p>
            <a:pPr indent="-330200" lvl="0" marL="457200" rtl="0" algn="l">
              <a:spcBef>
                <a:spcPts val="1200"/>
              </a:spcBef>
              <a:spcAft>
                <a:spcPts val="0"/>
              </a:spcAft>
              <a:buClr>
                <a:schemeClr val="dk1"/>
              </a:buClr>
              <a:buSzPts val="1600"/>
              <a:buChar char="●"/>
            </a:pPr>
            <a:r>
              <a:rPr b="1" lang="en" sz="1600">
                <a:solidFill>
                  <a:schemeClr val="dk1"/>
                </a:solidFill>
              </a:rPr>
              <a:t>Formula:</a:t>
            </a:r>
            <a:r>
              <a:rPr lang="en" sz="1600">
                <a:solidFill>
                  <a:schemeClr val="dk1"/>
                </a:solidFill>
              </a:rPr>
              <a:t> </a:t>
            </a:r>
            <a:r>
              <a:rPr lang="en" sz="1600">
                <a:solidFill>
                  <a:srgbClr val="188038"/>
                </a:solidFill>
                <a:latin typeface="Roboto Mono"/>
                <a:ea typeface="Roboto Mono"/>
                <a:cs typeface="Roboto Mono"/>
                <a:sym typeface="Roboto Mono"/>
              </a:rPr>
              <a:t>=TRIM(text)</a:t>
            </a:r>
            <a:endParaRPr sz="1600">
              <a:solidFill>
                <a:srgbClr val="188038"/>
              </a:solidFill>
              <a:latin typeface="Roboto Mono"/>
              <a:ea typeface="Roboto Mono"/>
              <a:cs typeface="Roboto Mono"/>
              <a:sym typeface="Roboto Mono"/>
            </a:endParaRPr>
          </a:p>
          <a:p>
            <a:pPr indent="-330200" lvl="0" marL="457200" rtl="0" algn="l">
              <a:spcBef>
                <a:spcPts val="1000"/>
              </a:spcBef>
              <a:spcAft>
                <a:spcPts val="0"/>
              </a:spcAft>
              <a:buClr>
                <a:schemeClr val="dk1"/>
              </a:buClr>
              <a:buSzPts val="1600"/>
              <a:buChar char="●"/>
            </a:pPr>
            <a:r>
              <a:rPr b="1" lang="en" sz="1600">
                <a:solidFill>
                  <a:schemeClr val="dk1"/>
                </a:solidFill>
              </a:rPr>
              <a:t>Example:</a:t>
            </a:r>
            <a:endParaRPr b="1"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None/>
            </a:pPr>
            <a:r>
              <a:rPr lang="en" sz="1600">
                <a:solidFill>
                  <a:schemeClr val="dk1"/>
                </a:solidFill>
              </a:rPr>
              <a:t>                                                                                                                                                            </a:t>
            </a:r>
            <a:endParaRPr sz="1600">
              <a:solidFill>
                <a:schemeClr val="dk1"/>
              </a:solidFill>
            </a:endParaRPr>
          </a:p>
          <a:p>
            <a:pPr indent="-330200" lvl="0" marL="457200" rtl="0" algn="l">
              <a:spcBef>
                <a:spcPts val="1200"/>
              </a:spcBef>
              <a:spcAft>
                <a:spcPts val="0"/>
              </a:spcAft>
              <a:buClr>
                <a:schemeClr val="dk1"/>
              </a:buClr>
              <a:buSzPts val="1600"/>
              <a:buChar char="●"/>
            </a:pPr>
            <a:r>
              <a:rPr b="1" lang="en" sz="1600">
                <a:solidFill>
                  <a:schemeClr val="dk1"/>
                </a:solidFill>
              </a:rPr>
              <a:t>Use Case:</a:t>
            </a:r>
            <a:r>
              <a:rPr lang="en" sz="1600">
                <a:solidFill>
                  <a:schemeClr val="dk1"/>
                </a:solidFill>
              </a:rPr>
              <a:t> Clean data imported from external sources.</a:t>
            </a:r>
            <a:endParaRPr sz="1600">
              <a:solidFill>
                <a:schemeClr val="dk1"/>
              </a:solidFill>
            </a:endParaRPr>
          </a:p>
          <a:p>
            <a:pPr indent="0" lvl="0" marL="457200" rtl="0" algn="l">
              <a:spcBef>
                <a:spcPts val="1000"/>
              </a:spcBef>
              <a:spcAft>
                <a:spcPts val="1200"/>
              </a:spcAft>
              <a:buNone/>
            </a:pPr>
            <a:r>
              <a:t/>
            </a:r>
            <a:endParaRPr sz="1600"/>
          </a:p>
        </p:txBody>
      </p:sp>
      <p:pic>
        <p:nvPicPr>
          <p:cNvPr id="225" name="Google Shape;225;p37"/>
          <p:cNvPicPr preferRelativeResize="0"/>
          <p:nvPr/>
        </p:nvPicPr>
        <p:blipFill>
          <a:blip r:embed="rId3">
            <a:alphaModFix/>
          </a:blip>
          <a:stretch>
            <a:fillRect/>
          </a:stretch>
        </p:blipFill>
        <p:spPr>
          <a:xfrm>
            <a:off x="647525" y="2631925"/>
            <a:ext cx="4419600" cy="895350"/>
          </a:xfrm>
          <a:prstGeom prst="rect">
            <a:avLst/>
          </a:prstGeom>
          <a:noFill/>
          <a:ln>
            <a:noFill/>
          </a:ln>
        </p:spPr>
      </p:pic>
      <p:sp>
        <p:nvSpPr>
          <p:cNvPr id="226" name="Google Shape;226;p37"/>
          <p:cNvSpPr txBox="1"/>
          <p:nvPr/>
        </p:nvSpPr>
        <p:spPr>
          <a:xfrm>
            <a:off x="5245100" y="2811850"/>
            <a:ext cx="2068500" cy="535500"/>
          </a:xfrm>
          <a:prstGeom prst="rect">
            <a:avLst/>
          </a:prstGeom>
          <a:solidFill>
            <a:srgbClr val="B6D7A8"/>
          </a:solid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b="1" lang="en" sz="1600">
                <a:solidFill>
                  <a:schemeClr val="dk1"/>
                </a:solidFill>
              </a:rPr>
              <a:t>→ Excel Tips</a:t>
            </a:r>
            <a:endParaRPr b="1" sz="16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311700" y="4241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sz="2500"/>
              <a:t>Question !</a:t>
            </a:r>
            <a:endParaRPr b="1" sz="2500"/>
          </a:p>
        </p:txBody>
      </p:sp>
      <p:sp>
        <p:nvSpPr>
          <p:cNvPr id="232" name="Google Shape;232;p38"/>
          <p:cNvSpPr txBox="1"/>
          <p:nvPr>
            <p:ph idx="1" type="body"/>
          </p:nvPr>
        </p:nvSpPr>
        <p:spPr>
          <a:xfrm>
            <a:off x="311700" y="1152475"/>
            <a:ext cx="4979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solidFill>
                <a:schemeClr val="dk1"/>
              </a:solidFill>
              <a:latin typeface="Lexend"/>
              <a:ea typeface="Lexend"/>
              <a:cs typeface="Lexend"/>
              <a:sym typeface="Lexend"/>
            </a:endParaRPr>
          </a:p>
          <a:p>
            <a:pPr indent="0" lvl="0" marL="0" rtl="0" algn="l">
              <a:spcBef>
                <a:spcPts val="1200"/>
              </a:spcBef>
              <a:spcAft>
                <a:spcPts val="0"/>
              </a:spcAft>
              <a:buNone/>
            </a:pPr>
            <a:r>
              <a:rPr lang="en" sz="1600">
                <a:solidFill>
                  <a:schemeClr val="dk1"/>
                </a:solidFill>
                <a:latin typeface="Lexend"/>
                <a:ea typeface="Lexend"/>
                <a:cs typeface="Lexend"/>
                <a:sym typeface="Lexend"/>
              </a:rPr>
              <a:t>If A1 = “Data” and A2 = “Clean”, what will </a:t>
            </a:r>
            <a:r>
              <a:rPr lang="en" sz="1600">
                <a:solidFill>
                  <a:srgbClr val="B45F06"/>
                </a:solidFill>
                <a:latin typeface="Lexend"/>
                <a:ea typeface="Lexend"/>
                <a:cs typeface="Lexend"/>
                <a:sym typeface="Lexend"/>
              </a:rPr>
              <a:t>=CONCAT(A1,A2)</a:t>
            </a:r>
            <a:r>
              <a:rPr lang="en" sz="1600">
                <a:solidFill>
                  <a:schemeClr val="dk1"/>
                </a:solidFill>
                <a:latin typeface="Lexend"/>
                <a:ea typeface="Lexend"/>
                <a:cs typeface="Lexend"/>
                <a:sym typeface="Lexend"/>
              </a:rPr>
              <a:t> return?</a:t>
            </a:r>
            <a:endParaRPr b="1" sz="1600">
              <a:solidFill>
                <a:schemeClr val="dk1"/>
              </a:solidFill>
              <a:latin typeface="Lexend"/>
              <a:ea typeface="Lexend"/>
              <a:cs typeface="Lexend"/>
              <a:sym typeface="Lexend"/>
            </a:endParaRPr>
          </a:p>
          <a:p>
            <a:pPr indent="0" lvl="0" marL="0" rtl="0" algn="l">
              <a:spcBef>
                <a:spcPts val="1200"/>
              </a:spcBef>
              <a:spcAft>
                <a:spcPts val="0"/>
              </a:spcAft>
              <a:buNone/>
            </a:pPr>
            <a:r>
              <a:t/>
            </a:r>
            <a:endParaRPr b="1">
              <a:solidFill>
                <a:schemeClr val="dk1"/>
              </a:solidFill>
              <a:latin typeface="Lexend"/>
              <a:ea typeface="Lexend"/>
              <a:cs typeface="Lexend"/>
              <a:sym typeface="Lexend"/>
            </a:endParaRPr>
          </a:p>
          <a:p>
            <a:pPr indent="0" lvl="0" marL="0" rtl="0" algn="l">
              <a:spcBef>
                <a:spcPts val="1200"/>
              </a:spcBef>
              <a:spcAft>
                <a:spcPts val="1200"/>
              </a:spcAft>
              <a:buNone/>
            </a:pPr>
            <a:r>
              <a:rPr b="1" lang="en">
                <a:solidFill>
                  <a:schemeClr val="dk1"/>
                </a:solidFill>
                <a:latin typeface="Lexend"/>
                <a:ea typeface="Lexend"/>
                <a:cs typeface="Lexend"/>
                <a:sym typeface="Lexend"/>
              </a:rPr>
              <a:t>Answer:  “DataClean”</a:t>
            </a:r>
            <a:endParaRPr b="1">
              <a:solidFill>
                <a:schemeClr val="dk1"/>
              </a:solidFill>
              <a:latin typeface="Lexend"/>
              <a:ea typeface="Lexend"/>
              <a:cs typeface="Lexend"/>
              <a:sym typeface="Lexend"/>
            </a:endParaRPr>
          </a:p>
        </p:txBody>
      </p:sp>
      <p:pic>
        <p:nvPicPr>
          <p:cNvPr id="233" name="Google Shape;233;p38"/>
          <p:cNvPicPr preferRelativeResize="0"/>
          <p:nvPr/>
        </p:nvPicPr>
        <p:blipFill>
          <a:blip r:embed="rId3">
            <a:alphaModFix/>
          </a:blip>
          <a:stretch>
            <a:fillRect/>
          </a:stretch>
        </p:blipFill>
        <p:spPr>
          <a:xfrm>
            <a:off x="5359776" y="926250"/>
            <a:ext cx="3642649" cy="3642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latin typeface="DM Sans"/>
                <a:ea typeface="DM Sans"/>
                <a:cs typeface="DM Sans"/>
                <a:sym typeface="DM Sans"/>
              </a:rPr>
              <a:t>Additional Functions for Handling Textual Data in Excel </a:t>
            </a:r>
            <a:endParaRPr b="1" sz="2420">
              <a:latin typeface="DM Sans"/>
              <a:ea typeface="DM Sans"/>
              <a:cs typeface="DM Sans"/>
              <a:sym typeface="DM Sans"/>
            </a:endParaRPr>
          </a:p>
        </p:txBody>
      </p:sp>
      <p:graphicFrame>
        <p:nvGraphicFramePr>
          <p:cNvPr id="239" name="Google Shape;239;p39"/>
          <p:cNvGraphicFramePr/>
          <p:nvPr/>
        </p:nvGraphicFramePr>
        <p:xfrm>
          <a:off x="395150" y="1258300"/>
          <a:ext cx="3000000" cy="3000000"/>
        </p:xfrm>
        <a:graphic>
          <a:graphicData uri="http://schemas.openxmlformats.org/drawingml/2006/table">
            <a:tbl>
              <a:tblPr>
                <a:noFill/>
                <a:tableStyleId>{928F9DCA-0460-4D59-A6E1-1A3F3D8E0558}</a:tableStyleId>
              </a:tblPr>
              <a:tblGrid>
                <a:gridCol w="1204775"/>
                <a:gridCol w="4210925"/>
                <a:gridCol w="1761050"/>
                <a:gridCol w="1056975"/>
              </a:tblGrid>
              <a:tr h="454150">
                <a:tc>
                  <a:txBody>
                    <a:bodyPr/>
                    <a:lstStyle/>
                    <a:p>
                      <a:pPr indent="0" lvl="0" marL="0" rtl="0" algn="ctr">
                        <a:lnSpc>
                          <a:spcPct val="115000"/>
                        </a:lnSpc>
                        <a:spcBef>
                          <a:spcPts val="0"/>
                        </a:spcBef>
                        <a:spcAft>
                          <a:spcPts val="0"/>
                        </a:spcAft>
                        <a:buNone/>
                      </a:pPr>
                      <a:r>
                        <a:rPr b="1" lang="en">
                          <a:latin typeface="DM Sans"/>
                          <a:ea typeface="DM Sans"/>
                          <a:cs typeface="DM Sans"/>
                          <a:sym typeface="DM Sans"/>
                        </a:rPr>
                        <a:t>Function</a:t>
                      </a:r>
                      <a:endParaRPr b="1">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a:latin typeface="DM Sans"/>
                          <a:ea typeface="DM Sans"/>
                          <a:cs typeface="DM Sans"/>
                          <a:sym typeface="DM Sans"/>
                        </a:rPr>
                        <a:t>Purpose</a:t>
                      </a:r>
                      <a:endParaRPr b="1">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a:latin typeface="DM Sans"/>
                          <a:ea typeface="DM Sans"/>
                          <a:cs typeface="DM Sans"/>
                          <a:sym typeface="DM Sans"/>
                        </a:rPr>
                        <a:t>Example</a:t>
                      </a:r>
                      <a:endParaRPr b="1">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a:latin typeface="DM Sans"/>
                          <a:ea typeface="DM Sans"/>
                          <a:cs typeface="DM Sans"/>
                          <a:sym typeface="DM Sans"/>
                        </a:rPr>
                        <a:t>Result</a:t>
                      </a:r>
                      <a:endParaRPr b="1">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r>
              <a:tr h="477325">
                <a:tc>
                  <a:txBody>
                    <a:bodyPr/>
                    <a:lstStyle/>
                    <a:p>
                      <a:pPr indent="0" lvl="0" marL="0" rtl="0" algn="l">
                        <a:spcBef>
                          <a:spcPts val="0"/>
                        </a:spcBef>
                        <a:spcAft>
                          <a:spcPts val="0"/>
                        </a:spcAft>
                        <a:buNone/>
                      </a:pPr>
                      <a:r>
                        <a:rPr b="1" lang="en" sz="1100">
                          <a:latin typeface="DM Sans"/>
                          <a:ea typeface="DM Sans"/>
                          <a:cs typeface="DM Sans"/>
                          <a:sym typeface="DM Sans"/>
                        </a:rPr>
                        <a:t>UPPER()</a:t>
                      </a:r>
                      <a:endParaRPr b="1" sz="1100">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en">
                          <a:latin typeface="DM Sans"/>
                          <a:ea typeface="DM Sans"/>
                          <a:cs typeface="DM Sans"/>
                          <a:sym typeface="DM Sans"/>
                        </a:rPr>
                        <a:t>Converts all text to uppercase letters</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38761D"/>
                          </a:solidFill>
                          <a:latin typeface="DM Sans"/>
                          <a:ea typeface="DM Sans"/>
                          <a:cs typeface="DM Sans"/>
                          <a:sym typeface="DM Sans"/>
                        </a:rPr>
                        <a:t>=UPPER("excel")</a:t>
                      </a:r>
                      <a:endParaRPr b="1" sz="1100">
                        <a:solidFill>
                          <a:srgbClr val="38761D"/>
                        </a:solidFill>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a:latin typeface="DM Sans"/>
                          <a:ea typeface="DM Sans"/>
                          <a:cs typeface="DM Sans"/>
                          <a:sym typeface="DM Sans"/>
                        </a:rPr>
                        <a:t>EXCEL</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7325">
                <a:tc>
                  <a:txBody>
                    <a:bodyPr/>
                    <a:lstStyle/>
                    <a:p>
                      <a:pPr indent="0" lvl="0" marL="0" rtl="0" algn="l">
                        <a:spcBef>
                          <a:spcPts val="0"/>
                        </a:spcBef>
                        <a:spcAft>
                          <a:spcPts val="0"/>
                        </a:spcAft>
                        <a:buNone/>
                      </a:pPr>
                      <a:r>
                        <a:rPr b="1" lang="en" sz="1100">
                          <a:latin typeface="DM Sans"/>
                          <a:ea typeface="DM Sans"/>
                          <a:cs typeface="DM Sans"/>
                          <a:sym typeface="DM Sans"/>
                        </a:rPr>
                        <a:t>LOWER()</a:t>
                      </a:r>
                      <a:endParaRPr b="1" sz="1100">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en">
                          <a:latin typeface="DM Sans"/>
                          <a:ea typeface="DM Sans"/>
                          <a:cs typeface="DM Sans"/>
                          <a:sym typeface="DM Sans"/>
                        </a:rPr>
                        <a:t>Converts all text to lowercase letters</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38761D"/>
                          </a:solidFill>
                          <a:latin typeface="DM Sans"/>
                          <a:ea typeface="DM Sans"/>
                          <a:cs typeface="DM Sans"/>
                          <a:sym typeface="DM Sans"/>
                        </a:rPr>
                        <a:t>=LOWER("EXCEL")</a:t>
                      </a:r>
                      <a:endParaRPr b="1" sz="1100">
                        <a:solidFill>
                          <a:srgbClr val="38761D"/>
                        </a:solidFill>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a:latin typeface="DM Sans"/>
                          <a:ea typeface="DM Sans"/>
                          <a:cs typeface="DM Sans"/>
                          <a:sym typeface="DM Sans"/>
                        </a:rPr>
                        <a:t>excel</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32225">
                <a:tc>
                  <a:txBody>
                    <a:bodyPr/>
                    <a:lstStyle/>
                    <a:p>
                      <a:pPr indent="0" lvl="0" marL="0" rtl="0" algn="l">
                        <a:spcBef>
                          <a:spcPts val="0"/>
                        </a:spcBef>
                        <a:spcAft>
                          <a:spcPts val="0"/>
                        </a:spcAft>
                        <a:buNone/>
                      </a:pPr>
                      <a:r>
                        <a:rPr b="1" lang="en" sz="1100">
                          <a:latin typeface="DM Sans"/>
                          <a:ea typeface="DM Sans"/>
                          <a:cs typeface="DM Sans"/>
                          <a:sym typeface="DM Sans"/>
                        </a:rPr>
                        <a:t>PROPER()</a:t>
                      </a:r>
                      <a:endParaRPr b="1" sz="1100">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en">
                          <a:latin typeface="DM Sans"/>
                          <a:ea typeface="DM Sans"/>
                          <a:cs typeface="DM Sans"/>
                          <a:sym typeface="DM Sans"/>
                        </a:rPr>
                        <a:t>Capitalizes the first letter of each word</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38761D"/>
                          </a:solidFill>
                          <a:latin typeface="DM Sans"/>
                          <a:ea typeface="DM Sans"/>
                          <a:cs typeface="DM Sans"/>
                          <a:sym typeface="DM Sans"/>
                        </a:rPr>
                        <a:t>=PROPER("data analyst")</a:t>
                      </a:r>
                      <a:endParaRPr b="1" sz="1100">
                        <a:solidFill>
                          <a:srgbClr val="38761D"/>
                        </a:solidFill>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a:latin typeface="DM Sans"/>
                          <a:ea typeface="DM Sans"/>
                          <a:cs typeface="DM Sans"/>
                          <a:sym typeface="DM Sans"/>
                        </a:rPr>
                        <a:t>Data Analyst</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32225">
                <a:tc>
                  <a:txBody>
                    <a:bodyPr/>
                    <a:lstStyle/>
                    <a:p>
                      <a:pPr indent="0" lvl="0" marL="0" rtl="0" algn="l">
                        <a:spcBef>
                          <a:spcPts val="0"/>
                        </a:spcBef>
                        <a:spcAft>
                          <a:spcPts val="0"/>
                        </a:spcAft>
                        <a:buNone/>
                      </a:pPr>
                      <a:r>
                        <a:rPr b="1" lang="en" sz="1100">
                          <a:latin typeface="DM Sans"/>
                          <a:ea typeface="DM Sans"/>
                          <a:cs typeface="DM Sans"/>
                          <a:sym typeface="DM Sans"/>
                        </a:rPr>
                        <a:t>FIND()</a:t>
                      </a:r>
                      <a:endParaRPr b="1" sz="1100">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en">
                          <a:latin typeface="DM Sans"/>
                          <a:ea typeface="DM Sans"/>
                          <a:cs typeface="DM Sans"/>
                          <a:sym typeface="DM Sans"/>
                        </a:rPr>
                        <a:t>Returns the position of a character or text within another text (case-sensitive)</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38761D"/>
                          </a:solidFill>
                          <a:latin typeface="DM Sans"/>
                          <a:ea typeface="DM Sans"/>
                          <a:cs typeface="DM Sans"/>
                          <a:sym typeface="DM Sans"/>
                        </a:rPr>
                        <a:t>=FIND("A","Data")</a:t>
                      </a:r>
                      <a:endParaRPr b="1" sz="1100">
                        <a:solidFill>
                          <a:srgbClr val="38761D"/>
                        </a:solidFill>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a:latin typeface="DM Sans"/>
                          <a:ea typeface="DM Sans"/>
                          <a:cs typeface="DM Sans"/>
                          <a:sym typeface="DM Sans"/>
                        </a:rPr>
                        <a:t>2</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0"/>
          <p:cNvSpPr txBox="1"/>
          <p:nvPr/>
        </p:nvSpPr>
        <p:spPr>
          <a:xfrm>
            <a:off x="688550" y="511225"/>
            <a:ext cx="7334400" cy="12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latin typeface="DM Sans"/>
                <a:ea typeface="DM Sans"/>
                <a:cs typeface="DM Sans"/>
                <a:sym typeface="DM Sans"/>
              </a:rPr>
              <a:t>FROM LOGIC TO TIME… ⏳</a:t>
            </a:r>
            <a:endParaRPr b="1" sz="15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i="1" lang="en">
                <a:solidFill>
                  <a:schemeClr val="dk1"/>
                </a:solidFill>
                <a:latin typeface="DM Sans"/>
                <a:ea typeface="DM Sans"/>
                <a:cs typeface="DM Sans"/>
                <a:sym typeface="DM Sans"/>
              </a:rPr>
              <a:t>We’ve learned how Excel makes decisions using Logical Functions like IF, AND, and OR.</a:t>
            </a:r>
            <a:endParaRPr i="1">
              <a:solidFill>
                <a:schemeClr val="dk1"/>
              </a:solidFill>
              <a:latin typeface="DM Sans"/>
              <a:ea typeface="DM Sans"/>
              <a:cs typeface="DM Sans"/>
              <a:sym typeface="DM Sans"/>
            </a:endParaRPr>
          </a:p>
          <a:p>
            <a:pPr indent="0" lvl="0" marL="0" rtl="0" algn="l">
              <a:lnSpc>
                <a:spcPct val="115000"/>
              </a:lnSpc>
              <a:spcBef>
                <a:spcPts val="1200"/>
              </a:spcBef>
              <a:spcAft>
                <a:spcPts val="1200"/>
              </a:spcAft>
              <a:buNone/>
            </a:pPr>
            <a:r>
              <a:rPr i="1" lang="en">
                <a:solidFill>
                  <a:schemeClr val="dk1"/>
                </a:solidFill>
                <a:latin typeface="DM Sans"/>
                <a:ea typeface="DM Sans"/>
                <a:cs typeface="DM Sans"/>
                <a:sym typeface="DM Sans"/>
              </a:rPr>
              <a:t>Now, it’s time to work with something just as powerful — </a:t>
            </a:r>
            <a:r>
              <a:rPr b="1" i="1" lang="en">
                <a:solidFill>
                  <a:schemeClr val="dk1"/>
                </a:solidFill>
                <a:latin typeface="DM Sans"/>
                <a:ea typeface="DM Sans"/>
                <a:cs typeface="DM Sans"/>
                <a:sym typeface="DM Sans"/>
              </a:rPr>
              <a:t>Date &amp; Time Functions</a:t>
            </a:r>
            <a:r>
              <a:rPr i="1" lang="en">
                <a:solidFill>
                  <a:schemeClr val="dk1"/>
                </a:solidFill>
                <a:latin typeface="DM Sans"/>
                <a:ea typeface="DM Sans"/>
                <a:cs typeface="DM Sans"/>
                <a:sym typeface="DM Sans"/>
              </a:rPr>
              <a:t>.</a:t>
            </a:r>
            <a:endParaRPr i="1">
              <a:solidFill>
                <a:schemeClr val="dk1"/>
              </a:solidFill>
              <a:latin typeface="DM Sans"/>
              <a:ea typeface="DM Sans"/>
              <a:cs typeface="DM Sans"/>
              <a:sym typeface="DM Sans"/>
            </a:endParaRPr>
          </a:p>
        </p:txBody>
      </p:sp>
      <p:sp>
        <p:nvSpPr>
          <p:cNvPr id="245" name="Google Shape;245;p40"/>
          <p:cNvSpPr txBox="1"/>
          <p:nvPr/>
        </p:nvSpPr>
        <p:spPr>
          <a:xfrm>
            <a:off x="772050" y="2107475"/>
            <a:ext cx="6645900" cy="14316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n">
                <a:solidFill>
                  <a:schemeClr val="dk1"/>
                </a:solidFill>
                <a:latin typeface="DM Sans"/>
                <a:ea typeface="DM Sans"/>
                <a:cs typeface="DM Sans"/>
                <a:sym typeface="DM Sans"/>
              </a:rPr>
              <a:t>TODAY()</a:t>
            </a:r>
            <a:r>
              <a:rPr lang="en">
                <a:solidFill>
                  <a:schemeClr val="dk1"/>
                </a:solidFill>
                <a:latin typeface="DM Sans"/>
                <a:ea typeface="DM Sans"/>
                <a:cs typeface="DM Sans"/>
                <a:sym typeface="DM Sans"/>
              </a:rPr>
              <a:t> – Returns the current date</a:t>
            </a:r>
            <a:endParaRPr>
              <a:solidFill>
                <a:schemeClr val="dk1"/>
              </a:solidFill>
              <a:latin typeface="DM Sans"/>
              <a:ea typeface="DM Sans"/>
              <a:cs typeface="DM Sans"/>
              <a:sym typeface="DM Sans"/>
            </a:endParaRPr>
          </a:p>
          <a:p>
            <a:pPr indent="0" lvl="0" marL="0" rtl="0" algn="l">
              <a:spcBef>
                <a:spcPts val="1000"/>
              </a:spcBef>
              <a:spcAft>
                <a:spcPts val="0"/>
              </a:spcAft>
              <a:buNone/>
            </a:pPr>
            <a:r>
              <a:rPr b="1" lang="en">
                <a:solidFill>
                  <a:schemeClr val="dk1"/>
                </a:solidFill>
                <a:latin typeface="DM Sans"/>
                <a:ea typeface="DM Sans"/>
                <a:cs typeface="DM Sans"/>
                <a:sym typeface="DM Sans"/>
              </a:rPr>
              <a:t>NOW()</a:t>
            </a:r>
            <a:r>
              <a:rPr lang="en">
                <a:solidFill>
                  <a:schemeClr val="dk1"/>
                </a:solidFill>
                <a:latin typeface="DM Sans"/>
                <a:ea typeface="DM Sans"/>
                <a:cs typeface="DM Sans"/>
                <a:sym typeface="DM Sans"/>
              </a:rPr>
              <a:t> – Returns the current date and time</a:t>
            </a:r>
            <a:endParaRPr>
              <a:solidFill>
                <a:schemeClr val="dk1"/>
              </a:solidFill>
              <a:latin typeface="DM Sans"/>
              <a:ea typeface="DM Sans"/>
              <a:cs typeface="DM Sans"/>
              <a:sym typeface="DM Sans"/>
            </a:endParaRPr>
          </a:p>
          <a:p>
            <a:pPr indent="0" lvl="0" marL="0" rtl="0" algn="l">
              <a:spcBef>
                <a:spcPts val="1000"/>
              </a:spcBef>
              <a:spcAft>
                <a:spcPts val="0"/>
              </a:spcAft>
              <a:buNone/>
            </a:pPr>
            <a:r>
              <a:rPr b="1" lang="en">
                <a:solidFill>
                  <a:schemeClr val="dk1"/>
                </a:solidFill>
                <a:latin typeface="DM Sans"/>
                <a:ea typeface="DM Sans"/>
                <a:cs typeface="DM Sans"/>
                <a:sym typeface="DM Sans"/>
              </a:rPr>
              <a:t>DATE()</a:t>
            </a:r>
            <a:r>
              <a:rPr lang="en">
                <a:solidFill>
                  <a:schemeClr val="dk1"/>
                </a:solidFill>
                <a:latin typeface="DM Sans"/>
                <a:ea typeface="DM Sans"/>
                <a:cs typeface="DM Sans"/>
                <a:sym typeface="DM Sans"/>
              </a:rPr>
              <a:t> – Creates a date using year, month, and day</a:t>
            </a:r>
            <a:endParaRPr>
              <a:solidFill>
                <a:schemeClr val="dk1"/>
              </a:solidFill>
              <a:latin typeface="DM Sans"/>
              <a:ea typeface="DM Sans"/>
              <a:cs typeface="DM Sans"/>
              <a:sym typeface="DM Sans"/>
            </a:endParaRPr>
          </a:p>
          <a:p>
            <a:pPr indent="0" lvl="0" marL="0" rtl="0" algn="l">
              <a:spcBef>
                <a:spcPts val="1000"/>
              </a:spcBef>
              <a:spcAft>
                <a:spcPts val="0"/>
              </a:spcAft>
              <a:buNone/>
            </a:pPr>
            <a:r>
              <a:rPr b="1" lang="en">
                <a:solidFill>
                  <a:schemeClr val="dk1"/>
                </a:solidFill>
                <a:latin typeface="DM Sans"/>
                <a:ea typeface="DM Sans"/>
                <a:cs typeface="DM Sans"/>
                <a:sym typeface="DM Sans"/>
              </a:rPr>
              <a:t>DATEDIF()</a:t>
            </a:r>
            <a:r>
              <a:rPr lang="en">
                <a:solidFill>
                  <a:schemeClr val="dk1"/>
                </a:solidFill>
                <a:latin typeface="DM Sans"/>
                <a:ea typeface="DM Sans"/>
                <a:cs typeface="DM Sans"/>
                <a:sym typeface="DM Sans"/>
              </a:rPr>
              <a:t> – Calculates the difference between two dates </a:t>
            </a:r>
            <a:endParaRPr>
              <a:latin typeface="DM Sans"/>
              <a:ea typeface="DM Sans"/>
              <a:cs typeface="DM Sans"/>
              <a:sym typeface="DM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1"/>
          <p:cNvSpPr txBox="1"/>
          <p:nvPr>
            <p:ph type="title"/>
          </p:nvPr>
        </p:nvSpPr>
        <p:spPr>
          <a:xfrm>
            <a:off x="489500" y="459725"/>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Understanding TODAY() and NOW()</a:t>
            </a:r>
            <a:endParaRPr b="1" sz="2500">
              <a:latin typeface="DM Sans"/>
              <a:ea typeface="DM Sans"/>
              <a:cs typeface="DM Sans"/>
              <a:sym typeface="DM Sans"/>
            </a:endParaRPr>
          </a:p>
        </p:txBody>
      </p:sp>
      <p:sp>
        <p:nvSpPr>
          <p:cNvPr id="251" name="Google Shape;251;p41"/>
          <p:cNvSpPr txBox="1"/>
          <p:nvPr/>
        </p:nvSpPr>
        <p:spPr>
          <a:xfrm>
            <a:off x="336550" y="1546225"/>
            <a:ext cx="5504400" cy="281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400"/>
              </a:spcBef>
              <a:spcAft>
                <a:spcPts val="0"/>
              </a:spcAft>
              <a:buNone/>
            </a:pPr>
            <a:r>
              <a:rPr b="1" lang="en">
                <a:latin typeface="Montserrat"/>
                <a:ea typeface="Montserrat"/>
                <a:cs typeface="Montserrat"/>
                <a:sym typeface="Montserrat"/>
              </a:rPr>
              <a:t>1. Definition</a:t>
            </a:r>
            <a:endParaRPr b="1">
              <a:latin typeface="DM Sans"/>
              <a:ea typeface="DM Sans"/>
              <a:cs typeface="DM Sans"/>
              <a:sym typeface="DM Sans"/>
            </a:endParaRPr>
          </a:p>
          <a:p>
            <a:pPr indent="-317500" lvl="0" marL="457200" rtl="0" algn="l">
              <a:lnSpc>
                <a:spcPct val="150000"/>
              </a:lnSpc>
              <a:spcBef>
                <a:spcPts val="1200"/>
              </a:spcBef>
              <a:spcAft>
                <a:spcPts val="0"/>
              </a:spcAft>
              <a:buSzPts val="1400"/>
              <a:buChar char="●"/>
            </a:pPr>
            <a:r>
              <a:rPr b="1" lang="en">
                <a:latin typeface="Montserrat"/>
                <a:ea typeface="Montserrat"/>
                <a:cs typeface="Montserrat"/>
                <a:sym typeface="Montserrat"/>
              </a:rPr>
              <a:t>TODAY()</a:t>
            </a:r>
            <a:r>
              <a:rPr lang="en">
                <a:latin typeface="Montserrat"/>
                <a:ea typeface="Montserrat"/>
                <a:cs typeface="Montserrat"/>
                <a:sym typeface="Montserrat"/>
              </a:rPr>
              <a:t>: Returns the current date without the time component. It updates automatically to reflect the current system date whenever the worksheet is recalculated.</a:t>
            </a:r>
            <a:endParaRPr>
              <a:latin typeface="Montserrat"/>
              <a:ea typeface="Montserrat"/>
              <a:cs typeface="Montserrat"/>
              <a:sym typeface="Montserrat"/>
            </a:endParaRPr>
          </a:p>
          <a:p>
            <a:pPr indent="-317500" lvl="0" marL="457200" rtl="0" algn="l">
              <a:lnSpc>
                <a:spcPct val="150000"/>
              </a:lnSpc>
              <a:spcBef>
                <a:spcPts val="0"/>
              </a:spcBef>
              <a:spcAft>
                <a:spcPts val="0"/>
              </a:spcAft>
              <a:buSzPts val="1400"/>
              <a:buChar char="●"/>
            </a:pPr>
            <a:r>
              <a:rPr b="1" lang="en">
                <a:latin typeface="Montserrat"/>
                <a:ea typeface="Montserrat"/>
                <a:cs typeface="Montserrat"/>
                <a:sym typeface="Montserrat"/>
              </a:rPr>
              <a:t>NOW()</a:t>
            </a:r>
            <a:r>
              <a:rPr lang="en">
                <a:latin typeface="Montserrat"/>
                <a:ea typeface="Montserrat"/>
                <a:cs typeface="Montserrat"/>
                <a:sym typeface="Montserrat"/>
              </a:rPr>
              <a:t>: Returns the current date and time. Like TODAY(), it updates dynamically but includes the time component, accurate to the second.</a:t>
            </a:r>
            <a:endParaRPr b="1">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type="title"/>
          </p:nvPr>
        </p:nvSpPr>
        <p:spPr>
          <a:xfrm>
            <a:off x="489500" y="459725"/>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Understanding TODAY() and NOW()</a:t>
            </a:r>
            <a:endParaRPr b="1" sz="2500">
              <a:latin typeface="DM Sans"/>
              <a:ea typeface="DM Sans"/>
              <a:cs typeface="DM Sans"/>
              <a:sym typeface="DM Sans"/>
            </a:endParaRPr>
          </a:p>
        </p:txBody>
      </p:sp>
      <p:sp>
        <p:nvSpPr>
          <p:cNvPr id="257" name="Google Shape;257;p42"/>
          <p:cNvSpPr txBox="1"/>
          <p:nvPr/>
        </p:nvSpPr>
        <p:spPr>
          <a:xfrm>
            <a:off x="336550" y="1546225"/>
            <a:ext cx="6646200" cy="277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DM Sans"/>
                <a:ea typeface="DM Sans"/>
                <a:cs typeface="DM Sans"/>
                <a:sym typeface="DM Sans"/>
              </a:rPr>
              <a:t>2. Syntax</a:t>
            </a:r>
            <a:endParaRPr b="1">
              <a:latin typeface="DM Sans"/>
              <a:ea typeface="DM Sans"/>
              <a:cs typeface="DM Sans"/>
              <a:sym typeface="DM Sans"/>
            </a:endParaRPr>
          </a:p>
          <a:p>
            <a:pPr indent="0" lvl="0" marL="0" rtl="0" algn="l">
              <a:lnSpc>
                <a:spcPct val="115000"/>
              </a:lnSpc>
              <a:spcBef>
                <a:spcPts val="1200"/>
              </a:spcBef>
              <a:spcAft>
                <a:spcPts val="0"/>
              </a:spcAft>
              <a:buNone/>
            </a:pPr>
            <a:r>
              <a:rPr lang="en">
                <a:latin typeface="DM Sans"/>
                <a:ea typeface="DM Sans"/>
                <a:cs typeface="DM Sans"/>
                <a:sym typeface="DM Sans"/>
              </a:rPr>
              <a:t>Both functions are straightforward and do not take any arguments:</a:t>
            </a:r>
            <a:endParaRPr>
              <a:latin typeface="DM Sans"/>
              <a:ea typeface="DM Sans"/>
              <a:cs typeface="DM Sans"/>
              <a:sym typeface="DM Sans"/>
            </a:endParaRPr>
          </a:p>
          <a:p>
            <a:pPr indent="-317500" lvl="0" marL="457200" rtl="0" algn="l">
              <a:lnSpc>
                <a:spcPct val="115000"/>
              </a:lnSpc>
              <a:spcBef>
                <a:spcPts val="1200"/>
              </a:spcBef>
              <a:spcAft>
                <a:spcPts val="0"/>
              </a:spcAft>
              <a:buSzPts val="1400"/>
              <a:buFont typeface="DM Sans"/>
              <a:buChar char="●"/>
            </a:pPr>
            <a:r>
              <a:rPr b="1" lang="en">
                <a:solidFill>
                  <a:srgbClr val="188038"/>
                </a:solidFill>
                <a:latin typeface="DM Sans"/>
                <a:ea typeface="DM Sans"/>
                <a:cs typeface="DM Sans"/>
                <a:sym typeface="DM Sans"/>
              </a:rPr>
              <a:t>=TODAY()</a:t>
            </a:r>
            <a:endParaRPr b="1">
              <a:solidFill>
                <a:srgbClr val="188038"/>
              </a:solidFill>
              <a:latin typeface="DM Sans"/>
              <a:ea typeface="DM Sans"/>
              <a:cs typeface="DM Sans"/>
              <a:sym typeface="DM Sans"/>
            </a:endParaRPr>
          </a:p>
          <a:p>
            <a:pPr indent="-317500" lvl="0" marL="457200" rtl="0" algn="l">
              <a:lnSpc>
                <a:spcPct val="115000"/>
              </a:lnSpc>
              <a:spcBef>
                <a:spcPts val="0"/>
              </a:spcBef>
              <a:spcAft>
                <a:spcPts val="0"/>
              </a:spcAft>
              <a:buSzPts val="1400"/>
              <a:buFont typeface="DM Sans"/>
              <a:buChar char="●"/>
            </a:pPr>
            <a:r>
              <a:rPr b="1" lang="en">
                <a:solidFill>
                  <a:srgbClr val="188038"/>
                </a:solidFill>
                <a:latin typeface="DM Sans"/>
                <a:ea typeface="DM Sans"/>
                <a:cs typeface="DM Sans"/>
                <a:sym typeface="DM Sans"/>
              </a:rPr>
              <a:t>=NOW()</a:t>
            </a:r>
            <a:endParaRPr b="1">
              <a:solidFill>
                <a:srgbClr val="188038"/>
              </a:solidFill>
              <a:latin typeface="DM Sans"/>
              <a:ea typeface="DM Sans"/>
              <a:cs typeface="DM Sans"/>
              <a:sym typeface="DM Sans"/>
            </a:endParaRPr>
          </a:p>
          <a:p>
            <a:pPr indent="0" lvl="0" marL="0" rtl="0" algn="l">
              <a:lnSpc>
                <a:spcPct val="115000"/>
              </a:lnSpc>
              <a:spcBef>
                <a:spcPts val="1400"/>
              </a:spcBef>
              <a:spcAft>
                <a:spcPts val="0"/>
              </a:spcAft>
              <a:buNone/>
            </a:pPr>
            <a:r>
              <a:rPr b="1" lang="en">
                <a:latin typeface="DM Sans"/>
                <a:ea typeface="DM Sans"/>
                <a:cs typeface="DM Sans"/>
                <a:sym typeface="DM Sans"/>
              </a:rPr>
              <a:t>3. Behavior</a:t>
            </a:r>
            <a:endParaRPr b="1">
              <a:latin typeface="DM Sans"/>
              <a:ea typeface="DM Sans"/>
              <a:cs typeface="DM Sans"/>
              <a:sym typeface="DM Sans"/>
            </a:endParaRPr>
          </a:p>
          <a:p>
            <a:pPr indent="-317500" lvl="0" marL="457200" rtl="0" algn="l">
              <a:lnSpc>
                <a:spcPct val="115000"/>
              </a:lnSpc>
              <a:spcBef>
                <a:spcPts val="1200"/>
              </a:spcBef>
              <a:spcAft>
                <a:spcPts val="0"/>
              </a:spcAft>
              <a:buSzPts val="1400"/>
              <a:buFont typeface="DM Sans"/>
              <a:buChar char="●"/>
            </a:pPr>
            <a:r>
              <a:rPr lang="en">
                <a:latin typeface="DM Sans"/>
                <a:ea typeface="DM Sans"/>
                <a:cs typeface="DM Sans"/>
                <a:sym typeface="DM Sans"/>
              </a:rPr>
              <a:t>Both functions rely on the system clock of your computer.</a:t>
            </a:r>
            <a:endParaRPr>
              <a:latin typeface="DM Sans"/>
              <a:ea typeface="DM Sans"/>
              <a:cs typeface="DM Sans"/>
              <a:sym typeface="DM Sans"/>
            </a:endParaRPr>
          </a:p>
          <a:p>
            <a:pPr indent="-317500" lvl="0" marL="457200" rtl="0" algn="l">
              <a:lnSpc>
                <a:spcPct val="115000"/>
              </a:lnSpc>
              <a:spcBef>
                <a:spcPts val="0"/>
              </a:spcBef>
              <a:spcAft>
                <a:spcPts val="0"/>
              </a:spcAft>
              <a:buSzPts val="1400"/>
              <a:buFont typeface="DM Sans"/>
              <a:buChar char="●"/>
            </a:pPr>
            <a:r>
              <a:rPr lang="en">
                <a:latin typeface="DM Sans"/>
                <a:ea typeface="DM Sans"/>
                <a:cs typeface="DM Sans"/>
                <a:sym typeface="DM Sans"/>
              </a:rPr>
              <a:t>They automatically recalculate when the worksheet is opened or recalculated manually or by another formula.</a:t>
            </a:r>
            <a:endParaRPr b="1">
              <a:latin typeface="DM Sans"/>
              <a:ea typeface="DM Sans"/>
              <a:cs typeface="DM Sans"/>
              <a:sym typeface="DM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3"/>
          <p:cNvSpPr txBox="1"/>
          <p:nvPr>
            <p:ph type="title"/>
          </p:nvPr>
        </p:nvSpPr>
        <p:spPr>
          <a:xfrm>
            <a:off x="489500" y="459725"/>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Practical Applications of TODAY()</a:t>
            </a:r>
            <a:endParaRPr b="1" sz="2500">
              <a:latin typeface="DM Sans"/>
              <a:ea typeface="DM Sans"/>
              <a:cs typeface="DM Sans"/>
              <a:sym typeface="DM Sans"/>
            </a:endParaRPr>
          </a:p>
        </p:txBody>
      </p:sp>
      <p:sp>
        <p:nvSpPr>
          <p:cNvPr id="263" name="Google Shape;263;p43"/>
          <p:cNvSpPr txBox="1"/>
          <p:nvPr/>
        </p:nvSpPr>
        <p:spPr>
          <a:xfrm>
            <a:off x="336550" y="1546225"/>
            <a:ext cx="4827900" cy="3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DM Sans"/>
                <a:ea typeface="DM Sans"/>
                <a:cs typeface="DM Sans"/>
                <a:sym typeface="DM Sans"/>
              </a:rPr>
              <a:t>1. Tracking Deadlines</a:t>
            </a:r>
            <a:endParaRPr b="1">
              <a:latin typeface="DM Sans"/>
              <a:ea typeface="DM Sans"/>
              <a:cs typeface="DM Sans"/>
              <a:sym typeface="DM Sans"/>
            </a:endParaRPr>
          </a:p>
          <a:p>
            <a:pPr indent="0" lvl="0" marL="0" rtl="0" algn="l">
              <a:lnSpc>
                <a:spcPct val="115000"/>
              </a:lnSpc>
              <a:spcBef>
                <a:spcPts val="1200"/>
              </a:spcBef>
              <a:spcAft>
                <a:spcPts val="0"/>
              </a:spcAft>
              <a:buNone/>
            </a:pPr>
            <a:r>
              <a:rPr lang="en">
                <a:latin typeface="DM Sans"/>
                <a:ea typeface="DM Sans"/>
                <a:cs typeface="DM Sans"/>
                <a:sym typeface="DM Sans"/>
              </a:rPr>
              <a:t>Let’s say you’re managing a project and need to track deadlines relative to the current date.</a:t>
            </a:r>
            <a:endParaRPr b="1">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Example:</a:t>
            </a:r>
            <a:endParaRPr b="1">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Formula: </a:t>
            </a:r>
            <a:r>
              <a:rPr b="1" lang="en">
                <a:solidFill>
                  <a:srgbClr val="188038"/>
                </a:solidFill>
                <a:latin typeface="DM Sans"/>
                <a:ea typeface="DM Sans"/>
                <a:cs typeface="DM Sans"/>
                <a:sym typeface="DM Sans"/>
              </a:rPr>
              <a:t>=B2-TODAY()</a:t>
            </a:r>
            <a:endParaRPr b="1">
              <a:solidFill>
                <a:srgbClr val="188038"/>
              </a:solidFill>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Explanation:</a:t>
            </a:r>
            <a:r>
              <a:rPr lang="en">
                <a:latin typeface="DM Sans"/>
                <a:ea typeface="DM Sans"/>
                <a:cs typeface="DM Sans"/>
                <a:sym typeface="DM Sans"/>
              </a:rPr>
              <a:t> This subtracts the current date (returned by TODAY()) from the due date to calculate the number of days remaining.</a:t>
            </a:r>
            <a:endParaRPr>
              <a:latin typeface="DM Sans"/>
              <a:ea typeface="DM Sans"/>
              <a:cs typeface="DM Sans"/>
              <a:sym typeface="DM Sans"/>
            </a:endParaRPr>
          </a:p>
          <a:p>
            <a:pPr indent="0" lvl="0" marL="0" rtl="0" algn="l">
              <a:lnSpc>
                <a:spcPct val="115000"/>
              </a:lnSpc>
              <a:spcBef>
                <a:spcPts val="1200"/>
              </a:spcBef>
              <a:spcAft>
                <a:spcPts val="0"/>
              </a:spcAft>
              <a:buNone/>
            </a:pPr>
            <a:r>
              <a:t/>
            </a:r>
            <a:endParaRPr b="1">
              <a:latin typeface="DM Sans"/>
              <a:ea typeface="DM Sans"/>
              <a:cs typeface="DM Sans"/>
              <a:sym typeface="DM Sans"/>
            </a:endParaRPr>
          </a:p>
          <a:p>
            <a:pPr indent="0" lvl="0" marL="0" rtl="0" algn="l">
              <a:lnSpc>
                <a:spcPct val="115000"/>
              </a:lnSpc>
              <a:spcBef>
                <a:spcPts val="1200"/>
              </a:spcBef>
              <a:spcAft>
                <a:spcPts val="200"/>
              </a:spcAft>
              <a:buNone/>
            </a:pPr>
            <a:r>
              <a:t/>
            </a:r>
            <a:endParaRPr b="1">
              <a:latin typeface="DM Sans"/>
              <a:ea typeface="DM Sans"/>
              <a:cs typeface="DM Sans"/>
              <a:sym typeface="DM Sans"/>
            </a:endParaRPr>
          </a:p>
        </p:txBody>
      </p:sp>
      <p:pic>
        <p:nvPicPr>
          <p:cNvPr id="264" name="Google Shape;264;p43"/>
          <p:cNvPicPr preferRelativeResize="0"/>
          <p:nvPr/>
        </p:nvPicPr>
        <p:blipFill>
          <a:blip r:embed="rId3">
            <a:alphaModFix/>
          </a:blip>
          <a:stretch>
            <a:fillRect/>
          </a:stretch>
        </p:blipFill>
        <p:spPr>
          <a:xfrm>
            <a:off x="5236950" y="1986775"/>
            <a:ext cx="3674825" cy="16687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4"/>
          <p:cNvSpPr txBox="1"/>
          <p:nvPr>
            <p:ph type="title"/>
          </p:nvPr>
        </p:nvSpPr>
        <p:spPr>
          <a:xfrm>
            <a:off x="489500" y="459725"/>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Practical Applications of TODAY()</a:t>
            </a:r>
            <a:endParaRPr b="1" sz="2500">
              <a:latin typeface="DM Sans"/>
              <a:ea typeface="DM Sans"/>
              <a:cs typeface="DM Sans"/>
              <a:sym typeface="DM Sans"/>
            </a:endParaRPr>
          </a:p>
        </p:txBody>
      </p:sp>
      <p:sp>
        <p:nvSpPr>
          <p:cNvPr id="270" name="Google Shape;270;p44"/>
          <p:cNvSpPr txBox="1"/>
          <p:nvPr/>
        </p:nvSpPr>
        <p:spPr>
          <a:xfrm>
            <a:off x="336550" y="1546225"/>
            <a:ext cx="5290800" cy="12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DM Sans"/>
                <a:ea typeface="DM Sans"/>
                <a:cs typeface="DM Sans"/>
                <a:sym typeface="DM Sans"/>
              </a:rPr>
              <a:t>2. Age Calculation</a:t>
            </a:r>
            <a:endParaRPr b="1">
              <a:latin typeface="DM Sans"/>
              <a:ea typeface="DM Sans"/>
              <a:cs typeface="DM Sans"/>
              <a:sym typeface="DM Sans"/>
            </a:endParaRPr>
          </a:p>
          <a:p>
            <a:pPr indent="0" lvl="0" marL="0" rtl="0" algn="l">
              <a:lnSpc>
                <a:spcPct val="115000"/>
              </a:lnSpc>
              <a:spcBef>
                <a:spcPts val="1200"/>
              </a:spcBef>
              <a:spcAft>
                <a:spcPts val="0"/>
              </a:spcAft>
              <a:buNone/>
            </a:pPr>
            <a:r>
              <a:rPr lang="en">
                <a:latin typeface="DM Sans"/>
                <a:ea typeface="DM Sans"/>
                <a:cs typeface="DM Sans"/>
                <a:sym typeface="DM Sans"/>
              </a:rPr>
              <a:t>To calculate someone’s age based on their birthdate:</a:t>
            </a:r>
            <a:endParaRPr>
              <a:latin typeface="DM Sans"/>
              <a:ea typeface="DM Sans"/>
              <a:cs typeface="DM Sans"/>
              <a:sym typeface="DM Sans"/>
            </a:endParaRPr>
          </a:p>
          <a:p>
            <a:pPr indent="0" lvl="0" marL="0" rtl="0" algn="l">
              <a:lnSpc>
                <a:spcPct val="115000"/>
              </a:lnSpc>
              <a:spcBef>
                <a:spcPts val="1200"/>
              </a:spcBef>
              <a:spcAft>
                <a:spcPts val="200"/>
              </a:spcAft>
              <a:buNone/>
            </a:pPr>
            <a:r>
              <a:rPr b="1" lang="en">
                <a:latin typeface="DM Sans"/>
                <a:ea typeface="DM Sans"/>
                <a:cs typeface="DM Sans"/>
                <a:sym typeface="DM Sans"/>
              </a:rPr>
              <a:t>Example:</a:t>
            </a:r>
            <a:endParaRPr b="1">
              <a:latin typeface="DM Sans"/>
              <a:ea typeface="DM Sans"/>
              <a:cs typeface="DM Sans"/>
              <a:sym typeface="DM Sans"/>
            </a:endParaRPr>
          </a:p>
        </p:txBody>
      </p:sp>
      <p:pic>
        <p:nvPicPr>
          <p:cNvPr id="271" name="Google Shape;271;p44"/>
          <p:cNvPicPr preferRelativeResize="0"/>
          <p:nvPr/>
        </p:nvPicPr>
        <p:blipFill>
          <a:blip r:embed="rId3">
            <a:alphaModFix/>
          </a:blip>
          <a:stretch>
            <a:fillRect/>
          </a:stretch>
        </p:blipFill>
        <p:spPr>
          <a:xfrm>
            <a:off x="565700" y="2807700"/>
            <a:ext cx="5943600" cy="1104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489500" y="459725"/>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Practical Applications of TODAY()</a:t>
            </a:r>
            <a:endParaRPr b="1" sz="2500">
              <a:latin typeface="DM Sans"/>
              <a:ea typeface="DM Sans"/>
              <a:cs typeface="DM Sans"/>
              <a:sym typeface="DM Sans"/>
            </a:endParaRPr>
          </a:p>
        </p:txBody>
      </p:sp>
      <p:sp>
        <p:nvSpPr>
          <p:cNvPr id="277" name="Google Shape;277;p45"/>
          <p:cNvSpPr txBox="1"/>
          <p:nvPr/>
        </p:nvSpPr>
        <p:spPr>
          <a:xfrm>
            <a:off x="336550" y="1546225"/>
            <a:ext cx="6042900" cy="15453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rgbClr val="666666"/>
                </a:solidFill>
                <a:latin typeface="Montserrat"/>
                <a:ea typeface="Montserrat"/>
                <a:cs typeface="Montserrat"/>
                <a:sym typeface="Montserrat"/>
              </a:rPr>
              <a:t>Formula: </a:t>
            </a:r>
            <a:r>
              <a:rPr b="1" lang="en">
                <a:solidFill>
                  <a:srgbClr val="188038"/>
                </a:solidFill>
                <a:latin typeface="Roboto Mono"/>
                <a:ea typeface="Roboto Mono"/>
                <a:cs typeface="Roboto Mono"/>
                <a:sym typeface="Roboto Mono"/>
              </a:rPr>
              <a:t>=YEAR(TODAY())-YEAR(B2)-IF(DATE(YEAR(TODAY()),MONTH(B2),DAY(B2))&gt;TODAY(),1,0)</a:t>
            </a:r>
            <a:endParaRPr b="1">
              <a:solidFill>
                <a:srgbClr val="188038"/>
              </a:solidFill>
              <a:latin typeface="Roboto Mono"/>
              <a:ea typeface="Roboto Mono"/>
              <a:cs typeface="Roboto Mono"/>
              <a:sym typeface="Roboto Mono"/>
            </a:endParaRPr>
          </a:p>
          <a:p>
            <a:pPr indent="-317500" lvl="0" marL="457200" rtl="0" algn="l">
              <a:lnSpc>
                <a:spcPct val="115000"/>
              </a:lnSpc>
              <a:spcBef>
                <a:spcPts val="1200"/>
              </a:spcBef>
              <a:spcAft>
                <a:spcPts val="0"/>
              </a:spcAft>
              <a:buSzPts val="1400"/>
              <a:buFont typeface="Montserrat"/>
              <a:buChar char="●"/>
            </a:pPr>
            <a:r>
              <a:rPr b="1" lang="en">
                <a:latin typeface="Montserrat"/>
                <a:ea typeface="Montserrat"/>
                <a:cs typeface="Montserrat"/>
                <a:sym typeface="Montserrat"/>
              </a:rPr>
              <a:t>Explanation:</a:t>
            </a:r>
            <a:r>
              <a:rPr lang="en">
                <a:latin typeface="Montserrat"/>
                <a:ea typeface="Montserrat"/>
                <a:cs typeface="Montserrat"/>
                <a:sym typeface="Montserrat"/>
              </a:rPr>
              <a:t> This calculates the difference in years and adjusts if the birthday hasn’t occurred yet this year.</a:t>
            </a:r>
            <a:endParaRPr b="1">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6"/>
          <p:cNvSpPr txBox="1"/>
          <p:nvPr>
            <p:ph type="title"/>
          </p:nvPr>
        </p:nvSpPr>
        <p:spPr>
          <a:xfrm>
            <a:off x="489500" y="459725"/>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t>Practical Applications of NOW()</a:t>
            </a:r>
            <a:endParaRPr b="1" sz="2500"/>
          </a:p>
        </p:txBody>
      </p:sp>
      <p:sp>
        <p:nvSpPr>
          <p:cNvPr id="283" name="Google Shape;283;p46"/>
          <p:cNvSpPr txBox="1"/>
          <p:nvPr/>
        </p:nvSpPr>
        <p:spPr>
          <a:xfrm>
            <a:off x="488950" y="1539000"/>
            <a:ext cx="4442100" cy="3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Montserrat"/>
                <a:ea typeface="Montserrat"/>
                <a:cs typeface="Montserrat"/>
                <a:sym typeface="Montserrat"/>
              </a:rPr>
              <a:t>1. Timestamp for Data Entry</a:t>
            </a:r>
            <a:endParaRPr b="1">
              <a:latin typeface="Montserrat"/>
              <a:ea typeface="Montserrat"/>
              <a:cs typeface="Montserrat"/>
              <a:sym typeface="Montserrat"/>
            </a:endParaRPr>
          </a:p>
          <a:p>
            <a:pPr indent="0" lvl="0" marL="0" rtl="0" algn="l">
              <a:lnSpc>
                <a:spcPct val="115000"/>
              </a:lnSpc>
              <a:spcBef>
                <a:spcPts val="1200"/>
              </a:spcBef>
              <a:spcAft>
                <a:spcPts val="0"/>
              </a:spcAft>
              <a:buNone/>
            </a:pPr>
            <a:r>
              <a:rPr lang="en">
                <a:latin typeface="Montserrat"/>
                <a:ea typeface="Montserrat"/>
                <a:cs typeface="Montserrat"/>
                <a:sym typeface="Montserrat"/>
              </a:rPr>
              <a:t>To record the exact date and time when data is entered:</a:t>
            </a:r>
            <a:endParaRPr>
              <a:latin typeface="Montserrat"/>
              <a:ea typeface="Montserrat"/>
              <a:cs typeface="Montserrat"/>
              <a:sym typeface="Montserrat"/>
            </a:endParaRPr>
          </a:p>
          <a:p>
            <a:pPr indent="0" lvl="0" marL="0" rtl="0" algn="l">
              <a:lnSpc>
                <a:spcPct val="115000"/>
              </a:lnSpc>
              <a:spcBef>
                <a:spcPts val="1200"/>
              </a:spcBef>
              <a:spcAft>
                <a:spcPts val="0"/>
              </a:spcAft>
              <a:buNone/>
            </a:pPr>
            <a:r>
              <a:rPr b="1" lang="en">
                <a:latin typeface="Montserrat"/>
                <a:ea typeface="Montserrat"/>
                <a:cs typeface="Montserrat"/>
                <a:sym typeface="Montserrat"/>
              </a:rPr>
              <a:t>Example:</a:t>
            </a:r>
            <a:endParaRPr b="1">
              <a:latin typeface="Montserrat"/>
              <a:ea typeface="Montserrat"/>
              <a:cs typeface="Montserrat"/>
              <a:sym typeface="Montserrat"/>
            </a:endParaRPr>
          </a:p>
          <a:p>
            <a:pPr indent="0" lvl="0" marL="0" rtl="0" algn="l">
              <a:lnSpc>
                <a:spcPct val="115000"/>
              </a:lnSpc>
              <a:spcBef>
                <a:spcPts val="1200"/>
              </a:spcBef>
              <a:spcAft>
                <a:spcPts val="0"/>
              </a:spcAft>
              <a:buNone/>
            </a:pPr>
            <a:r>
              <a:rPr b="1" lang="en">
                <a:latin typeface="Montserrat"/>
                <a:ea typeface="Montserrat"/>
                <a:cs typeface="Montserrat"/>
                <a:sym typeface="Montserrat"/>
              </a:rPr>
              <a:t>Formula:</a:t>
            </a:r>
            <a:r>
              <a:rPr lang="en">
                <a:latin typeface="Montserrat"/>
                <a:ea typeface="Montserrat"/>
                <a:cs typeface="Montserrat"/>
                <a:sym typeface="Montserrat"/>
              </a:rPr>
              <a:t> </a:t>
            </a:r>
            <a:r>
              <a:rPr b="1" lang="en">
                <a:solidFill>
                  <a:srgbClr val="188038"/>
                </a:solidFill>
                <a:latin typeface="Roboto Mono"/>
                <a:ea typeface="Roboto Mono"/>
                <a:cs typeface="Roboto Mono"/>
                <a:sym typeface="Roboto Mono"/>
              </a:rPr>
              <a:t>=NOW()</a:t>
            </a:r>
            <a:endParaRPr b="1">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b="1" lang="en">
                <a:latin typeface="Montserrat"/>
                <a:ea typeface="Montserrat"/>
                <a:cs typeface="Montserrat"/>
                <a:sym typeface="Montserrat"/>
              </a:rPr>
              <a:t>Explanation:</a:t>
            </a:r>
            <a:r>
              <a:rPr lang="en">
                <a:latin typeface="Montserrat"/>
                <a:ea typeface="Montserrat"/>
                <a:cs typeface="Montserrat"/>
                <a:sym typeface="Montserrat"/>
              </a:rPr>
              <a:t> Every time you enter a new row, the current date and time are recorded dynamically.</a:t>
            </a:r>
            <a:endParaRPr>
              <a:latin typeface="Montserrat"/>
              <a:ea typeface="Montserrat"/>
              <a:cs typeface="Montserrat"/>
              <a:sym typeface="Montserrat"/>
            </a:endParaRPr>
          </a:p>
          <a:p>
            <a:pPr indent="0" lvl="0" marL="0" rtl="0" algn="l">
              <a:lnSpc>
                <a:spcPct val="115000"/>
              </a:lnSpc>
              <a:spcBef>
                <a:spcPts val="1200"/>
              </a:spcBef>
              <a:spcAft>
                <a:spcPts val="0"/>
              </a:spcAft>
              <a:buNone/>
            </a:pPr>
            <a:r>
              <a:t/>
            </a:r>
            <a:endParaRPr b="1">
              <a:latin typeface="Montserrat"/>
              <a:ea typeface="Montserrat"/>
              <a:cs typeface="Montserrat"/>
              <a:sym typeface="Montserrat"/>
            </a:endParaRPr>
          </a:p>
          <a:p>
            <a:pPr indent="0" lvl="0" marL="0" rtl="0" algn="l">
              <a:lnSpc>
                <a:spcPct val="115000"/>
              </a:lnSpc>
              <a:spcBef>
                <a:spcPts val="1200"/>
              </a:spcBef>
              <a:spcAft>
                <a:spcPts val="200"/>
              </a:spcAft>
              <a:buNone/>
            </a:pPr>
            <a:r>
              <a:t/>
            </a:r>
            <a:endParaRPr b="1">
              <a:latin typeface="Montserrat"/>
              <a:ea typeface="Montserrat"/>
              <a:cs typeface="Montserrat"/>
              <a:sym typeface="Montserrat"/>
            </a:endParaRPr>
          </a:p>
        </p:txBody>
      </p:sp>
      <p:pic>
        <p:nvPicPr>
          <p:cNvPr id="284" name="Google Shape;284;p46"/>
          <p:cNvPicPr preferRelativeResize="0"/>
          <p:nvPr/>
        </p:nvPicPr>
        <p:blipFill>
          <a:blip r:embed="rId3">
            <a:alphaModFix/>
          </a:blip>
          <a:stretch>
            <a:fillRect/>
          </a:stretch>
        </p:blipFill>
        <p:spPr>
          <a:xfrm>
            <a:off x="5159175" y="2187980"/>
            <a:ext cx="3690001" cy="146062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7"/>
          <p:cNvSpPr txBox="1"/>
          <p:nvPr>
            <p:ph type="title"/>
          </p:nvPr>
        </p:nvSpPr>
        <p:spPr>
          <a:xfrm>
            <a:off x="489500" y="459725"/>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t>Practical Applications of NOW()</a:t>
            </a:r>
            <a:endParaRPr b="1" sz="2500"/>
          </a:p>
        </p:txBody>
      </p:sp>
      <p:sp>
        <p:nvSpPr>
          <p:cNvPr id="290" name="Google Shape;290;p47"/>
          <p:cNvSpPr txBox="1"/>
          <p:nvPr/>
        </p:nvSpPr>
        <p:spPr>
          <a:xfrm>
            <a:off x="489500" y="1382500"/>
            <a:ext cx="5987700" cy="14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DM Sans"/>
                <a:ea typeface="DM Sans"/>
                <a:cs typeface="DM Sans"/>
                <a:sym typeface="DM Sans"/>
              </a:rPr>
              <a:t>2. Calculate Time Differences</a:t>
            </a:r>
            <a:endParaRPr b="1">
              <a:latin typeface="DM Sans"/>
              <a:ea typeface="DM Sans"/>
              <a:cs typeface="DM Sans"/>
              <a:sym typeface="DM Sans"/>
            </a:endParaRPr>
          </a:p>
          <a:p>
            <a:pPr indent="0" lvl="0" marL="0" rtl="0" algn="l">
              <a:lnSpc>
                <a:spcPct val="115000"/>
              </a:lnSpc>
              <a:spcBef>
                <a:spcPts val="1200"/>
              </a:spcBef>
              <a:spcAft>
                <a:spcPts val="0"/>
              </a:spcAft>
              <a:buNone/>
            </a:pPr>
            <a:r>
              <a:rPr lang="en">
                <a:latin typeface="DM Sans"/>
                <a:ea typeface="DM Sans"/>
                <a:cs typeface="DM Sans"/>
                <a:sym typeface="DM Sans"/>
              </a:rPr>
              <a:t>For time-sensitive operations, calculate the elapsed time between two events.</a:t>
            </a:r>
            <a:endParaRPr>
              <a:latin typeface="DM Sans"/>
              <a:ea typeface="DM Sans"/>
              <a:cs typeface="DM Sans"/>
              <a:sym typeface="DM Sans"/>
            </a:endParaRPr>
          </a:p>
          <a:p>
            <a:pPr indent="0" lvl="0" marL="0" rtl="0" algn="l">
              <a:lnSpc>
                <a:spcPct val="115000"/>
              </a:lnSpc>
              <a:spcBef>
                <a:spcPts val="1200"/>
              </a:spcBef>
              <a:spcAft>
                <a:spcPts val="200"/>
              </a:spcAft>
              <a:buNone/>
            </a:pPr>
            <a:r>
              <a:rPr b="1" lang="en">
                <a:latin typeface="DM Sans"/>
                <a:ea typeface="DM Sans"/>
                <a:cs typeface="DM Sans"/>
                <a:sym typeface="DM Sans"/>
              </a:rPr>
              <a:t>Example:</a:t>
            </a:r>
            <a:endParaRPr b="1">
              <a:latin typeface="DM Sans"/>
              <a:ea typeface="DM Sans"/>
              <a:cs typeface="DM Sans"/>
              <a:sym typeface="DM Sans"/>
            </a:endParaRPr>
          </a:p>
        </p:txBody>
      </p:sp>
      <p:pic>
        <p:nvPicPr>
          <p:cNvPr id="291" name="Google Shape;291;p47"/>
          <p:cNvPicPr preferRelativeResize="0"/>
          <p:nvPr/>
        </p:nvPicPr>
        <p:blipFill>
          <a:blip r:embed="rId3">
            <a:alphaModFix/>
          </a:blip>
          <a:stretch>
            <a:fillRect/>
          </a:stretch>
        </p:blipFill>
        <p:spPr>
          <a:xfrm>
            <a:off x="565700" y="2833900"/>
            <a:ext cx="5033750" cy="1032575"/>
          </a:xfrm>
          <a:prstGeom prst="rect">
            <a:avLst/>
          </a:prstGeom>
          <a:noFill/>
          <a:ln>
            <a:noFill/>
          </a:ln>
        </p:spPr>
      </p:pic>
      <p:sp>
        <p:nvSpPr>
          <p:cNvPr id="292" name="Google Shape;292;p47"/>
          <p:cNvSpPr txBox="1"/>
          <p:nvPr/>
        </p:nvSpPr>
        <p:spPr>
          <a:xfrm>
            <a:off x="532500" y="4036575"/>
            <a:ext cx="80790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rgbClr val="666666"/>
                </a:solidFill>
                <a:latin typeface="DM Sans"/>
                <a:ea typeface="DM Sans"/>
                <a:cs typeface="DM Sans"/>
                <a:sym typeface="DM Sans"/>
              </a:rPr>
              <a:t>Formula: </a:t>
            </a:r>
            <a:r>
              <a:rPr b="1" lang="en">
                <a:solidFill>
                  <a:srgbClr val="188038"/>
                </a:solidFill>
                <a:latin typeface="DM Sans"/>
                <a:ea typeface="DM Sans"/>
                <a:cs typeface="DM Sans"/>
                <a:sym typeface="DM Sans"/>
              </a:rPr>
              <a:t>=D2-C2</a:t>
            </a:r>
            <a:endParaRPr b="1">
              <a:solidFill>
                <a:srgbClr val="188038"/>
              </a:solidFill>
              <a:latin typeface="DM Sans"/>
              <a:ea typeface="DM Sans"/>
              <a:cs typeface="DM Sans"/>
              <a:sym typeface="DM Sans"/>
            </a:endParaRPr>
          </a:p>
          <a:p>
            <a:pPr indent="-317500" lvl="0" marL="457200" rtl="0" algn="l">
              <a:lnSpc>
                <a:spcPct val="115000"/>
              </a:lnSpc>
              <a:spcBef>
                <a:spcPts val="1200"/>
              </a:spcBef>
              <a:spcAft>
                <a:spcPts val="0"/>
              </a:spcAft>
              <a:buSzPts val="1400"/>
              <a:buFont typeface="DM Sans"/>
              <a:buChar char="●"/>
            </a:pPr>
            <a:r>
              <a:rPr lang="en">
                <a:latin typeface="DM Sans"/>
                <a:ea typeface="DM Sans"/>
                <a:cs typeface="DM Sans"/>
                <a:sym typeface="DM Sans"/>
              </a:rPr>
              <a:t>Explanation: Subtract the start time from the end time to determine the duration. </a:t>
            </a:r>
            <a:endParaRPr>
              <a:latin typeface="DM Sans"/>
              <a:ea typeface="DM Sans"/>
              <a:cs typeface="DM Sans"/>
              <a:sym typeface="DM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ph type="title"/>
          </p:nvPr>
        </p:nvSpPr>
        <p:spPr>
          <a:xfrm>
            <a:off x="489500" y="449292"/>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Key Notes</a:t>
            </a:r>
            <a:endParaRPr b="1" sz="2500">
              <a:latin typeface="DM Sans"/>
              <a:ea typeface="DM Sans"/>
              <a:cs typeface="DM Sans"/>
              <a:sym typeface="DM Sans"/>
            </a:endParaRPr>
          </a:p>
        </p:txBody>
      </p:sp>
      <p:sp>
        <p:nvSpPr>
          <p:cNvPr id="298" name="Google Shape;298;p48"/>
          <p:cNvSpPr txBox="1"/>
          <p:nvPr/>
        </p:nvSpPr>
        <p:spPr>
          <a:xfrm>
            <a:off x="326125" y="1337575"/>
            <a:ext cx="8373000" cy="29160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200"/>
              </a:spcBef>
              <a:spcAft>
                <a:spcPts val="0"/>
              </a:spcAft>
              <a:buSzPts val="1300"/>
              <a:buAutoNum type="arabicPeriod"/>
            </a:pPr>
            <a:r>
              <a:rPr b="1" lang="en" sz="1300">
                <a:latin typeface="DM Sans"/>
                <a:ea typeface="DM Sans"/>
                <a:cs typeface="DM Sans"/>
                <a:sym typeface="DM Sans"/>
              </a:rPr>
              <a:t>Formatting Matters</a:t>
            </a:r>
            <a:r>
              <a:rPr lang="en" sz="1300">
                <a:latin typeface="DM Sans"/>
                <a:ea typeface="DM Sans"/>
                <a:cs typeface="DM Sans"/>
                <a:sym typeface="DM Sans"/>
              </a:rPr>
              <a:t>:</a:t>
            </a:r>
            <a:br>
              <a:rPr lang="en" sz="1300">
                <a:latin typeface="DM Sans"/>
                <a:ea typeface="DM Sans"/>
                <a:cs typeface="DM Sans"/>
                <a:sym typeface="DM Sans"/>
              </a:rPr>
            </a:br>
            <a:endParaRPr sz="1300">
              <a:latin typeface="DM Sans"/>
              <a:ea typeface="DM Sans"/>
              <a:cs typeface="DM Sans"/>
              <a:sym typeface="DM Sans"/>
            </a:endParaRPr>
          </a:p>
          <a:p>
            <a:pPr indent="-311150" lvl="1" marL="914400" rtl="0" algn="l">
              <a:lnSpc>
                <a:spcPct val="115000"/>
              </a:lnSpc>
              <a:spcBef>
                <a:spcPts val="0"/>
              </a:spcBef>
              <a:spcAft>
                <a:spcPts val="0"/>
              </a:spcAft>
              <a:buSzPts val="1300"/>
              <a:buFont typeface="DM Sans"/>
              <a:buChar char="○"/>
            </a:pPr>
            <a:r>
              <a:rPr lang="en" sz="1300">
                <a:latin typeface="DM Sans"/>
                <a:ea typeface="DM Sans"/>
                <a:cs typeface="DM Sans"/>
                <a:sym typeface="DM Sans"/>
              </a:rPr>
              <a:t>Ensure cells using TODAY() or NOW() are formatted correctly (“Date” for TODAY() and “Custom &gt; mm/dd/yyyy hh:mm” for NOW()).</a:t>
            </a:r>
            <a:endParaRPr sz="1300">
              <a:latin typeface="DM Sans"/>
              <a:ea typeface="DM Sans"/>
              <a:cs typeface="DM Sans"/>
              <a:sym typeface="DM Sans"/>
            </a:endParaRPr>
          </a:p>
          <a:p>
            <a:pPr indent="-311150" lvl="0" marL="457200" rtl="0" algn="l">
              <a:lnSpc>
                <a:spcPct val="115000"/>
              </a:lnSpc>
              <a:spcBef>
                <a:spcPts val="0"/>
              </a:spcBef>
              <a:spcAft>
                <a:spcPts val="0"/>
              </a:spcAft>
              <a:buSzPts val="1300"/>
              <a:buAutoNum type="arabicPeriod"/>
            </a:pPr>
            <a:r>
              <a:rPr b="1" lang="en" sz="1300">
                <a:latin typeface="DM Sans"/>
                <a:ea typeface="DM Sans"/>
                <a:cs typeface="DM Sans"/>
                <a:sym typeface="DM Sans"/>
              </a:rPr>
              <a:t>Recalculation</a:t>
            </a:r>
            <a:r>
              <a:rPr lang="en" sz="1300">
                <a:latin typeface="DM Sans"/>
                <a:ea typeface="DM Sans"/>
                <a:cs typeface="DM Sans"/>
                <a:sym typeface="DM Sans"/>
              </a:rPr>
              <a:t>:</a:t>
            </a:r>
            <a:br>
              <a:rPr lang="en" sz="1300">
                <a:latin typeface="DM Sans"/>
                <a:ea typeface="DM Sans"/>
                <a:cs typeface="DM Sans"/>
                <a:sym typeface="DM Sans"/>
              </a:rPr>
            </a:br>
            <a:endParaRPr sz="1300">
              <a:latin typeface="DM Sans"/>
              <a:ea typeface="DM Sans"/>
              <a:cs typeface="DM Sans"/>
              <a:sym typeface="DM Sans"/>
            </a:endParaRPr>
          </a:p>
          <a:p>
            <a:pPr indent="-311150" lvl="1" marL="914400" rtl="0" algn="l">
              <a:lnSpc>
                <a:spcPct val="115000"/>
              </a:lnSpc>
              <a:spcBef>
                <a:spcPts val="0"/>
              </a:spcBef>
              <a:spcAft>
                <a:spcPts val="0"/>
              </a:spcAft>
              <a:buSzPts val="1300"/>
              <a:buFont typeface="DM Sans"/>
              <a:buChar char="○"/>
            </a:pPr>
            <a:r>
              <a:rPr lang="en" sz="1300">
                <a:latin typeface="DM Sans"/>
                <a:ea typeface="DM Sans"/>
                <a:cs typeface="DM Sans"/>
                <a:sym typeface="DM Sans"/>
              </a:rPr>
              <a:t>These functions recalculate whenever the workbook is reopened or manually recalculated, so avoid overuse in large datasets to maintain performance.</a:t>
            </a:r>
            <a:endParaRPr sz="1300">
              <a:latin typeface="DM Sans"/>
              <a:ea typeface="DM Sans"/>
              <a:cs typeface="DM Sans"/>
              <a:sym typeface="DM Sans"/>
            </a:endParaRPr>
          </a:p>
          <a:p>
            <a:pPr indent="-311150" lvl="0" marL="457200" rtl="0" algn="l">
              <a:lnSpc>
                <a:spcPct val="115000"/>
              </a:lnSpc>
              <a:spcBef>
                <a:spcPts val="0"/>
              </a:spcBef>
              <a:spcAft>
                <a:spcPts val="0"/>
              </a:spcAft>
              <a:buSzPts val="1300"/>
              <a:buAutoNum type="arabicPeriod"/>
            </a:pPr>
            <a:r>
              <a:rPr b="1" lang="en" sz="1300">
                <a:latin typeface="DM Sans"/>
                <a:ea typeface="DM Sans"/>
                <a:cs typeface="DM Sans"/>
                <a:sym typeface="DM Sans"/>
              </a:rPr>
              <a:t>Static Value</a:t>
            </a:r>
            <a:r>
              <a:rPr lang="en" sz="1300">
                <a:latin typeface="DM Sans"/>
                <a:ea typeface="DM Sans"/>
                <a:cs typeface="DM Sans"/>
                <a:sym typeface="DM Sans"/>
              </a:rPr>
              <a:t>:</a:t>
            </a:r>
            <a:br>
              <a:rPr lang="en" sz="1300">
                <a:latin typeface="DM Sans"/>
                <a:ea typeface="DM Sans"/>
                <a:cs typeface="DM Sans"/>
                <a:sym typeface="DM Sans"/>
              </a:rPr>
            </a:br>
            <a:endParaRPr sz="1300">
              <a:latin typeface="DM Sans"/>
              <a:ea typeface="DM Sans"/>
              <a:cs typeface="DM Sans"/>
              <a:sym typeface="DM Sans"/>
            </a:endParaRPr>
          </a:p>
          <a:p>
            <a:pPr indent="-311150" lvl="1" marL="914400" rtl="0" algn="l">
              <a:lnSpc>
                <a:spcPct val="115000"/>
              </a:lnSpc>
              <a:spcBef>
                <a:spcPts val="0"/>
              </a:spcBef>
              <a:spcAft>
                <a:spcPts val="0"/>
              </a:spcAft>
              <a:buSzPts val="1300"/>
              <a:buChar char="○"/>
            </a:pPr>
            <a:r>
              <a:rPr lang="en" sz="1300">
                <a:latin typeface="DM Sans"/>
                <a:ea typeface="DM Sans"/>
                <a:cs typeface="DM Sans"/>
                <a:sym typeface="DM Sans"/>
              </a:rPr>
              <a:t>To keep a static value for the current date or time, use </a:t>
            </a:r>
            <a:r>
              <a:rPr b="1" lang="en" sz="1300">
                <a:solidFill>
                  <a:srgbClr val="188038"/>
                </a:solidFill>
                <a:latin typeface="DM Sans"/>
                <a:ea typeface="DM Sans"/>
                <a:cs typeface="DM Sans"/>
                <a:sym typeface="DM Sans"/>
              </a:rPr>
              <a:t>Ctrl+;</a:t>
            </a:r>
            <a:r>
              <a:rPr lang="en" sz="1300">
                <a:latin typeface="DM Sans"/>
                <a:ea typeface="DM Sans"/>
                <a:cs typeface="DM Sans"/>
                <a:sym typeface="DM Sans"/>
              </a:rPr>
              <a:t> for the date and </a:t>
            </a:r>
            <a:r>
              <a:rPr b="1" lang="en" sz="1300">
                <a:solidFill>
                  <a:srgbClr val="188038"/>
                </a:solidFill>
                <a:latin typeface="DM Sans"/>
                <a:ea typeface="DM Sans"/>
                <a:cs typeface="DM Sans"/>
                <a:sym typeface="DM Sans"/>
              </a:rPr>
              <a:t>Ctrl+Shift+;</a:t>
            </a:r>
            <a:r>
              <a:rPr lang="en" sz="1300">
                <a:latin typeface="DM Sans"/>
                <a:ea typeface="DM Sans"/>
                <a:cs typeface="DM Sans"/>
                <a:sym typeface="DM Sans"/>
              </a:rPr>
              <a:t> for the time.</a:t>
            </a:r>
            <a:endParaRPr b="1" sz="1300">
              <a:latin typeface="DM Sans"/>
              <a:ea typeface="DM Sans"/>
              <a:cs typeface="DM Sans"/>
              <a:sym typeface="DM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04" name="Google Shape;304;p49"/>
          <p:cNvSpPr txBox="1"/>
          <p:nvPr>
            <p:ph type="title"/>
          </p:nvPr>
        </p:nvSpPr>
        <p:spPr>
          <a:xfrm>
            <a:off x="489500" y="459725"/>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Understanding DATEDIF and Date Differences</a:t>
            </a:r>
            <a:endParaRPr b="1" sz="2500">
              <a:latin typeface="DM Sans"/>
              <a:ea typeface="DM Sans"/>
              <a:cs typeface="DM Sans"/>
              <a:sym typeface="DM Sans"/>
            </a:endParaRPr>
          </a:p>
        </p:txBody>
      </p:sp>
      <p:cxnSp>
        <p:nvCxnSpPr>
          <p:cNvPr id="305" name="Google Shape;305;p49"/>
          <p:cNvCxnSpPr/>
          <p:nvPr/>
        </p:nvCxnSpPr>
        <p:spPr>
          <a:xfrm>
            <a:off x="565695" y="1385238"/>
            <a:ext cx="2638500" cy="0"/>
          </a:xfrm>
          <a:prstGeom prst="straightConnector1">
            <a:avLst/>
          </a:prstGeom>
          <a:noFill/>
          <a:ln cap="flat" cmpd="sng" w="19050">
            <a:solidFill>
              <a:schemeClr val="dk1"/>
            </a:solidFill>
            <a:prstDash val="solid"/>
            <a:round/>
            <a:headEnd len="sm" w="sm" type="none"/>
            <a:tailEnd len="sm" w="sm" type="none"/>
          </a:ln>
        </p:spPr>
      </p:cxnSp>
      <p:sp>
        <p:nvSpPr>
          <p:cNvPr id="306" name="Google Shape;306;p49"/>
          <p:cNvSpPr txBox="1"/>
          <p:nvPr/>
        </p:nvSpPr>
        <p:spPr>
          <a:xfrm>
            <a:off x="337100" y="1622425"/>
            <a:ext cx="7633800" cy="24174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000"/>
              </a:spcBef>
              <a:spcAft>
                <a:spcPts val="0"/>
              </a:spcAft>
              <a:buSzPts val="1300"/>
              <a:buFont typeface="DM Sans"/>
              <a:buChar char="●"/>
            </a:pPr>
            <a:r>
              <a:rPr lang="en" sz="1300">
                <a:latin typeface="DM Sans"/>
                <a:ea typeface="DM Sans"/>
                <a:cs typeface="DM Sans"/>
                <a:sym typeface="DM Sans"/>
              </a:rPr>
              <a:t>The process of calculating date differences is essential in various fields, including project management, finance, astronomy, and data analysis. </a:t>
            </a:r>
            <a:endParaRPr sz="1300">
              <a:latin typeface="DM Sans"/>
              <a:ea typeface="DM Sans"/>
              <a:cs typeface="DM Sans"/>
              <a:sym typeface="DM Sans"/>
            </a:endParaRPr>
          </a:p>
          <a:p>
            <a:pPr indent="-311150" lvl="0" marL="457200" rtl="0" algn="l">
              <a:lnSpc>
                <a:spcPct val="115000"/>
              </a:lnSpc>
              <a:spcBef>
                <a:spcPts val="1200"/>
              </a:spcBef>
              <a:spcAft>
                <a:spcPts val="0"/>
              </a:spcAft>
              <a:buSzPts val="1300"/>
              <a:buFont typeface="DM Sans"/>
              <a:buChar char="●"/>
            </a:pPr>
            <a:r>
              <a:rPr lang="en" sz="1300">
                <a:latin typeface="DM Sans"/>
                <a:ea typeface="DM Sans"/>
                <a:cs typeface="DM Sans"/>
                <a:sym typeface="DM Sans"/>
              </a:rPr>
              <a:t>In Excel and Google Sheets, the </a:t>
            </a:r>
            <a:r>
              <a:rPr b="1" lang="en" sz="1300">
                <a:solidFill>
                  <a:srgbClr val="188038"/>
                </a:solidFill>
                <a:latin typeface="DM Sans"/>
                <a:ea typeface="DM Sans"/>
                <a:cs typeface="DM Sans"/>
                <a:sym typeface="DM Sans"/>
              </a:rPr>
              <a:t>DATEDIF</a:t>
            </a:r>
            <a:r>
              <a:rPr lang="en" sz="1300">
                <a:latin typeface="DM Sans"/>
                <a:ea typeface="DM Sans"/>
                <a:cs typeface="DM Sans"/>
                <a:sym typeface="DM Sans"/>
              </a:rPr>
              <a:t> function is commonly used to calculate the difference between two dates in terms of years, months, or days. </a:t>
            </a:r>
            <a:endParaRPr sz="1300">
              <a:latin typeface="DM Sans"/>
              <a:ea typeface="DM Sans"/>
              <a:cs typeface="DM Sans"/>
              <a:sym typeface="DM Sans"/>
            </a:endParaRPr>
          </a:p>
          <a:p>
            <a:pPr indent="-311150" lvl="0" marL="457200" rtl="0" algn="l">
              <a:lnSpc>
                <a:spcPct val="115000"/>
              </a:lnSpc>
              <a:spcBef>
                <a:spcPts val="1000"/>
              </a:spcBef>
              <a:spcAft>
                <a:spcPts val="1200"/>
              </a:spcAft>
              <a:buSzPts val="1300"/>
              <a:buFont typeface="DM Sans"/>
              <a:buChar char="●"/>
            </a:pPr>
            <a:r>
              <a:rPr lang="en" sz="1300">
                <a:latin typeface="DM Sans"/>
                <a:ea typeface="DM Sans"/>
                <a:cs typeface="DM Sans"/>
                <a:sym typeface="DM Sans"/>
              </a:rPr>
              <a:t>This guide provides an in-depth explanation of how to use the </a:t>
            </a:r>
            <a:r>
              <a:rPr b="1" lang="en" sz="1300">
                <a:solidFill>
                  <a:srgbClr val="188038"/>
                </a:solidFill>
                <a:latin typeface="DM Sans"/>
                <a:ea typeface="DM Sans"/>
                <a:cs typeface="DM Sans"/>
                <a:sym typeface="DM Sans"/>
              </a:rPr>
              <a:t>DATEDIF</a:t>
            </a:r>
            <a:r>
              <a:rPr lang="en" sz="1300">
                <a:latin typeface="DM Sans"/>
                <a:ea typeface="DM Sans"/>
                <a:cs typeface="DM Sans"/>
                <a:sym typeface="DM Sans"/>
              </a:rPr>
              <a:t> function, including theoretical background, practical examples, and step-by-step instructions.</a:t>
            </a:r>
            <a:endParaRPr b="1" sz="1300">
              <a:latin typeface="DM Sans"/>
              <a:ea typeface="DM Sans"/>
              <a:cs typeface="DM Sans"/>
              <a:sym typeface="DM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0"/>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12" name="Google Shape;312;p50"/>
          <p:cNvSpPr txBox="1"/>
          <p:nvPr>
            <p:ph type="title"/>
          </p:nvPr>
        </p:nvSpPr>
        <p:spPr>
          <a:xfrm>
            <a:off x="489500" y="459725"/>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Theoretical Background</a:t>
            </a:r>
            <a:endParaRPr b="1" sz="2500">
              <a:latin typeface="DM Sans"/>
              <a:ea typeface="DM Sans"/>
              <a:cs typeface="DM Sans"/>
              <a:sym typeface="DM Sans"/>
            </a:endParaRPr>
          </a:p>
        </p:txBody>
      </p:sp>
      <p:cxnSp>
        <p:nvCxnSpPr>
          <p:cNvPr id="313" name="Google Shape;313;p50"/>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14" name="Google Shape;314;p50"/>
          <p:cNvSpPr txBox="1"/>
          <p:nvPr/>
        </p:nvSpPr>
        <p:spPr>
          <a:xfrm>
            <a:off x="413300" y="1393825"/>
            <a:ext cx="7387800" cy="281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en">
                <a:latin typeface="DM Sans"/>
                <a:ea typeface="DM Sans"/>
                <a:cs typeface="DM Sans"/>
                <a:sym typeface="DM Sans"/>
              </a:rPr>
              <a:t>Before we dive into the practical applications, let’s explore the underlying concepts:</a:t>
            </a:r>
            <a:endParaRPr>
              <a:latin typeface="DM Sans"/>
              <a:ea typeface="DM Sans"/>
              <a:cs typeface="DM Sans"/>
              <a:sym typeface="DM Sans"/>
            </a:endParaRPr>
          </a:p>
          <a:p>
            <a:pPr indent="-317500" lvl="0" marL="457200" rtl="0" algn="l">
              <a:lnSpc>
                <a:spcPct val="150000"/>
              </a:lnSpc>
              <a:spcBef>
                <a:spcPts val="1200"/>
              </a:spcBef>
              <a:spcAft>
                <a:spcPts val="0"/>
              </a:spcAft>
              <a:buSzPts val="1400"/>
              <a:buFont typeface="DM Sans"/>
              <a:buAutoNum type="arabicPeriod"/>
            </a:pPr>
            <a:r>
              <a:rPr b="1" lang="en">
                <a:latin typeface="DM Sans"/>
                <a:ea typeface="DM Sans"/>
                <a:cs typeface="DM Sans"/>
                <a:sym typeface="DM Sans"/>
              </a:rPr>
              <a:t>What is a Date Difference?</a:t>
            </a:r>
            <a:endParaRPr b="1">
              <a:latin typeface="DM Sans"/>
              <a:ea typeface="DM Sans"/>
              <a:cs typeface="DM Sans"/>
              <a:sym typeface="DM Sans"/>
            </a:endParaRPr>
          </a:p>
          <a:p>
            <a:pPr indent="-317500" lvl="1" marL="914400" rtl="0" algn="l">
              <a:lnSpc>
                <a:spcPct val="150000"/>
              </a:lnSpc>
              <a:spcBef>
                <a:spcPts val="0"/>
              </a:spcBef>
              <a:spcAft>
                <a:spcPts val="0"/>
              </a:spcAft>
              <a:buSzPts val="1400"/>
              <a:buFont typeface="DM Sans"/>
              <a:buChar char="○"/>
            </a:pPr>
            <a:r>
              <a:rPr lang="en">
                <a:latin typeface="DM Sans"/>
                <a:ea typeface="DM Sans"/>
                <a:cs typeface="DM Sans"/>
                <a:sym typeface="DM Sans"/>
              </a:rPr>
              <a:t>A date difference represents the time interval between two specific dates. Depending on your needs, you might want to express this difference in terms of:</a:t>
            </a:r>
            <a:endParaRPr>
              <a:latin typeface="DM Sans"/>
              <a:ea typeface="DM Sans"/>
              <a:cs typeface="DM Sans"/>
              <a:sym typeface="DM Sans"/>
            </a:endParaRPr>
          </a:p>
          <a:p>
            <a:pPr indent="-317500" lvl="2" marL="1371600" rtl="0" algn="l">
              <a:lnSpc>
                <a:spcPct val="150000"/>
              </a:lnSpc>
              <a:spcBef>
                <a:spcPts val="0"/>
              </a:spcBef>
              <a:spcAft>
                <a:spcPts val="0"/>
              </a:spcAft>
              <a:buSzPts val="1400"/>
              <a:buChar char="■"/>
            </a:pPr>
            <a:r>
              <a:rPr b="1" lang="en">
                <a:latin typeface="DM Sans"/>
                <a:ea typeface="DM Sans"/>
                <a:cs typeface="DM Sans"/>
                <a:sym typeface="DM Sans"/>
              </a:rPr>
              <a:t>Days</a:t>
            </a:r>
            <a:r>
              <a:rPr lang="en">
                <a:latin typeface="DM Sans"/>
                <a:ea typeface="DM Sans"/>
                <a:cs typeface="DM Sans"/>
                <a:sym typeface="DM Sans"/>
              </a:rPr>
              <a:t>: The total number of days between two dates.</a:t>
            </a:r>
            <a:endParaRPr>
              <a:latin typeface="DM Sans"/>
              <a:ea typeface="DM Sans"/>
              <a:cs typeface="DM Sans"/>
              <a:sym typeface="DM Sans"/>
            </a:endParaRPr>
          </a:p>
          <a:p>
            <a:pPr indent="-317500" lvl="2" marL="1371600" rtl="0" algn="l">
              <a:lnSpc>
                <a:spcPct val="150000"/>
              </a:lnSpc>
              <a:spcBef>
                <a:spcPts val="0"/>
              </a:spcBef>
              <a:spcAft>
                <a:spcPts val="0"/>
              </a:spcAft>
              <a:buSzPts val="1400"/>
              <a:buChar char="■"/>
            </a:pPr>
            <a:r>
              <a:rPr b="1" lang="en">
                <a:latin typeface="DM Sans"/>
                <a:ea typeface="DM Sans"/>
                <a:cs typeface="DM Sans"/>
                <a:sym typeface="DM Sans"/>
              </a:rPr>
              <a:t>Months</a:t>
            </a:r>
            <a:r>
              <a:rPr lang="en">
                <a:latin typeface="DM Sans"/>
                <a:ea typeface="DM Sans"/>
                <a:cs typeface="DM Sans"/>
                <a:sym typeface="DM Sans"/>
              </a:rPr>
              <a:t>: The number of full months between two dates.</a:t>
            </a:r>
            <a:endParaRPr>
              <a:latin typeface="DM Sans"/>
              <a:ea typeface="DM Sans"/>
              <a:cs typeface="DM Sans"/>
              <a:sym typeface="DM Sans"/>
            </a:endParaRPr>
          </a:p>
          <a:p>
            <a:pPr indent="-317500" lvl="2" marL="1371600" rtl="0" algn="l">
              <a:lnSpc>
                <a:spcPct val="150000"/>
              </a:lnSpc>
              <a:spcBef>
                <a:spcPts val="0"/>
              </a:spcBef>
              <a:spcAft>
                <a:spcPts val="0"/>
              </a:spcAft>
              <a:buSzPts val="1400"/>
              <a:buChar char="■"/>
            </a:pPr>
            <a:r>
              <a:rPr b="1" lang="en">
                <a:latin typeface="DM Sans"/>
                <a:ea typeface="DM Sans"/>
                <a:cs typeface="DM Sans"/>
                <a:sym typeface="DM Sans"/>
              </a:rPr>
              <a:t>Years:</a:t>
            </a:r>
            <a:r>
              <a:rPr lang="en">
                <a:latin typeface="DM Sans"/>
                <a:ea typeface="DM Sans"/>
                <a:cs typeface="DM Sans"/>
                <a:sym typeface="DM Sans"/>
              </a:rPr>
              <a:t> The number of full years between two dates.</a:t>
            </a:r>
            <a:endParaRPr>
              <a:latin typeface="DM Sans"/>
              <a:ea typeface="DM Sans"/>
              <a:cs typeface="DM Sans"/>
              <a:sym typeface="DM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1"/>
          <p:cNvSpPr txBox="1"/>
          <p:nvPr>
            <p:ph type="title"/>
          </p:nvPr>
        </p:nvSpPr>
        <p:spPr>
          <a:xfrm>
            <a:off x="489500" y="459725"/>
            <a:ext cx="59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Theoretical Background</a:t>
            </a:r>
            <a:endParaRPr b="1" sz="2500">
              <a:latin typeface="DM Sans"/>
              <a:ea typeface="DM Sans"/>
              <a:cs typeface="DM Sans"/>
              <a:sym typeface="DM Sans"/>
            </a:endParaRPr>
          </a:p>
        </p:txBody>
      </p:sp>
      <p:cxnSp>
        <p:nvCxnSpPr>
          <p:cNvPr id="320" name="Google Shape;320;p51"/>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21" name="Google Shape;321;p51"/>
          <p:cNvSpPr txBox="1"/>
          <p:nvPr/>
        </p:nvSpPr>
        <p:spPr>
          <a:xfrm>
            <a:off x="413300" y="1393825"/>
            <a:ext cx="7387800" cy="29862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1200"/>
              </a:spcBef>
              <a:spcAft>
                <a:spcPts val="0"/>
              </a:spcAft>
              <a:buSzPts val="1400"/>
              <a:buFont typeface="DM Sans"/>
              <a:buAutoNum type="arabicPeriod" startAt="2"/>
            </a:pPr>
            <a:r>
              <a:rPr b="1" lang="en">
                <a:latin typeface="DM Sans"/>
                <a:ea typeface="DM Sans"/>
                <a:cs typeface="DM Sans"/>
                <a:sym typeface="DM Sans"/>
              </a:rPr>
              <a:t>The Date Format</a:t>
            </a:r>
            <a:endParaRPr b="1">
              <a:latin typeface="DM Sans"/>
              <a:ea typeface="DM Sans"/>
              <a:cs typeface="DM Sans"/>
              <a:sym typeface="DM Sans"/>
            </a:endParaRPr>
          </a:p>
          <a:p>
            <a:pPr indent="-317500" lvl="1" marL="914400" rtl="0" algn="l">
              <a:lnSpc>
                <a:spcPct val="150000"/>
              </a:lnSpc>
              <a:spcBef>
                <a:spcPts val="0"/>
              </a:spcBef>
              <a:spcAft>
                <a:spcPts val="0"/>
              </a:spcAft>
              <a:buSzPts val="1400"/>
              <a:buFont typeface="DM Sans"/>
              <a:buChar char="○"/>
            </a:pPr>
            <a:r>
              <a:rPr lang="en">
                <a:latin typeface="DM Sans"/>
                <a:ea typeface="DM Sans"/>
                <a:cs typeface="DM Sans"/>
                <a:sym typeface="DM Sans"/>
              </a:rPr>
              <a:t>In Excel or Google Sheets, dates are typically represented as serial numbers starting from January 1, 1900, which is represented by the serial number 1. Each subsequent day is incremented by 1. For example, January 2, 1900, is represented by 2, and so on.</a:t>
            </a:r>
            <a:endParaRPr>
              <a:latin typeface="DM Sans"/>
              <a:ea typeface="DM Sans"/>
              <a:cs typeface="DM Sans"/>
              <a:sym typeface="DM Sans"/>
            </a:endParaRPr>
          </a:p>
          <a:p>
            <a:pPr indent="-317500" lvl="0" marL="457200" rtl="0" algn="l">
              <a:lnSpc>
                <a:spcPct val="150000"/>
              </a:lnSpc>
              <a:spcBef>
                <a:spcPts val="0"/>
              </a:spcBef>
              <a:spcAft>
                <a:spcPts val="0"/>
              </a:spcAft>
              <a:buSzPts val="1400"/>
              <a:buAutoNum type="arabicPeriod" startAt="2"/>
            </a:pPr>
            <a:r>
              <a:rPr b="1" lang="en">
                <a:latin typeface="DM Sans"/>
                <a:ea typeface="DM Sans"/>
                <a:cs typeface="DM Sans"/>
                <a:sym typeface="DM Sans"/>
              </a:rPr>
              <a:t>The Role of </a:t>
            </a:r>
            <a:r>
              <a:rPr b="1" lang="en">
                <a:solidFill>
                  <a:srgbClr val="188038"/>
                </a:solidFill>
                <a:latin typeface="DM Sans"/>
                <a:ea typeface="DM Sans"/>
                <a:cs typeface="DM Sans"/>
                <a:sym typeface="DM Sans"/>
              </a:rPr>
              <a:t>DATEDIF</a:t>
            </a:r>
            <a:endParaRPr b="1">
              <a:solidFill>
                <a:srgbClr val="188038"/>
              </a:solidFill>
              <a:latin typeface="DM Sans"/>
              <a:ea typeface="DM Sans"/>
              <a:cs typeface="DM Sans"/>
              <a:sym typeface="DM Sans"/>
            </a:endParaRPr>
          </a:p>
          <a:p>
            <a:pPr indent="-317500" lvl="1" marL="914400" rtl="0" algn="l">
              <a:lnSpc>
                <a:spcPct val="150000"/>
              </a:lnSpc>
              <a:spcBef>
                <a:spcPts val="0"/>
              </a:spcBef>
              <a:spcAft>
                <a:spcPts val="0"/>
              </a:spcAft>
              <a:buSzPts val="1400"/>
              <a:buFont typeface="DM Sans"/>
              <a:buChar char="○"/>
            </a:pPr>
            <a:r>
              <a:rPr lang="en">
                <a:latin typeface="DM Sans"/>
                <a:ea typeface="DM Sans"/>
                <a:cs typeface="DM Sans"/>
                <a:sym typeface="DM Sans"/>
              </a:rPr>
              <a:t>The </a:t>
            </a:r>
            <a:r>
              <a:rPr lang="en">
                <a:solidFill>
                  <a:srgbClr val="188038"/>
                </a:solidFill>
                <a:latin typeface="DM Sans"/>
                <a:ea typeface="DM Sans"/>
                <a:cs typeface="DM Sans"/>
                <a:sym typeface="DM Sans"/>
              </a:rPr>
              <a:t>DATEDIF</a:t>
            </a:r>
            <a:r>
              <a:rPr lang="en">
                <a:latin typeface="DM Sans"/>
                <a:ea typeface="DM Sans"/>
                <a:cs typeface="DM Sans"/>
                <a:sym typeface="DM Sans"/>
              </a:rPr>
              <a:t> function computes the difference between two dates in a specified unit of time. It stands for "Date Difference," and it can handle differences in days, months, and years.</a:t>
            </a:r>
            <a:endParaRPr>
              <a:latin typeface="DM Sans"/>
              <a:ea typeface="DM Sans"/>
              <a:cs typeface="DM Sans"/>
              <a:sym typeface="DM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2"/>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27" name="Google Shape;327;p52"/>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500">
                <a:latin typeface="DM Sans"/>
                <a:ea typeface="DM Sans"/>
                <a:cs typeface="DM Sans"/>
                <a:sym typeface="DM Sans"/>
              </a:rPr>
              <a:t>The Syntax of the DATEDIF Function</a:t>
            </a:r>
            <a:endParaRPr b="1" sz="2500">
              <a:latin typeface="DM Sans"/>
              <a:ea typeface="DM Sans"/>
              <a:cs typeface="DM Sans"/>
              <a:sym typeface="DM Sans"/>
            </a:endParaRPr>
          </a:p>
        </p:txBody>
      </p:sp>
      <p:cxnSp>
        <p:nvCxnSpPr>
          <p:cNvPr id="328" name="Google Shape;328;p52"/>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29" name="Google Shape;329;p52"/>
          <p:cNvSpPr txBox="1"/>
          <p:nvPr/>
        </p:nvSpPr>
        <p:spPr>
          <a:xfrm>
            <a:off x="413300" y="1393825"/>
            <a:ext cx="7387800" cy="8019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latin typeface="DM Sans"/>
                <a:ea typeface="DM Sans"/>
                <a:cs typeface="DM Sans"/>
                <a:sym typeface="DM Sans"/>
              </a:rPr>
              <a:t>The basic syntax of the </a:t>
            </a:r>
            <a:r>
              <a:rPr b="1" lang="en">
                <a:solidFill>
                  <a:srgbClr val="188038"/>
                </a:solidFill>
                <a:latin typeface="DM Sans"/>
                <a:ea typeface="DM Sans"/>
                <a:cs typeface="DM Sans"/>
                <a:sym typeface="DM Sans"/>
              </a:rPr>
              <a:t>DATEDIF</a:t>
            </a:r>
            <a:r>
              <a:rPr b="1" lang="en">
                <a:latin typeface="DM Sans"/>
                <a:ea typeface="DM Sans"/>
                <a:cs typeface="DM Sans"/>
                <a:sym typeface="DM Sans"/>
              </a:rPr>
              <a:t> function is:</a:t>
            </a:r>
            <a:endParaRPr b="1">
              <a:latin typeface="DM Sans"/>
              <a:ea typeface="DM Sans"/>
              <a:cs typeface="DM Sans"/>
              <a:sym typeface="DM Sans"/>
            </a:endParaRPr>
          </a:p>
          <a:p>
            <a:pPr indent="0" lvl="0" marL="0" rtl="0" algn="l">
              <a:lnSpc>
                <a:spcPct val="115000"/>
              </a:lnSpc>
              <a:spcBef>
                <a:spcPts val="1200"/>
              </a:spcBef>
              <a:spcAft>
                <a:spcPts val="0"/>
              </a:spcAft>
              <a:buNone/>
            </a:pPr>
            <a:r>
              <a:rPr lang="en">
                <a:solidFill>
                  <a:srgbClr val="188038"/>
                </a:solidFill>
                <a:latin typeface="DM Sans"/>
                <a:ea typeface="DM Sans"/>
                <a:cs typeface="DM Sans"/>
                <a:sym typeface="DM Sans"/>
              </a:rPr>
              <a:t>DATEDIF(start_date, end_date, unit)</a:t>
            </a:r>
            <a:endParaRPr b="1">
              <a:latin typeface="DM Sans"/>
              <a:ea typeface="DM Sans"/>
              <a:cs typeface="DM Sans"/>
              <a:sym typeface="DM Sans"/>
            </a:endParaRPr>
          </a:p>
        </p:txBody>
      </p:sp>
      <p:sp>
        <p:nvSpPr>
          <p:cNvPr id="330" name="Google Shape;330;p52"/>
          <p:cNvSpPr txBox="1"/>
          <p:nvPr/>
        </p:nvSpPr>
        <p:spPr>
          <a:xfrm>
            <a:off x="337100" y="2274925"/>
            <a:ext cx="7387800" cy="2784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Char char="●"/>
            </a:pPr>
            <a:r>
              <a:rPr b="1" lang="en">
                <a:latin typeface="DM Sans"/>
                <a:ea typeface="DM Sans"/>
                <a:cs typeface="DM Sans"/>
                <a:sym typeface="DM Sans"/>
              </a:rPr>
              <a:t>start_date</a:t>
            </a:r>
            <a:r>
              <a:rPr lang="en">
                <a:latin typeface="DM Sans"/>
                <a:ea typeface="DM Sans"/>
                <a:cs typeface="DM Sans"/>
                <a:sym typeface="DM Sans"/>
              </a:rPr>
              <a:t>: The earlier date in the comparison.</a:t>
            </a:r>
            <a:endParaRPr>
              <a:latin typeface="DM Sans"/>
              <a:ea typeface="DM Sans"/>
              <a:cs typeface="DM Sans"/>
              <a:sym typeface="DM Sans"/>
            </a:endParaRPr>
          </a:p>
          <a:p>
            <a:pPr indent="-317500" lvl="0" marL="457200" rtl="0" algn="l">
              <a:lnSpc>
                <a:spcPct val="115000"/>
              </a:lnSpc>
              <a:spcBef>
                <a:spcPts val="0"/>
              </a:spcBef>
              <a:spcAft>
                <a:spcPts val="0"/>
              </a:spcAft>
              <a:buSzPts val="1400"/>
              <a:buChar char="●"/>
            </a:pPr>
            <a:r>
              <a:rPr b="1" lang="en">
                <a:latin typeface="DM Sans"/>
                <a:ea typeface="DM Sans"/>
                <a:cs typeface="DM Sans"/>
                <a:sym typeface="DM Sans"/>
              </a:rPr>
              <a:t>end_date</a:t>
            </a:r>
            <a:r>
              <a:rPr lang="en">
                <a:latin typeface="DM Sans"/>
                <a:ea typeface="DM Sans"/>
                <a:cs typeface="DM Sans"/>
                <a:sym typeface="DM Sans"/>
              </a:rPr>
              <a:t>: The later date in the comparison.</a:t>
            </a:r>
            <a:endParaRPr>
              <a:latin typeface="DM Sans"/>
              <a:ea typeface="DM Sans"/>
              <a:cs typeface="DM Sans"/>
              <a:sym typeface="DM Sans"/>
            </a:endParaRPr>
          </a:p>
          <a:p>
            <a:pPr indent="-317500" lvl="0" marL="457200" rtl="0" algn="l">
              <a:lnSpc>
                <a:spcPct val="115000"/>
              </a:lnSpc>
              <a:spcBef>
                <a:spcPts val="0"/>
              </a:spcBef>
              <a:spcAft>
                <a:spcPts val="0"/>
              </a:spcAft>
              <a:buSzPts val="1400"/>
              <a:buChar char="●"/>
            </a:pPr>
            <a:r>
              <a:rPr b="1" lang="en">
                <a:latin typeface="DM Sans"/>
                <a:ea typeface="DM Sans"/>
                <a:cs typeface="DM Sans"/>
                <a:sym typeface="DM Sans"/>
              </a:rPr>
              <a:t>unit</a:t>
            </a:r>
            <a:r>
              <a:rPr lang="en">
                <a:latin typeface="DM Sans"/>
                <a:ea typeface="DM Sans"/>
                <a:cs typeface="DM Sans"/>
                <a:sym typeface="DM Sans"/>
              </a:rPr>
              <a:t>: The unit of time you wish to return, which can be:</a:t>
            </a:r>
            <a:endParaRPr>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solidFill>
                  <a:srgbClr val="188038"/>
                </a:solidFill>
                <a:latin typeface="DM Sans"/>
                <a:ea typeface="DM Sans"/>
                <a:cs typeface="DM Sans"/>
                <a:sym typeface="DM Sans"/>
              </a:rPr>
              <a:t>"D"</a:t>
            </a:r>
            <a:r>
              <a:rPr b="1" lang="en">
                <a:latin typeface="DM Sans"/>
                <a:ea typeface="DM Sans"/>
                <a:cs typeface="DM Sans"/>
                <a:sym typeface="DM Sans"/>
              </a:rPr>
              <a:t>:</a:t>
            </a:r>
            <a:r>
              <a:rPr lang="en">
                <a:latin typeface="DM Sans"/>
                <a:ea typeface="DM Sans"/>
                <a:cs typeface="DM Sans"/>
                <a:sym typeface="DM Sans"/>
              </a:rPr>
              <a:t> Days between the dates.</a:t>
            </a:r>
            <a:endParaRPr>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solidFill>
                  <a:srgbClr val="188038"/>
                </a:solidFill>
                <a:latin typeface="DM Sans"/>
                <a:ea typeface="DM Sans"/>
                <a:cs typeface="DM Sans"/>
                <a:sym typeface="DM Sans"/>
              </a:rPr>
              <a:t>"M"</a:t>
            </a:r>
            <a:r>
              <a:rPr b="1" lang="en">
                <a:latin typeface="DM Sans"/>
                <a:ea typeface="DM Sans"/>
                <a:cs typeface="DM Sans"/>
                <a:sym typeface="DM Sans"/>
              </a:rPr>
              <a:t>:</a:t>
            </a:r>
            <a:r>
              <a:rPr lang="en">
                <a:latin typeface="DM Sans"/>
                <a:ea typeface="DM Sans"/>
                <a:cs typeface="DM Sans"/>
                <a:sym typeface="DM Sans"/>
              </a:rPr>
              <a:t> Complete months between the dates.</a:t>
            </a:r>
            <a:endParaRPr>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solidFill>
                  <a:srgbClr val="188038"/>
                </a:solidFill>
                <a:latin typeface="DM Sans"/>
                <a:ea typeface="DM Sans"/>
                <a:cs typeface="DM Sans"/>
                <a:sym typeface="DM Sans"/>
              </a:rPr>
              <a:t>"Y"</a:t>
            </a:r>
            <a:r>
              <a:rPr b="1" lang="en">
                <a:latin typeface="DM Sans"/>
                <a:ea typeface="DM Sans"/>
                <a:cs typeface="DM Sans"/>
                <a:sym typeface="DM Sans"/>
              </a:rPr>
              <a:t>:</a:t>
            </a:r>
            <a:r>
              <a:rPr lang="en">
                <a:latin typeface="DM Sans"/>
                <a:ea typeface="DM Sans"/>
                <a:cs typeface="DM Sans"/>
                <a:sym typeface="DM Sans"/>
              </a:rPr>
              <a:t> Complete years between the dates.</a:t>
            </a:r>
            <a:endParaRPr>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solidFill>
                  <a:srgbClr val="188038"/>
                </a:solidFill>
                <a:latin typeface="DM Sans"/>
                <a:ea typeface="DM Sans"/>
                <a:cs typeface="DM Sans"/>
                <a:sym typeface="DM Sans"/>
              </a:rPr>
              <a:t>"MD"</a:t>
            </a:r>
            <a:r>
              <a:rPr b="1" lang="en">
                <a:latin typeface="DM Sans"/>
                <a:ea typeface="DM Sans"/>
                <a:cs typeface="DM Sans"/>
                <a:sym typeface="DM Sans"/>
              </a:rPr>
              <a:t>:</a:t>
            </a:r>
            <a:r>
              <a:rPr lang="en">
                <a:latin typeface="DM Sans"/>
                <a:ea typeface="DM Sans"/>
                <a:cs typeface="DM Sans"/>
                <a:sym typeface="DM Sans"/>
              </a:rPr>
              <a:t> The difference in days, ignoring months and years.</a:t>
            </a:r>
            <a:endParaRPr>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solidFill>
                  <a:srgbClr val="188038"/>
                </a:solidFill>
                <a:latin typeface="DM Sans"/>
                <a:ea typeface="DM Sans"/>
                <a:cs typeface="DM Sans"/>
                <a:sym typeface="DM Sans"/>
              </a:rPr>
              <a:t>"YM"</a:t>
            </a:r>
            <a:r>
              <a:rPr b="1" lang="en">
                <a:latin typeface="DM Sans"/>
                <a:ea typeface="DM Sans"/>
                <a:cs typeface="DM Sans"/>
                <a:sym typeface="DM Sans"/>
              </a:rPr>
              <a:t>: </a:t>
            </a:r>
            <a:r>
              <a:rPr lang="en">
                <a:latin typeface="DM Sans"/>
                <a:ea typeface="DM Sans"/>
                <a:cs typeface="DM Sans"/>
                <a:sym typeface="DM Sans"/>
              </a:rPr>
              <a:t>The difference in months, ignoring days and years.</a:t>
            </a:r>
            <a:endParaRPr>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solidFill>
                  <a:srgbClr val="188038"/>
                </a:solidFill>
                <a:latin typeface="DM Sans"/>
                <a:ea typeface="DM Sans"/>
                <a:cs typeface="DM Sans"/>
                <a:sym typeface="DM Sans"/>
              </a:rPr>
              <a:t>"YD"</a:t>
            </a:r>
            <a:r>
              <a:rPr b="1" lang="en">
                <a:latin typeface="DM Sans"/>
                <a:ea typeface="DM Sans"/>
                <a:cs typeface="DM Sans"/>
                <a:sym typeface="DM Sans"/>
              </a:rPr>
              <a:t>:</a:t>
            </a:r>
            <a:r>
              <a:rPr lang="en">
                <a:latin typeface="DM Sans"/>
                <a:ea typeface="DM Sans"/>
                <a:cs typeface="DM Sans"/>
                <a:sym typeface="DM Sans"/>
              </a:rPr>
              <a:t> The difference in days, ignoring years.</a:t>
            </a:r>
            <a:endParaRPr>
              <a:latin typeface="DM Sans"/>
              <a:ea typeface="DM Sans"/>
              <a:cs typeface="DM Sans"/>
              <a:sym typeface="DM Sans"/>
            </a:endParaRPr>
          </a:p>
          <a:p>
            <a:pPr indent="0" lvl="0" marL="0" rtl="0" algn="l">
              <a:lnSpc>
                <a:spcPct val="115000"/>
              </a:lnSpc>
              <a:spcBef>
                <a:spcPts val="1200"/>
              </a:spcBef>
              <a:spcAft>
                <a:spcPts val="0"/>
              </a:spcAft>
              <a:buNone/>
            </a:pPr>
            <a:r>
              <a:t/>
            </a:r>
            <a:endParaRPr b="1">
              <a:latin typeface="DM Sans"/>
              <a:ea typeface="DM Sans"/>
              <a:cs typeface="DM Sans"/>
              <a:sym typeface="DM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3"/>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36" name="Google Shape;336;p53"/>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Practical Examples</a:t>
            </a:r>
            <a:endParaRPr b="1" sz="2500">
              <a:latin typeface="DM Sans"/>
              <a:ea typeface="DM Sans"/>
              <a:cs typeface="DM Sans"/>
              <a:sym typeface="DM Sans"/>
            </a:endParaRPr>
          </a:p>
        </p:txBody>
      </p:sp>
      <p:cxnSp>
        <p:nvCxnSpPr>
          <p:cNvPr id="337" name="Google Shape;337;p53"/>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38" name="Google Shape;338;p53"/>
          <p:cNvSpPr txBox="1"/>
          <p:nvPr/>
        </p:nvSpPr>
        <p:spPr>
          <a:xfrm>
            <a:off x="413300" y="1393825"/>
            <a:ext cx="7387800" cy="265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latin typeface="DM Sans"/>
                <a:ea typeface="DM Sans"/>
                <a:cs typeface="DM Sans"/>
                <a:sym typeface="DM Sans"/>
              </a:rPr>
              <a:t>1. Calculating the Difference in Days</a:t>
            </a:r>
            <a:endParaRPr b="1">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Suppose we have the following dates:</a:t>
            </a:r>
            <a:endParaRPr b="1">
              <a:latin typeface="DM Sans"/>
              <a:ea typeface="DM Sans"/>
              <a:cs typeface="DM Sans"/>
              <a:sym typeface="DM Sans"/>
            </a:endParaRPr>
          </a:p>
          <a:p>
            <a:pPr indent="-317500" lvl="0" marL="457200" rtl="0" algn="l">
              <a:lnSpc>
                <a:spcPct val="115000"/>
              </a:lnSpc>
              <a:spcBef>
                <a:spcPts val="1200"/>
              </a:spcBef>
              <a:spcAft>
                <a:spcPts val="0"/>
              </a:spcAft>
              <a:buSzPts val="1400"/>
              <a:buChar char="●"/>
            </a:pPr>
            <a:r>
              <a:rPr b="1" lang="en">
                <a:latin typeface="DM Sans"/>
                <a:ea typeface="DM Sans"/>
                <a:cs typeface="DM Sans"/>
                <a:sym typeface="DM Sans"/>
              </a:rPr>
              <a:t>Start Date:</a:t>
            </a:r>
            <a:r>
              <a:rPr lang="en">
                <a:latin typeface="DM Sans"/>
                <a:ea typeface="DM Sans"/>
                <a:cs typeface="DM Sans"/>
                <a:sym typeface="DM Sans"/>
              </a:rPr>
              <a:t> </a:t>
            </a:r>
            <a:r>
              <a:rPr b="1" lang="en">
                <a:latin typeface="DM Sans"/>
                <a:ea typeface="DM Sans"/>
                <a:cs typeface="DM Sans"/>
                <a:sym typeface="DM Sans"/>
              </a:rPr>
              <a:t>January 1, 2025</a:t>
            </a:r>
            <a:endParaRPr b="1">
              <a:latin typeface="DM Sans"/>
              <a:ea typeface="DM Sans"/>
              <a:cs typeface="DM Sans"/>
              <a:sym typeface="DM Sans"/>
            </a:endParaRPr>
          </a:p>
          <a:p>
            <a:pPr indent="-317500" lvl="0" marL="457200" rtl="0" algn="l">
              <a:lnSpc>
                <a:spcPct val="115000"/>
              </a:lnSpc>
              <a:spcBef>
                <a:spcPts val="0"/>
              </a:spcBef>
              <a:spcAft>
                <a:spcPts val="0"/>
              </a:spcAft>
              <a:buSzPts val="1400"/>
              <a:buChar char="●"/>
            </a:pPr>
            <a:r>
              <a:rPr b="1" lang="en">
                <a:latin typeface="DM Sans"/>
                <a:ea typeface="DM Sans"/>
                <a:cs typeface="DM Sans"/>
                <a:sym typeface="DM Sans"/>
              </a:rPr>
              <a:t>End Date:</a:t>
            </a:r>
            <a:r>
              <a:rPr lang="en">
                <a:latin typeface="DM Sans"/>
                <a:ea typeface="DM Sans"/>
                <a:cs typeface="DM Sans"/>
                <a:sym typeface="DM Sans"/>
              </a:rPr>
              <a:t> </a:t>
            </a:r>
            <a:r>
              <a:rPr b="1" lang="en">
                <a:latin typeface="DM Sans"/>
                <a:ea typeface="DM Sans"/>
                <a:cs typeface="DM Sans"/>
                <a:sym typeface="DM Sans"/>
              </a:rPr>
              <a:t>January 22, 2025</a:t>
            </a:r>
            <a:endParaRPr b="1">
              <a:latin typeface="DM Sans"/>
              <a:ea typeface="DM Sans"/>
              <a:cs typeface="DM Sans"/>
              <a:sym typeface="DM Sans"/>
            </a:endParaRPr>
          </a:p>
          <a:p>
            <a:pPr indent="0" lvl="0" marL="0" rtl="0" algn="l">
              <a:lnSpc>
                <a:spcPct val="115000"/>
              </a:lnSpc>
              <a:spcBef>
                <a:spcPts val="1200"/>
              </a:spcBef>
              <a:spcAft>
                <a:spcPts val="0"/>
              </a:spcAft>
              <a:buNone/>
            </a:pPr>
            <a:r>
              <a:rPr lang="en">
                <a:latin typeface="DM Sans"/>
                <a:ea typeface="DM Sans"/>
                <a:cs typeface="DM Sans"/>
                <a:sym typeface="DM Sans"/>
              </a:rPr>
              <a:t>We want to calculate the total number of days between these two dates.</a:t>
            </a:r>
            <a:endParaRPr>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Formula:</a:t>
            </a:r>
            <a:endParaRPr>
              <a:latin typeface="DM Sans"/>
              <a:ea typeface="DM Sans"/>
              <a:cs typeface="DM Sans"/>
              <a:sym typeface="DM Sans"/>
            </a:endParaRPr>
          </a:p>
          <a:p>
            <a:pPr indent="0" lvl="0" marL="0" rtl="0" algn="l">
              <a:lnSpc>
                <a:spcPct val="115000"/>
              </a:lnSpc>
              <a:spcBef>
                <a:spcPts val="1200"/>
              </a:spcBef>
              <a:spcAft>
                <a:spcPts val="0"/>
              </a:spcAft>
              <a:buNone/>
            </a:pPr>
            <a:r>
              <a:rPr b="1" lang="en">
                <a:solidFill>
                  <a:srgbClr val="188038"/>
                </a:solidFill>
                <a:latin typeface="DM Sans"/>
                <a:ea typeface="DM Sans"/>
                <a:cs typeface="DM Sans"/>
                <a:sym typeface="DM Sans"/>
              </a:rPr>
              <a:t>=DATEDIF("1/1/2025", "1/22/2025", "D")</a:t>
            </a:r>
            <a:endParaRPr b="1">
              <a:latin typeface="DM Sans"/>
              <a:ea typeface="DM Sans"/>
              <a:cs typeface="DM Sans"/>
              <a:sym typeface="DM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4"/>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44" name="Google Shape;344;p54"/>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Practical Examples</a:t>
            </a:r>
            <a:endParaRPr b="1" sz="2500">
              <a:latin typeface="DM Sans"/>
              <a:ea typeface="DM Sans"/>
              <a:cs typeface="DM Sans"/>
              <a:sym typeface="DM Sans"/>
            </a:endParaRPr>
          </a:p>
        </p:txBody>
      </p:sp>
      <p:cxnSp>
        <p:nvCxnSpPr>
          <p:cNvPr id="345" name="Google Shape;345;p54"/>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46" name="Google Shape;346;p54"/>
          <p:cNvSpPr txBox="1"/>
          <p:nvPr/>
        </p:nvSpPr>
        <p:spPr>
          <a:xfrm>
            <a:off x="413300" y="1393825"/>
            <a:ext cx="7387800" cy="14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latin typeface="DM Sans"/>
                <a:ea typeface="DM Sans"/>
                <a:cs typeface="DM Sans"/>
                <a:sym typeface="DM Sans"/>
              </a:rPr>
              <a:t>Result:</a:t>
            </a:r>
            <a:endParaRPr b="1">
              <a:latin typeface="DM Sans"/>
              <a:ea typeface="DM Sans"/>
              <a:cs typeface="DM Sans"/>
              <a:sym typeface="DM Sans"/>
            </a:endParaRPr>
          </a:p>
          <a:p>
            <a:pPr indent="-317500" lvl="0" marL="457200" rtl="0" algn="l">
              <a:lnSpc>
                <a:spcPct val="115000"/>
              </a:lnSpc>
              <a:spcBef>
                <a:spcPts val="1200"/>
              </a:spcBef>
              <a:spcAft>
                <a:spcPts val="0"/>
              </a:spcAft>
              <a:buSzPts val="1400"/>
              <a:buChar char="●"/>
            </a:pPr>
            <a:r>
              <a:rPr lang="en">
                <a:latin typeface="DM Sans"/>
                <a:ea typeface="DM Sans"/>
                <a:cs typeface="DM Sans"/>
                <a:sym typeface="DM Sans"/>
              </a:rPr>
              <a:t>The difference is </a:t>
            </a:r>
            <a:r>
              <a:rPr b="1" lang="en">
                <a:latin typeface="DM Sans"/>
                <a:ea typeface="DM Sans"/>
                <a:cs typeface="DM Sans"/>
                <a:sym typeface="DM Sans"/>
              </a:rPr>
              <a:t>21 days</a:t>
            </a:r>
            <a:r>
              <a:rPr lang="en">
                <a:latin typeface="DM Sans"/>
                <a:ea typeface="DM Sans"/>
                <a:cs typeface="DM Sans"/>
                <a:sym typeface="DM Sans"/>
              </a:rPr>
              <a:t>.</a:t>
            </a:r>
            <a:endParaRPr>
              <a:latin typeface="DM Sans"/>
              <a:ea typeface="DM Sans"/>
              <a:cs typeface="DM Sans"/>
              <a:sym typeface="DM Sans"/>
            </a:endParaRPr>
          </a:p>
          <a:p>
            <a:pPr indent="0" lvl="0" marL="0" rtl="0" algn="l">
              <a:lnSpc>
                <a:spcPct val="115000"/>
              </a:lnSpc>
              <a:spcBef>
                <a:spcPts val="1200"/>
              </a:spcBef>
              <a:spcAft>
                <a:spcPts val="1200"/>
              </a:spcAft>
              <a:buNone/>
            </a:pPr>
            <a:r>
              <a:rPr b="1" lang="en">
                <a:latin typeface="DM Sans"/>
                <a:ea typeface="DM Sans"/>
                <a:cs typeface="DM Sans"/>
                <a:sym typeface="DM Sans"/>
              </a:rPr>
              <a:t>Explanation:</a:t>
            </a:r>
            <a:r>
              <a:rPr lang="en">
                <a:latin typeface="DM Sans"/>
                <a:ea typeface="DM Sans"/>
                <a:cs typeface="DM Sans"/>
                <a:sym typeface="DM Sans"/>
              </a:rPr>
              <a:t> Excel calculates the total number of days between January 1, 2025, and January 22, 2025, giving us the result of </a:t>
            </a:r>
            <a:r>
              <a:rPr b="1" lang="en">
                <a:latin typeface="DM Sans"/>
                <a:ea typeface="DM Sans"/>
                <a:cs typeface="DM Sans"/>
                <a:sym typeface="DM Sans"/>
              </a:rPr>
              <a:t>21 days</a:t>
            </a:r>
            <a:r>
              <a:rPr lang="en">
                <a:latin typeface="DM Sans"/>
                <a:ea typeface="DM Sans"/>
                <a:cs typeface="DM Sans"/>
                <a:sym typeface="DM Sans"/>
              </a:rPr>
              <a:t>.</a:t>
            </a:r>
            <a:endParaRPr b="1">
              <a:latin typeface="DM Sans"/>
              <a:ea typeface="DM Sans"/>
              <a:cs typeface="DM Sans"/>
              <a:sym typeface="DM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5"/>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52" name="Google Shape;352;p55"/>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Practical Examples</a:t>
            </a:r>
            <a:endParaRPr b="1" sz="2500">
              <a:latin typeface="DM Sans"/>
              <a:ea typeface="DM Sans"/>
              <a:cs typeface="DM Sans"/>
              <a:sym typeface="DM Sans"/>
            </a:endParaRPr>
          </a:p>
        </p:txBody>
      </p:sp>
      <p:cxnSp>
        <p:nvCxnSpPr>
          <p:cNvPr id="353" name="Google Shape;353;p55"/>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54" name="Google Shape;354;p55"/>
          <p:cNvSpPr txBox="1"/>
          <p:nvPr/>
        </p:nvSpPr>
        <p:spPr>
          <a:xfrm>
            <a:off x="413300" y="1393825"/>
            <a:ext cx="7387800" cy="225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latin typeface="DM Sans"/>
                <a:ea typeface="DM Sans"/>
                <a:cs typeface="DM Sans"/>
                <a:sym typeface="DM Sans"/>
              </a:rPr>
              <a:t>2. Calculating the Difference in Complete Months</a:t>
            </a:r>
            <a:endParaRPr b="1">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Now, let’s calculate the number of complete months between:</a:t>
            </a:r>
            <a:endParaRPr b="1">
              <a:latin typeface="DM Sans"/>
              <a:ea typeface="DM Sans"/>
              <a:cs typeface="DM Sans"/>
              <a:sym typeface="DM Sans"/>
            </a:endParaRPr>
          </a:p>
          <a:p>
            <a:pPr indent="-317500" lvl="0" marL="457200" rtl="0" algn="l">
              <a:lnSpc>
                <a:spcPct val="115000"/>
              </a:lnSpc>
              <a:spcBef>
                <a:spcPts val="1200"/>
              </a:spcBef>
              <a:spcAft>
                <a:spcPts val="0"/>
              </a:spcAft>
              <a:buSzPts val="1400"/>
              <a:buChar char="●"/>
            </a:pPr>
            <a:r>
              <a:rPr b="1" lang="en">
                <a:latin typeface="DM Sans"/>
                <a:ea typeface="DM Sans"/>
                <a:cs typeface="DM Sans"/>
                <a:sym typeface="DM Sans"/>
              </a:rPr>
              <a:t>Start Date:</a:t>
            </a:r>
            <a:r>
              <a:rPr lang="en">
                <a:latin typeface="DM Sans"/>
                <a:ea typeface="DM Sans"/>
                <a:cs typeface="DM Sans"/>
                <a:sym typeface="DM Sans"/>
              </a:rPr>
              <a:t> </a:t>
            </a:r>
            <a:r>
              <a:rPr b="1" lang="en">
                <a:latin typeface="DM Sans"/>
                <a:ea typeface="DM Sans"/>
                <a:cs typeface="DM Sans"/>
                <a:sym typeface="DM Sans"/>
              </a:rPr>
              <a:t>January 1, 2025</a:t>
            </a:r>
            <a:endParaRPr b="1">
              <a:latin typeface="DM Sans"/>
              <a:ea typeface="DM Sans"/>
              <a:cs typeface="DM Sans"/>
              <a:sym typeface="DM Sans"/>
            </a:endParaRPr>
          </a:p>
          <a:p>
            <a:pPr indent="-317500" lvl="0" marL="457200" rtl="0" algn="l">
              <a:lnSpc>
                <a:spcPct val="115000"/>
              </a:lnSpc>
              <a:spcBef>
                <a:spcPts val="0"/>
              </a:spcBef>
              <a:spcAft>
                <a:spcPts val="0"/>
              </a:spcAft>
              <a:buSzPts val="1400"/>
              <a:buFont typeface="DM Sans"/>
              <a:buChar char="●"/>
            </a:pPr>
            <a:r>
              <a:rPr b="1" lang="en">
                <a:latin typeface="DM Sans"/>
                <a:ea typeface="DM Sans"/>
                <a:cs typeface="DM Sans"/>
                <a:sym typeface="DM Sans"/>
              </a:rPr>
              <a:t>End Date: June 15, 2025</a:t>
            </a:r>
            <a:endParaRPr b="1">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Formula:</a:t>
            </a:r>
            <a:endParaRPr>
              <a:latin typeface="DM Sans"/>
              <a:ea typeface="DM Sans"/>
              <a:cs typeface="DM Sans"/>
              <a:sym typeface="DM Sans"/>
            </a:endParaRPr>
          </a:p>
          <a:p>
            <a:pPr indent="0" lvl="0" marL="0" rtl="0" algn="l">
              <a:lnSpc>
                <a:spcPct val="115000"/>
              </a:lnSpc>
              <a:spcBef>
                <a:spcPts val="1200"/>
              </a:spcBef>
              <a:spcAft>
                <a:spcPts val="0"/>
              </a:spcAft>
              <a:buNone/>
            </a:pPr>
            <a:r>
              <a:rPr lang="en">
                <a:solidFill>
                  <a:srgbClr val="188038"/>
                </a:solidFill>
                <a:latin typeface="DM Sans"/>
                <a:ea typeface="DM Sans"/>
                <a:cs typeface="DM Sans"/>
                <a:sym typeface="DM Sans"/>
              </a:rPr>
              <a:t>=DATEDIF("1/1/2025", "6/15/2025", "M")</a:t>
            </a:r>
            <a:endParaRPr b="1">
              <a:latin typeface="DM Sans"/>
              <a:ea typeface="DM Sans"/>
              <a:cs typeface="DM Sans"/>
              <a:sym typeface="DM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6"/>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60" name="Google Shape;360;p56"/>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Practical Examples</a:t>
            </a:r>
            <a:endParaRPr b="1" sz="2500">
              <a:latin typeface="DM Sans"/>
              <a:ea typeface="DM Sans"/>
              <a:cs typeface="DM Sans"/>
              <a:sym typeface="DM Sans"/>
            </a:endParaRPr>
          </a:p>
        </p:txBody>
      </p:sp>
      <p:cxnSp>
        <p:nvCxnSpPr>
          <p:cNvPr id="361" name="Google Shape;361;p56"/>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62" name="Google Shape;362;p56"/>
          <p:cNvSpPr txBox="1"/>
          <p:nvPr/>
        </p:nvSpPr>
        <p:spPr>
          <a:xfrm>
            <a:off x="413300" y="1393825"/>
            <a:ext cx="7387800" cy="185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latin typeface="DM Sans"/>
                <a:ea typeface="DM Sans"/>
                <a:cs typeface="DM Sans"/>
                <a:sym typeface="DM Sans"/>
              </a:rPr>
              <a:t>Result:</a:t>
            </a:r>
            <a:endParaRPr b="1">
              <a:latin typeface="DM Sans"/>
              <a:ea typeface="DM Sans"/>
              <a:cs typeface="DM Sans"/>
              <a:sym typeface="DM Sans"/>
            </a:endParaRPr>
          </a:p>
          <a:p>
            <a:pPr indent="-317500" lvl="0" marL="457200" rtl="0" algn="l">
              <a:lnSpc>
                <a:spcPct val="115000"/>
              </a:lnSpc>
              <a:spcBef>
                <a:spcPts val="1200"/>
              </a:spcBef>
              <a:spcAft>
                <a:spcPts val="0"/>
              </a:spcAft>
              <a:buSzPts val="1400"/>
              <a:buChar char="●"/>
            </a:pPr>
            <a:r>
              <a:rPr lang="en">
                <a:latin typeface="DM Sans"/>
                <a:ea typeface="DM Sans"/>
                <a:cs typeface="DM Sans"/>
                <a:sym typeface="DM Sans"/>
              </a:rPr>
              <a:t>The difference is </a:t>
            </a:r>
            <a:r>
              <a:rPr b="1" lang="en">
                <a:latin typeface="DM Sans"/>
                <a:ea typeface="DM Sans"/>
                <a:cs typeface="DM Sans"/>
                <a:sym typeface="DM Sans"/>
              </a:rPr>
              <a:t>5 months</a:t>
            </a:r>
            <a:r>
              <a:rPr lang="en">
                <a:latin typeface="DM Sans"/>
                <a:ea typeface="DM Sans"/>
                <a:cs typeface="DM Sans"/>
                <a:sym typeface="DM Sans"/>
              </a:rPr>
              <a:t>.</a:t>
            </a:r>
            <a:endParaRPr>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Explanation:</a:t>
            </a:r>
            <a:r>
              <a:rPr lang="en">
                <a:latin typeface="DM Sans"/>
                <a:ea typeface="DM Sans"/>
                <a:cs typeface="DM Sans"/>
                <a:sym typeface="DM Sans"/>
              </a:rPr>
              <a:t> This example counts only the full months between January 1, 2025, and June 15, 2025. Since we can't count partial months, it gives us 5 complete months.</a:t>
            </a:r>
            <a:endParaRPr>
              <a:latin typeface="DM Sans"/>
              <a:ea typeface="DM Sans"/>
              <a:cs typeface="DM Sans"/>
              <a:sym typeface="DM Sans"/>
            </a:endParaRPr>
          </a:p>
          <a:p>
            <a:pPr indent="0" lvl="0" marL="0" rtl="0" algn="l">
              <a:lnSpc>
                <a:spcPct val="115000"/>
              </a:lnSpc>
              <a:spcBef>
                <a:spcPts val="1200"/>
              </a:spcBef>
              <a:spcAft>
                <a:spcPts val="0"/>
              </a:spcAft>
              <a:buNone/>
            </a:pPr>
            <a:r>
              <a:t/>
            </a:r>
            <a:endParaRPr b="1">
              <a:latin typeface="DM Sans"/>
              <a:ea typeface="DM Sans"/>
              <a:cs typeface="DM Sans"/>
              <a:sym typeface="DM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7"/>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Handling Edge Cases</a:t>
            </a:r>
            <a:endParaRPr b="1" sz="2500">
              <a:latin typeface="DM Sans"/>
              <a:ea typeface="DM Sans"/>
              <a:cs typeface="DM Sans"/>
              <a:sym typeface="DM Sans"/>
            </a:endParaRPr>
          </a:p>
        </p:txBody>
      </p:sp>
      <p:cxnSp>
        <p:nvCxnSpPr>
          <p:cNvPr id="368" name="Google Shape;368;p57"/>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69" name="Google Shape;369;p57"/>
          <p:cNvSpPr txBox="1"/>
          <p:nvPr/>
        </p:nvSpPr>
        <p:spPr>
          <a:xfrm>
            <a:off x="337100" y="1393825"/>
            <a:ext cx="7387800" cy="33093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1200"/>
              </a:spcBef>
              <a:spcAft>
                <a:spcPts val="0"/>
              </a:spcAft>
              <a:buSzPts val="1400"/>
              <a:buFont typeface="DM Sans"/>
              <a:buAutoNum type="arabicPeriod"/>
            </a:pPr>
            <a:r>
              <a:rPr b="1" lang="en">
                <a:latin typeface="DM Sans"/>
                <a:ea typeface="DM Sans"/>
                <a:cs typeface="DM Sans"/>
                <a:sym typeface="DM Sans"/>
              </a:rPr>
              <a:t>Invalid Dates:</a:t>
            </a:r>
            <a:endParaRPr b="1">
              <a:latin typeface="DM Sans"/>
              <a:ea typeface="DM Sans"/>
              <a:cs typeface="DM Sans"/>
              <a:sym typeface="DM Sans"/>
            </a:endParaRPr>
          </a:p>
          <a:p>
            <a:pPr indent="-317500" lvl="1" marL="914400" rtl="0" algn="l">
              <a:lnSpc>
                <a:spcPct val="150000"/>
              </a:lnSpc>
              <a:spcBef>
                <a:spcPts val="0"/>
              </a:spcBef>
              <a:spcAft>
                <a:spcPts val="0"/>
              </a:spcAft>
              <a:buSzPts val="1400"/>
              <a:buChar char="○"/>
            </a:pPr>
            <a:r>
              <a:rPr lang="en">
                <a:latin typeface="DM Sans"/>
                <a:ea typeface="DM Sans"/>
                <a:cs typeface="DM Sans"/>
                <a:sym typeface="DM Sans"/>
              </a:rPr>
              <a:t>If the </a:t>
            </a:r>
            <a:r>
              <a:rPr b="1" lang="en">
                <a:solidFill>
                  <a:srgbClr val="188038"/>
                </a:solidFill>
                <a:latin typeface="DM Sans"/>
                <a:ea typeface="DM Sans"/>
                <a:cs typeface="DM Sans"/>
                <a:sym typeface="DM Sans"/>
              </a:rPr>
              <a:t>start_date</a:t>
            </a:r>
            <a:r>
              <a:rPr b="1" lang="en">
                <a:latin typeface="DM Sans"/>
                <a:ea typeface="DM Sans"/>
                <a:cs typeface="DM Sans"/>
                <a:sym typeface="DM Sans"/>
              </a:rPr>
              <a:t> </a:t>
            </a:r>
            <a:r>
              <a:rPr lang="en">
                <a:latin typeface="DM Sans"/>
                <a:ea typeface="DM Sans"/>
                <a:cs typeface="DM Sans"/>
                <a:sym typeface="DM Sans"/>
              </a:rPr>
              <a:t>is later than the </a:t>
            </a:r>
            <a:r>
              <a:rPr lang="en">
                <a:solidFill>
                  <a:srgbClr val="188038"/>
                </a:solidFill>
                <a:latin typeface="DM Sans"/>
                <a:ea typeface="DM Sans"/>
                <a:cs typeface="DM Sans"/>
                <a:sym typeface="DM Sans"/>
              </a:rPr>
              <a:t>end_date</a:t>
            </a:r>
            <a:r>
              <a:rPr lang="en">
                <a:latin typeface="DM Sans"/>
                <a:ea typeface="DM Sans"/>
                <a:cs typeface="DM Sans"/>
                <a:sym typeface="DM Sans"/>
              </a:rPr>
              <a:t>, Excel will return an error (</a:t>
            </a:r>
            <a:r>
              <a:rPr b="1" lang="en">
                <a:solidFill>
                  <a:srgbClr val="188038"/>
                </a:solidFill>
                <a:latin typeface="DM Sans"/>
                <a:ea typeface="DM Sans"/>
                <a:cs typeface="DM Sans"/>
                <a:sym typeface="DM Sans"/>
              </a:rPr>
              <a:t>#NUM!</a:t>
            </a:r>
            <a:r>
              <a:rPr lang="en">
                <a:latin typeface="DM Sans"/>
                <a:ea typeface="DM Sans"/>
                <a:cs typeface="DM Sans"/>
                <a:sym typeface="DM Sans"/>
              </a:rPr>
              <a:t>). Always ensure the </a:t>
            </a:r>
            <a:r>
              <a:rPr lang="en">
                <a:solidFill>
                  <a:srgbClr val="188038"/>
                </a:solidFill>
                <a:latin typeface="DM Sans"/>
                <a:ea typeface="DM Sans"/>
                <a:cs typeface="DM Sans"/>
                <a:sym typeface="DM Sans"/>
              </a:rPr>
              <a:t>s</a:t>
            </a:r>
            <a:r>
              <a:rPr b="1" lang="en">
                <a:solidFill>
                  <a:srgbClr val="188038"/>
                </a:solidFill>
                <a:latin typeface="DM Sans"/>
                <a:ea typeface="DM Sans"/>
                <a:cs typeface="DM Sans"/>
                <a:sym typeface="DM Sans"/>
              </a:rPr>
              <a:t>tart_date</a:t>
            </a:r>
            <a:r>
              <a:rPr lang="en">
                <a:latin typeface="DM Sans"/>
                <a:ea typeface="DM Sans"/>
                <a:cs typeface="DM Sans"/>
                <a:sym typeface="DM Sans"/>
              </a:rPr>
              <a:t> is before the </a:t>
            </a:r>
            <a:r>
              <a:rPr lang="en">
                <a:solidFill>
                  <a:srgbClr val="188038"/>
                </a:solidFill>
                <a:latin typeface="DM Sans"/>
                <a:ea typeface="DM Sans"/>
                <a:cs typeface="DM Sans"/>
                <a:sym typeface="DM Sans"/>
              </a:rPr>
              <a:t>end_date</a:t>
            </a:r>
            <a:r>
              <a:rPr lang="en">
                <a:latin typeface="DM Sans"/>
                <a:ea typeface="DM Sans"/>
                <a:cs typeface="DM Sans"/>
                <a:sym typeface="DM Sans"/>
              </a:rPr>
              <a:t>.</a:t>
            </a:r>
            <a:endParaRPr>
              <a:latin typeface="DM Sans"/>
              <a:ea typeface="DM Sans"/>
              <a:cs typeface="DM Sans"/>
              <a:sym typeface="DM Sans"/>
            </a:endParaRPr>
          </a:p>
          <a:p>
            <a:pPr indent="-317500" lvl="0" marL="457200" rtl="0" algn="l">
              <a:lnSpc>
                <a:spcPct val="150000"/>
              </a:lnSpc>
              <a:spcBef>
                <a:spcPts val="0"/>
              </a:spcBef>
              <a:spcAft>
                <a:spcPts val="0"/>
              </a:spcAft>
              <a:buSzPts val="1400"/>
              <a:buFont typeface="DM Sans"/>
              <a:buAutoNum type="arabicPeriod"/>
            </a:pPr>
            <a:r>
              <a:rPr b="1" lang="en">
                <a:latin typeface="DM Sans"/>
                <a:ea typeface="DM Sans"/>
                <a:cs typeface="DM Sans"/>
                <a:sym typeface="DM Sans"/>
              </a:rPr>
              <a:t>Leap Years:</a:t>
            </a:r>
            <a:endParaRPr b="1">
              <a:latin typeface="DM Sans"/>
              <a:ea typeface="DM Sans"/>
              <a:cs typeface="DM Sans"/>
              <a:sym typeface="DM Sans"/>
            </a:endParaRPr>
          </a:p>
          <a:p>
            <a:pPr indent="-317500" lvl="1" marL="914400" rtl="0" algn="l">
              <a:lnSpc>
                <a:spcPct val="150000"/>
              </a:lnSpc>
              <a:spcBef>
                <a:spcPts val="0"/>
              </a:spcBef>
              <a:spcAft>
                <a:spcPts val="0"/>
              </a:spcAft>
              <a:buSzPts val="1400"/>
              <a:buChar char="○"/>
            </a:pPr>
            <a:r>
              <a:rPr b="1" lang="en">
                <a:solidFill>
                  <a:srgbClr val="188038"/>
                </a:solidFill>
                <a:latin typeface="DM Sans"/>
                <a:ea typeface="DM Sans"/>
                <a:cs typeface="DM Sans"/>
                <a:sym typeface="DM Sans"/>
              </a:rPr>
              <a:t>DATEDIF</a:t>
            </a:r>
            <a:r>
              <a:rPr b="1" lang="en">
                <a:latin typeface="DM Sans"/>
                <a:ea typeface="DM Sans"/>
                <a:cs typeface="DM Sans"/>
                <a:sym typeface="DM Sans"/>
              </a:rPr>
              <a:t> </a:t>
            </a:r>
            <a:r>
              <a:rPr lang="en">
                <a:latin typeface="DM Sans"/>
                <a:ea typeface="DM Sans"/>
                <a:cs typeface="DM Sans"/>
                <a:sym typeface="DM Sans"/>
              </a:rPr>
              <a:t>handles leap years internally. For example, February 29 in a leap year will be taken into account when calculating date differences.</a:t>
            </a:r>
            <a:endParaRPr>
              <a:latin typeface="DM Sans"/>
              <a:ea typeface="DM Sans"/>
              <a:cs typeface="DM Sans"/>
              <a:sym typeface="DM Sans"/>
            </a:endParaRPr>
          </a:p>
          <a:p>
            <a:pPr indent="-317500" lvl="0" marL="457200" rtl="0" algn="l">
              <a:lnSpc>
                <a:spcPct val="150000"/>
              </a:lnSpc>
              <a:spcBef>
                <a:spcPts val="0"/>
              </a:spcBef>
              <a:spcAft>
                <a:spcPts val="0"/>
              </a:spcAft>
              <a:buSzPts val="1400"/>
              <a:buFont typeface="DM Sans"/>
              <a:buAutoNum type="arabicPeriod"/>
            </a:pPr>
            <a:r>
              <a:rPr b="1" lang="en">
                <a:latin typeface="DM Sans"/>
                <a:ea typeface="DM Sans"/>
                <a:cs typeface="DM Sans"/>
                <a:sym typeface="DM Sans"/>
              </a:rPr>
              <a:t>Partial Dates:</a:t>
            </a:r>
            <a:endParaRPr b="1">
              <a:latin typeface="DM Sans"/>
              <a:ea typeface="DM Sans"/>
              <a:cs typeface="DM Sans"/>
              <a:sym typeface="DM Sans"/>
            </a:endParaRPr>
          </a:p>
          <a:p>
            <a:pPr indent="-317500" lvl="1" marL="914400" rtl="0" algn="l">
              <a:lnSpc>
                <a:spcPct val="150000"/>
              </a:lnSpc>
              <a:spcBef>
                <a:spcPts val="0"/>
              </a:spcBef>
              <a:spcAft>
                <a:spcPts val="0"/>
              </a:spcAft>
              <a:buSzPts val="1400"/>
              <a:buFont typeface="DM Sans"/>
              <a:buChar char="○"/>
            </a:pPr>
            <a:r>
              <a:rPr lang="en">
                <a:latin typeface="DM Sans"/>
                <a:ea typeface="DM Sans"/>
                <a:cs typeface="DM Sans"/>
                <a:sym typeface="DM Sans"/>
              </a:rPr>
              <a:t>The function counts only complete units. For example, if the date difference is 1 year and 2 months, it won’t count the partial month as an additional full year.</a:t>
            </a:r>
            <a:endParaRPr b="1">
              <a:latin typeface="DM Sans"/>
              <a:ea typeface="DM Sans"/>
              <a:cs typeface="DM Sans"/>
              <a:sym typeface="DM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8"/>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75" name="Google Shape;375;p58"/>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latin typeface="DM Sans"/>
                <a:ea typeface="DM Sans"/>
                <a:cs typeface="DM Sans"/>
                <a:sym typeface="DM Sans"/>
              </a:rPr>
              <a:t>Use Cases for Date Differences</a:t>
            </a:r>
            <a:endParaRPr sz="2500">
              <a:latin typeface="DM Sans"/>
              <a:ea typeface="DM Sans"/>
              <a:cs typeface="DM Sans"/>
              <a:sym typeface="DM Sans"/>
            </a:endParaRPr>
          </a:p>
        </p:txBody>
      </p:sp>
      <p:cxnSp>
        <p:nvCxnSpPr>
          <p:cNvPr id="376" name="Google Shape;376;p58"/>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77" name="Google Shape;377;p58"/>
          <p:cNvSpPr txBox="1"/>
          <p:nvPr/>
        </p:nvSpPr>
        <p:spPr>
          <a:xfrm>
            <a:off x="337100" y="1250263"/>
            <a:ext cx="8574600" cy="34170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1200"/>
              </a:spcBef>
              <a:spcAft>
                <a:spcPts val="0"/>
              </a:spcAft>
              <a:buSzPts val="1200"/>
              <a:buFont typeface="DM Sans"/>
              <a:buAutoNum type="arabicPeriod"/>
            </a:pPr>
            <a:r>
              <a:rPr b="1" lang="en" sz="1200">
                <a:latin typeface="DM Sans"/>
                <a:ea typeface="DM Sans"/>
                <a:cs typeface="DM Sans"/>
                <a:sym typeface="DM Sans"/>
              </a:rPr>
              <a:t>Project Management:</a:t>
            </a:r>
            <a:endParaRPr b="1" sz="1200">
              <a:latin typeface="DM Sans"/>
              <a:ea typeface="DM Sans"/>
              <a:cs typeface="DM Sans"/>
              <a:sym typeface="DM Sans"/>
            </a:endParaRPr>
          </a:p>
          <a:p>
            <a:pPr indent="-304800" lvl="1" marL="914400" rtl="0" algn="l">
              <a:lnSpc>
                <a:spcPct val="150000"/>
              </a:lnSpc>
              <a:spcBef>
                <a:spcPts val="0"/>
              </a:spcBef>
              <a:spcAft>
                <a:spcPts val="0"/>
              </a:spcAft>
              <a:buSzPts val="1200"/>
              <a:buFont typeface="DM Sans"/>
              <a:buChar char="○"/>
            </a:pPr>
            <a:r>
              <a:rPr lang="en" sz="1200">
                <a:latin typeface="DM Sans"/>
                <a:ea typeface="DM Sans"/>
                <a:cs typeface="DM Sans"/>
                <a:sym typeface="DM Sans"/>
              </a:rPr>
              <a:t>When calculating project timelines, you can use </a:t>
            </a:r>
            <a:r>
              <a:rPr lang="en" sz="1200">
                <a:solidFill>
                  <a:srgbClr val="188038"/>
                </a:solidFill>
                <a:latin typeface="DM Sans"/>
                <a:ea typeface="DM Sans"/>
                <a:cs typeface="DM Sans"/>
                <a:sym typeface="DM Sans"/>
              </a:rPr>
              <a:t>DATEDIF</a:t>
            </a:r>
            <a:r>
              <a:rPr lang="en" sz="1200">
                <a:latin typeface="DM Sans"/>
                <a:ea typeface="DM Sans"/>
                <a:cs typeface="DM Sans"/>
                <a:sym typeface="DM Sans"/>
              </a:rPr>
              <a:t> to calculate the number of days, months, or years between the project start and end date.</a:t>
            </a:r>
            <a:endParaRPr sz="1200">
              <a:latin typeface="DM Sans"/>
              <a:ea typeface="DM Sans"/>
              <a:cs typeface="DM Sans"/>
              <a:sym typeface="DM Sans"/>
            </a:endParaRPr>
          </a:p>
          <a:p>
            <a:pPr indent="-304800" lvl="0" marL="457200" rtl="0" algn="l">
              <a:lnSpc>
                <a:spcPct val="150000"/>
              </a:lnSpc>
              <a:spcBef>
                <a:spcPts val="0"/>
              </a:spcBef>
              <a:spcAft>
                <a:spcPts val="0"/>
              </a:spcAft>
              <a:buSzPts val="1200"/>
              <a:buFont typeface="DM Sans"/>
              <a:buAutoNum type="arabicPeriod"/>
            </a:pPr>
            <a:r>
              <a:rPr b="1" lang="en" sz="1200">
                <a:latin typeface="DM Sans"/>
                <a:ea typeface="DM Sans"/>
                <a:cs typeface="DM Sans"/>
                <a:sym typeface="DM Sans"/>
              </a:rPr>
              <a:t>Employee Tenure:</a:t>
            </a:r>
            <a:endParaRPr b="1" sz="1200">
              <a:latin typeface="DM Sans"/>
              <a:ea typeface="DM Sans"/>
              <a:cs typeface="DM Sans"/>
              <a:sym typeface="DM Sans"/>
            </a:endParaRPr>
          </a:p>
          <a:p>
            <a:pPr indent="-304800" lvl="1" marL="914400" rtl="0" algn="l">
              <a:lnSpc>
                <a:spcPct val="150000"/>
              </a:lnSpc>
              <a:spcBef>
                <a:spcPts val="0"/>
              </a:spcBef>
              <a:spcAft>
                <a:spcPts val="0"/>
              </a:spcAft>
              <a:buSzPts val="1200"/>
              <a:buFont typeface="DM Sans"/>
              <a:buChar char="○"/>
            </a:pPr>
            <a:r>
              <a:rPr lang="en" sz="1200">
                <a:latin typeface="DM Sans"/>
                <a:ea typeface="DM Sans"/>
                <a:cs typeface="DM Sans"/>
                <a:sym typeface="DM Sans"/>
              </a:rPr>
              <a:t>To calculate the number of years an employee has worked in a company, you can use </a:t>
            </a:r>
            <a:r>
              <a:rPr lang="en" sz="1200">
                <a:solidFill>
                  <a:srgbClr val="188038"/>
                </a:solidFill>
                <a:latin typeface="DM Sans"/>
                <a:ea typeface="DM Sans"/>
                <a:cs typeface="DM Sans"/>
                <a:sym typeface="DM Sans"/>
              </a:rPr>
              <a:t>DATEDIF</a:t>
            </a:r>
            <a:r>
              <a:rPr lang="en" sz="1200">
                <a:latin typeface="DM Sans"/>
                <a:ea typeface="DM Sans"/>
                <a:cs typeface="DM Sans"/>
                <a:sym typeface="DM Sans"/>
              </a:rPr>
              <a:t> between the employee's start date and today’s date.</a:t>
            </a:r>
            <a:endParaRPr sz="1200">
              <a:latin typeface="DM Sans"/>
              <a:ea typeface="DM Sans"/>
              <a:cs typeface="DM Sans"/>
              <a:sym typeface="DM Sans"/>
            </a:endParaRPr>
          </a:p>
          <a:p>
            <a:pPr indent="-304800" lvl="0" marL="457200" rtl="0" algn="l">
              <a:lnSpc>
                <a:spcPct val="150000"/>
              </a:lnSpc>
              <a:spcBef>
                <a:spcPts val="0"/>
              </a:spcBef>
              <a:spcAft>
                <a:spcPts val="0"/>
              </a:spcAft>
              <a:buClr>
                <a:schemeClr val="dk1"/>
              </a:buClr>
              <a:buSzPts val="1200"/>
              <a:buFont typeface="DM Sans"/>
              <a:buAutoNum type="arabicPeriod"/>
            </a:pPr>
            <a:r>
              <a:rPr b="1" lang="en" sz="1200">
                <a:solidFill>
                  <a:schemeClr val="dk1"/>
                </a:solidFill>
                <a:latin typeface="DM Sans"/>
                <a:ea typeface="DM Sans"/>
                <a:cs typeface="DM Sans"/>
                <a:sym typeface="DM Sans"/>
              </a:rPr>
              <a:t>Loan Repayment:</a:t>
            </a:r>
            <a:endParaRPr b="1" sz="1200">
              <a:solidFill>
                <a:schemeClr val="dk1"/>
              </a:solidFill>
              <a:latin typeface="DM Sans"/>
              <a:ea typeface="DM Sans"/>
              <a:cs typeface="DM Sans"/>
              <a:sym typeface="DM Sans"/>
            </a:endParaRPr>
          </a:p>
          <a:p>
            <a:pPr indent="-304800" lvl="1" marL="914400" rtl="0" algn="l">
              <a:lnSpc>
                <a:spcPct val="150000"/>
              </a:lnSpc>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If you're calculating the number of months left on a loan, </a:t>
            </a:r>
            <a:r>
              <a:rPr lang="en" sz="1200">
                <a:solidFill>
                  <a:srgbClr val="188038"/>
                </a:solidFill>
                <a:latin typeface="DM Sans"/>
                <a:ea typeface="DM Sans"/>
                <a:cs typeface="DM Sans"/>
                <a:sym typeface="DM Sans"/>
              </a:rPr>
              <a:t>DATEDIF</a:t>
            </a:r>
            <a:r>
              <a:rPr lang="en" sz="1200">
                <a:solidFill>
                  <a:schemeClr val="dk1"/>
                </a:solidFill>
                <a:latin typeface="DM Sans"/>
                <a:ea typeface="DM Sans"/>
                <a:cs typeface="DM Sans"/>
                <a:sym typeface="DM Sans"/>
              </a:rPr>
              <a:t> can help find the time difference between the loan origination date and the current date.</a:t>
            </a:r>
            <a:endParaRPr sz="1200">
              <a:solidFill>
                <a:schemeClr val="dk1"/>
              </a:solidFill>
              <a:latin typeface="DM Sans"/>
              <a:ea typeface="DM Sans"/>
              <a:cs typeface="DM Sans"/>
              <a:sym typeface="DM Sans"/>
            </a:endParaRPr>
          </a:p>
          <a:p>
            <a:pPr indent="-304800" lvl="0" marL="457200" rtl="0" algn="l">
              <a:lnSpc>
                <a:spcPct val="150000"/>
              </a:lnSpc>
              <a:spcBef>
                <a:spcPts val="0"/>
              </a:spcBef>
              <a:spcAft>
                <a:spcPts val="0"/>
              </a:spcAft>
              <a:buClr>
                <a:schemeClr val="dk1"/>
              </a:buClr>
              <a:buSzPts val="1200"/>
              <a:buFont typeface="DM Sans"/>
              <a:buAutoNum type="arabicPeriod"/>
            </a:pPr>
            <a:r>
              <a:rPr b="1" lang="en" sz="1200">
                <a:solidFill>
                  <a:schemeClr val="dk1"/>
                </a:solidFill>
                <a:latin typeface="DM Sans"/>
                <a:ea typeface="DM Sans"/>
                <a:cs typeface="DM Sans"/>
                <a:sym typeface="DM Sans"/>
              </a:rPr>
              <a:t>Subscription Renewals:</a:t>
            </a:r>
            <a:endParaRPr b="1" sz="1200">
              <a:solidFill>
                <a:schemeClr val="dk1"/>
              </a:solidFill>
              <a:latin typeface="DM Sans"/>
              <a:ea typeface="DM Sans"/>
              <a:cs typeface="DM Sans"/>
              <a:sym typeface="DM Sans"/>
            </a:endParaRPr>
          </a:p>
          <a:p>
            <a:pPr indent="-304800" lvl="1" marL="914400" rtl="0" algn="l">
              <a:lnSpc>
                <a:spcPct val="150000"/>
              </a:lnSpc>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If a subscription period is defined by months, you can calculate the number of months remaining before the subscription expires using </a:t>
            </a:r>
            <a:r>
              <a:rPr lang="en" sz="1200">
                <a:solidFill>
                  <a:srgbClr val="188038"/>
                </a:solidFill>
                <a:latin typeface="DM Sans"/>
                <a:ea typeface="DM Sans"/>
                <a:cs typeface="DM Sans"/>
                <a:sym typeface="DM Sans"/>
              </a:rPr>
              <a:t>DATEDIF</a:t>
            </a:r>
            <a:r>
              <a:rPr lang="en" sz="1200">
                <a:solidFill>
                  <a:schemeClr val="dk1"/>
                </a:solidFill>
                <a:latin typeface="DM Sans"/>
                <a:ea typeface="DM Sans"/>
                <a:cs typeface="DM Sans"/>
                <a:sym typeface="DM Sans"/>
              </a:rPr>
              <a:t>.</a:t>
            </a:r>
            <a:endParaRPr sz="1200">
              <a:latin typeface="DM Sans"/>
              <a:ea typeface="DM Sans"/>
              <a:cs typeface="DM Sans"/>
              <a:sym typeface="DM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9"/>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83" name="Google Shape;383;p59"/>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Useful Excel Formulas</a:t>
            </a:r>
            <a:endParaRPr b="1" sz="2500">
              <a:latin typeface="DM Sans"/>
              <a:ea typeface="DM Sans"/>
              <a:cs typeface="DM Sans"/>
              <a:sym typeface="DM Sans"/>
            </a:endParaRPr>
          </a:p>
        </p:txBody>
      </p:sp>
      <p:cxnSp>
        <p:nvCxnSpPr>
          <p:cNvPr id="384" name="Google Shape;384;p59"/>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85" name="Google Shape;385;p59"/>
          <p:cNvSpPr txBox="1"/>
          <p:nvPr/>
        </p:nvSpPr>
        <p:spPr>
          <a:xfrm>
            <a:off x="337100" y="1393825"/>
            <a:ext cx="8574600" cy="22320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1000"/>
              </a:spcBef>
              <a:spcAft>
                <a:spcPts val="0"/>
              </a:spcAft>
              <a:buSzPts val="1400"/>
              <a:buChar char="●"/>
            </a:pPr>
            <a:r>
              <a:rPr b="1" lang="en">
                <a:latin typeface="DM Sans"/>
                <a:ea typeface="DM Sans"/>
                <a:cs typeface="DM Sans"/>
                <a:sym typeface="DM Sans"/>
              </a:rPr>
              <a:t>TODAY()</a:t>
            </a:r>
            <a:r>
              <a:rPr lang="en">
                <a:latin typeface="DM Sans"/>
                <a:ea typeface="DM Sans"/>
                <a:cs typeface="DM Sans"/>
                <a:sym typeface="DM Sans"/>
              </a:rPr>
              <a:t>: Returns the current date</a:t>
            </a:r>
            <a:endParaRPr>
              <a:latin typeface="DM Sans"/>
              <a:ea typeface="DM Sans"/>
              <a:cs typeface="DM Sans"/>
              <a:sym typeface="DM Sans"/>
            </a:endParaRPr>
          </a:p>
          <a:p>
            <a:pPr indent="-317500" lvl="0" marL="457200" rtl="0" algn="l">
              <a:lnSpc>
                <a:spcPct val="150000"/>
              </a:lnSpc>
              <a:spcBef>
                <a:spcPts val="1200"/>
              </a:spcBef>
              <a:spcAft>
                <a:spcPts val="0"/>
              </a:spcAft>
              <a:buSzPts val="1400"/>
              <a:buChar char="●"/>
            </a:pPr>
            <a:r>
              <a:rPr b="1" lang="en">
                <a:latin typeface="DM Sans"/>
                <a:ea typeface="DM Sans"/>
                <a:cs typeface="DM Sans"/>
                <a:sym typeface="DM Sans"/>
              </a:rPr>
              <a:t>NOW()</a:t>
            </a:r>
            <a:r>
              <a:rPr lang="en">
                <a:latin typeface="DM Sans"/>
                <a:ea typeface="DM Sans"/>
                <a:cs typeface="DM Sans"/>
                <a:sym typeface="DM Sans"/>
              </a:rPr>
              <a:t>: Returns the current date and time</a:t>
            </a:r>
            <a:endParaRPr>
              <a:latin typeface="DM Sans"/>
              <a:ea typeface="DM Sans"/>
              <a:cs typeface="DM Sans"/>
              <a:sym typeface="DM Sans"/>
            </a:endParaRPr>
          </a:p>
          <a:p>
            <a:pPr indent="-317500" lvl="0" marL="457200" rtl="0" algn="l">
              <a:lnSpc>
                <a:spcPct val="150000"/>
              </a:lnSpc>
              <a:spcBef>
                <a:spcPts val="1000"/>
              </a:spcBef>
              <a:spcAft>
                <a:spcPts val="0"/>
              </a:spcAft>
              <a:buSzPts val="1400"/>
              <a:buChar char="●"/>
            </a:pPr>
            <a:r>
              <a:rPr b="1" lang="en">
                <a:latin typeface="DM Sans"/>
                <a:ea typeface="DM Sans"/>
                <a:cs typeface="DM Sans"/>
                <a:sym typeface="DM Sans"/>
              </a:rPr>
              <a:t>DATE(year, month, day)</a:t>
            </a:r>
            <a:r>
              <a:rPr lang="en">
                <a:latin typeface="DM Sans"/>
                <a:ea typeface="DM Sans"/>
                <a:cs typeface="DM Sans"/>
                <a:sym typeface="DM Sans"/>
              </a:rPr>
              <a:t>: Creates a date</a:t>
            </a:r>
            <a:endParaRPr>
              <a:latin typeface="DM Sans"/>
              <a:ea typeface="DM Sans"/>
              <a:cs typeface="DM Sans"/>
              <a:sym typeface="DM Sans"/>
            </a:endParaRPr>
          </a:p>
          <a:p>
            <a:pPr indent="-317500" lvl="0" marL="457200" rtl="0" algn="l">
              <a:lnSpc>
                <a:spcPct val="150000"/>
              </a:lnSpc>
              <a:spcBef>
                <a:spcPts val="1000"/>
              </a:spcBef>
              <a:spcAft>
                <a:spcPts val="0"/>
              </a:spcAft>
              <a:buSzPts val="1400"/>
              <a:buChar char="●"/>
            </a:pPr>
            <a:r>
              <a:rPr b="1" lang="en">
                <a:latin typeface="DM Sans"/>
                <a:ea typeface="DM Sans"/>
                <a:cs typeface="DM Sans"/>
                <a:sym typeface="DM Sans"/>
              </a:rPr>
              <a:t>TIME(hour, minute, second)</a:t>
            </a:r>
            <a:r>
              <a:rPr lang="en">
                <a:latin typeface="DM Sans"/>
                <a:ea typeface="DM Sans"/>
                <a:cs typeface="DM Sans"/>
                <a:sym typeface="DM Sans"/>
              </a:rPr>
              <a:t>: Creates a time</a:t>
            </a:r>
            <a:endParaRPr>
              <a:latin typeface="DM Sans"/>
              <a:ea typeface="DM Sans"/>
              <a:cs typeface="DM Sans"/>
              <a:sym typeface="DM Sans"/>
            </a:endParaRPr>
          </a:p>
          <a:p>
            <a:pPr indent="-317500" lvl="0" marL="457200" rtl="0" algn="l">
              <a:lnSpc>
                <a:spcPct val="150000"/>
              </a:lnSpc>
              <a:spcBef>
                <a:spcPts val="1000"/>
              </a:spcBef>
              <a:spcAft>
                <a:spcPts val="1200"/>
              </a:spcAft>
              <a:buSzPts val="1400"/>
              <a:buChar char="●"/>
            </a:pPr>
            <a:r>
              <a:rPr b="1" lang="en">
                <a:latin typeface="DM Sans"/>
                <a:ea typeface="DM Sans"/>
                <a:cs typeface="DM Sans"/>
                <a:sym typeface="DM Sans"/>
              </a:rPr>
              <a:t>TEXT(date, 'format')</a:t>
            </a:r>
            <a:r>
              <a:rPr lang="en">
                <a:latin typeface="DM Sans"/>
                <a:ea typeface="DM Sans"/>
                <a:cs typeface="DM Sans"/>
                <a:sym typeface="DM Sans"/>
              </a:rPr>
              <a:t>: Formats a date</a:t>
            </a:r>
            <a:endParaRPr>
              <a:latin typeface="DM Sans"/>
              <a:ea typeface="DM Sans"/>
              <a:cs typeface="DM Sans"/>
              <a:sym typeface="DM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0"/>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91" name="Google Shape;391;p60"/>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Extracting Date and Time Components</a:t>
            </a:r>
            <a:endParaRPr b="1" sz="2500">
              <a:latin typeface="DM Sans"/>
              <a:ea typeface="DM Sans"/>
              <a:cs typeface="DM Sans"/>
              <a:sym typeface="DM Sans"/>
            </a:endParaRPr>
          </a:p>
        </p:txBody>
      </p:sp>
      <p:cxnSp>
        <p:nvCxnSpPr>
          <p:cNvPr id="392" name="Google Shape;392;p60"/>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393" name="Google Shape;393;p60"/>
          <p:cNvSpPr txBox="1"/>
          <p:nvPr/>
        </p:nvSpPr>
        <p:spPr>
          <a:xfrm>
            <a:off x="337100" y="1393825"/>
            <a:ext cx="8574600" cy="22320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1000"/>
              </a:spcBef>
              <a:spcAft>
                <a:spcPts val="0"/>
              </a:spcAft>
              <a:buSzPts val="1400"/>
              <a:buChar char="●"/>
            </a:pPr>
            <a:r>
              <a:rPr b="1" lang="en">
                <a:latin typeface="DM Sans"/>
                <a:ea typeface="DM Sans"/>
                <a:cs typeface="DM Sans"/>
                <a:sym typeface="DM Sans"/>
              </a:rPr>
              <a:t>YEAR(date)</a:t>
            </a:r>
            <a:r>
              <a:rPr lang="en">
                <a:latin typeface="DM Sans"/>
                <a:ea typeface="DM Sans"/>
                <a:cs typeface="DM Sans"/>
                <a:sym typeface="DM Sans"/>
              </a:rPr>
              <a:t>: Returns the year of a date.</a:t>
            </a:r>
            <a:endParaRPr>
              <a:latin typeface="DM Sans"/>
              <a:ea typeface="DM Sans"/>
              <a:cs typeface="DM Sans"/>
              <a:sym typeface="DM Sans"/>
            </a:endParaRPr>
          </a:p>
          <a:p>
            <a:pPr indent="-317500" lvl="0" marL="457200" rtl="0" algn="l">
              <a:lnSpc>
                <a:spcPct val="150000"/>
              </a:lnSpc>
              <a:spcBef>
                <a:spcPts val="1200"/>
              </a:spcBef>
              <a:spcAft>
                <a:spcPts val="0"/>
              </a:spcAft>
              <a:buSzPts val="1400"/>
              <a:buChar char="●"/>
            </a:pPr>
            <a:r>
              <a:rPr b="1" lang="en">
                <a:latin typeface="DM Sans"/>
                <a:ea typeface="DM Sans"/>
                <a:cs typeface="DM Sans"/>
                <a:sym typeface="DM Sans"/>
              </a:rPr>
              <a:t>MONTH(date)</a:t>
            </a:r>
            <a:r>
              <a:rPr lang="en">
                <a:latin typeface="DM Sans"/>
                <a:ea typeface="DM Sans"/>
                <a:cs typeface="DM Sans"/>
                <a:sym typeface="DM Sans"/>
              </a:rPr>
              <a:t>: Returns the month of a date.</a:t>
            </a:r>
            <a:endParaRPr>
              <a:latin typeface="DM Sans"/>
              <a:ea typeface="DM Sans"/>
              <a:cs typeface="DM Sans"/>
              <a:sym typeface="DM Sans"/>
            </a:endParaRPr>
          </a:p>
          <a:p>
            <a:pPr indent="-317500" lvl="0" marL="457200" rtl="0" algn="l">
              <a:lnSpc>
                <a:spcPct val="150000"/>
              </a:lnSpc>
              <a:spcBef>
                <a:spcPts val="1000"/>
              </a:spcBef>
              <a:spcAft>
                <a:spcPts val="0"/>
              </a:spcAft>
              <a:buSzPts val="1400"/>
              <a:buChar char="●"/>
            </a:pPr>
            <a:r>
              <a:rPr b="1" lang="en">
                <a:latin typeface="DM Sans"/>
                <a:ea typeface="DM Sans"/>
                <a:cs typeface="DM Sans"/>
                <a:sym typeface="DM Sans"/>
              </a:rPr>
              <a:t>DAY(date)</a:t>
            </a:r>
            <a:r>
              <a:rPr lang="en">
                <a:latin typeface="DM Sans"/>
                <a:ea typeface="DM Sans"/>
                <a:cs typeface="DM Sans"/>
                <a:sym typeface="DM Sans"/>
              </a:rPr>
              <a:t>: Returns the day of the month of a date.</a:t>
            </a:r>
            <a:endParaRPr>
              <a:latin typeface="DM Sans"/>
              <a:ea typeface="DM Sans"/>
              <a:cs typeface="DM Sans"/>
              <a:sym typeface="DM Sans"/>
            </a:endParaRPr>
          </a:p>
          <a:p>
            <a:pPr indent="-317500" lvl="0" marL="457200" rtl="0" algn="l">
              <a:lnSpc>
                <a:spcPct val="150000"/>
              </a:lnSpc>
              <a:spcBef>
                <a:spcPts val="1000"/>
              </a:spcBef>
              <a:spcAft>
                <a:spcPts val="0"/>
              </a:spcAft>
              <a:buSzPts val="1400"/>
              <a:buChar char="●"/>
            </a:pPr>
            <a:r>
              <a:rPr b="1" lang="en">
                <a:latin typeface="DM Sans"/>
                <a:ea typeface="DM Sans"/>
                <a:cs typeface="DM Sans"/>
                <a:sym typeface="DM Sans"/>
              </a:rPr>
              <a:t>HOUR(time)</a:t>
            </a:r>
            <a:r>
              <a:rPr lang="en">
                <a:latin typeface="DM Sans"/>
                <a:ea typeface="DM Sans"/>
                <a:cs typeface="DM Sans"/>
                <a:sym typeface="DM Sans"/>
              </a:rPr>
              <a:t>: Returns the hour of a time.</a:t>
            </a:r>
            <a:endParaRPr>
              <a:latin typeface="DM Sans"/>
              <a:ea typeface="DM Sans"/>
              <a:cs typeface="DM Sans"/>
              <a:sym typeface="DM Sans"/>
            </a:endParaRPr>
          </a:p>
          <a:p>
            <a:pPr indent="-317500" lvl="0" marL="457200" rtl="0" algn="l">
              <a:lnSpc>
                <a:spcPct val="150000"/>
              </a:lnSpc>
              <a:spcBef>
                <a:spcPts val="1000"/>
              </a:spcBef>
              <a:spcAft>
                <a:spcPts val="1200"/>
              </a:spcAft>
              <a:buSzPts val="1400"/>
              <a:buChar char="●"/>
            </a:pPr>
            <a:r>
              <a:rPr b="1" lang="en">
                <a:latin typeface="DM Sans"/>
                <a:ea typeface="DM Sans"/>
                <a:cs typeface="DM Sans"/>
                <a:sym typeface="DM Sans"/>
              </a:rPr>
              <a:t>MINUTE(time)</a:t>
            </a:r>
            <a:r>
              <a:rPr lang="en">
                <a:latin typeface="DM Sans"/>
                <a:ea typeface="DM Sans"/>
                <a:cs typeface="DM Sans"/>
                <a:sym typeface="DM Sans"/>
              </a:rPr>
              <a:t>: Returns the minute of a time.</a:t>
            </a:r>
            <a:endParaRPr b="1">
              <a:latin typeface="DM Sans"/>
              <a:ea typeface="DM Sans"/>
              <a:cs typeface="DM Sans"/>
              <a:sym typeface="DM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1"/>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399" name="Google Shape;399;p61"/>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Common Date Formats</a:t>
            </a:r>
            <a:endParaRPr b="1" sz="2500">
              <a:latin typeface="DM Sans"/>
              <a:ea typeface="DM Sans"/>
              <a:cs typeface="DM Sans"/>
              <a:sym typeface="DM Sans"/>
            </a:endParaRPr>
          </a:p>
        </p:txBody>
      </p:sp>
      <p:cxnSp>
        <p:nvCxnSpPr>
          <p:cNvPr id="400" name="Google Shape;400;p61"/>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401" name="Google Shape;401;p61"/>
          <p:cNvSpPr txBox="1"/>
          <p:nvPr/>
        </p:nvSpPr>
        <p:spPr>
          <a:xfrm>
            <a:off x="337100" y="1393825"/>
            <a:ext cx="2638500" cy="27783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1200"/>
              </a:spcBef>
              <a:spcAft>
                <a:spcPts val="0"/>
              </a:spcAft>
              <a:buSzPts val="1300"/>
              <a:buFont typeface="DM Sans"/>
              <a:buAutoNum type="arabicPeriod"/>
            </a:pPr>
            <a:r>
              <a:rPr b="1" lang="en" sz="1100">
                <a:latin typeface="DM Sans"/>
                <a:ea typeface="DM Sans"/>
                <a:cs typeface="DM Sans"/>
                <a:sym typeface="DM Sans"/>
              </a:rPr>
              <a:t>"dd-mmm-yyyy"</a:t>
            </a:r>
            <a:r>
              <a:rPr lang="en" sz="1100">
                <a:latin typeface="DM Sans"/>
                <a:ea typeface="DM Sans"/>
                <a:cs typeface="DM Sans"/>
                <a:sym typeface="DM Sans"/>
              </a:rPr>
              <a:t>: Day-Month-Year (e.g., 22-Jan-2025)</a:t>
            </a:r>
            <a:endParaRPr sz="1100">
              <a:latin typeface="DM Sans"/>
              <a:ea typeface="DM Sans"/>
              <a:cs typeface="DM Sans"/>
              <a:sym typeface="DM Sans"/>
            </a:endParaRPr>
          </a:p>
          <a:p>
            <a:pPr indent="-311150" lvl="0" marL="457200" rtl="0" algn="l">
              <a:lnSpc>
                <a:spcPct val="150000"/>
              </a:lnSpc>
              <a:spcBef>
                <a:spcPts val="0"/>
              </a:spcBef>
              <a:spcAft>
                <a:spcPts val="0"/>
              </a:spcAft>
              <a:buSzPts val="1300"/>
              <a:buFont typeface="DM Sans"/>
              <a:buAutoNum type="arabicPeriod"/>
            </a:pPr>
            <a:r>
              <a:rPr b="1" lang="en" sz="1100">
                <a:latin typeface="DM Sans"/>
                <a:ea typeface="DM Sans"/>
                <a:cs typeface="DM Sans"/>
                <a:sym typeface="DM Sans"/>
              </a:rPr>
              <a:t>"mm/dd/yyyy"</a:t>
            </a:r>
            <a:r>
              <a:rPr lang="en" sz="1100">
                <a:latin typeface="DM Sans"/>
                <a:ea typeface="DM Sans"/>
                <a:cs typeface="DM Sans"/>
                <a:sym typeface="DM Sans"/>
              </a:rPr>
              <a:t>: Month/Day/Year (e.g., 01/22/2025)</a:t>
            </a:r>
            <a:endParaRPr sz="1100">
              <a:latin typeface="DM Sans"/>
              <a:ea typeface="DM Sans"/>
              <a:cs typeface="DM Sans"/>
              <a:sym typeface="DM Sans"/>
            </a:endParaRPr>
          </a:p>
          <a:p>
            <a:pPr indent="-311150" lvl="0" marL="457200" rtl="0" algn="l">
              <a:lnSpc>
                <a:spcPct val="150000"/>
              </a:lnSpc>
              <a:spcBef>
                <a:spcPts val="0"/>
              </a:spcBef>
              <a:spcAft>
                <a:spcPts val="0"/>
              </a:spcAft>
              <a:buSzPts val="1300"/>
              <a:buFont typeface="DM Sans"/>
              <a:buAutoNum type="arabicPeriod"/>
            </a:pPr>
            <a:r>
              <a:rPr b="1" lang="en" sz="1100">
                <a:latin typeface="DM Sans"/>
                <a:ea typeface="DM Sans"/>
                <a:cs typeface="DM Sans"/>
                <a:sym typeface="DM Sans"/>
              </a:rPr>
              <a:t>"dddd, mmmm dd, yyyy"</a:t>
            </a:r>
            <a:r>
              <a:rPr lang="en" sz="1100">
                <a:latin typeface="DM Sans"/>
                <a:ea typeface="DM Sans"/>
                <a:cs typeface="DM Sans"/>
                <a:sym typeface="DM Sans"/>
              </a:rPr>
              <a:t>: Full weekday name, full month name, day, year (e.g., Monday, January 22, 2025)</a:t>
            </a:r>
            <a:endParaRPr>
              <a:latin typeface="DM Sans"/>
              <a:ea typeface="DM Sans"/>
              <a:cs typeface="DM Sans"/>
              <a:sym typeface="DM Sans"/>
            </a:endParaRPr>
          </a:p>
        </p:txBody>
      </p:sp>
      <p:pic>
        <p:nvPicPr>
          <p:cNvPr id="402" name="Google Shape;402;p61"/>
          <p:cNvPicPr preferRelativeResize="0"/>
          <p:nvPr/>
        </p:nvPicPr>
        <p:blipFill>
          <a:blip r:embed="rId3">
            <a:alphaModFix/>
          </a:blip>
          <a:stretch>
            <a:fillRect/>
          </a:stretch>
        </p:blipFill>
        <p:spPr>
          <a:xfrm>
            <a:off x="3438725" y="1294603"/>
            <a:ext cx="5147676" cy="34727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2"/>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Common Time Formats</a:t>
            </a:r>
            <a:endParaRPr b="1" sz="2500">
              <a:latin typeface="DM Sans"/>
              <a:ea typeface="DM Sans"/>
              <a:cs typeface="DM Sans"/>
              <a:sym typeface="DM Sans"/>
            </a:endParaRPr>
          </a:p>
        </p:txBody>
      </p:sp>
      <p:cxnSp>
        <p:nvCxnSpPr>
          <p:cNvPr id="408" name="Google Shape;408;p62"/>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409" name="Google Shape;409;p62"/>
          <p:cNvSpPr txBox="1"/>
          <p:nvPr/>
        </p:nvSpPr>
        <p:spPr>
          <a:xfrm>
            <a:off x="337100" y="1393825"/>
            <a:ext cx="4556100" cy="28023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1200"/>
              </a:spcBef>
              <a:spcAft>
                <a:spcPts val="0"/>
              </a:spcAft>
              <a:buSzPts val="1400"/>
              <a:buFont typeface="DM Sans"/>
              <a:buAutoNum type="arabicPeriod"/>
            </a:pPr>
            <a:r>
              <a:rPr b="1" lang="en">
                <a:latin typeface="Montserrat"/>
                <a:ea typeface="Montserrat"/>
                <a:cs typeface="Montserrat"/>
                <a:sym typeface="Montserrat"/>
              </a:rPr>
              <a:t>"hh:mm AM/PM"</a:t>
            </a:r>
            <a:r>
              <a:rPr lang="en">
                <a:latin typeface="Montserrat"/>
                <a:ea typeface="Montserrat"/>
                <a:cs typeface="Montserrat"/>
                <a:sym typeface="Montserrat"/>
              </a:rPr>
              <a:t>: 12-hour format with AM/PM (e.g., 12:30 PM)</a:t>
            </a:r>
            <a:endParaRPr>
              <a:latin typeface="Montserrat"/>
              <a:ea typeface="Montserrat"/>
              <a:cs typeface="Montserrat"/>
              <a:sym typeface="Montserrat"/>
            </a:endParaRPr>
          </a:p>
          <a:p>
            <a:pPr indent="-317500" lvl="0" marL="457200" rtl="0" algn="l">
              <a:lnSpc>
                <a:spcPct val="150000"/>
              </a:lnSpc>
              <a:spcBef>
                <a:spcPts val="0"/>
              </a:spcBef>
              <a:spcAft>
                <a:spcPts val="0"/>
              </a:spcAft>
              <a:buSzPts val="1400"/>
              <a:buFont typeface="DM Sans"/>
              <a:buAutoNum type="arabicPeriod"/>
            </a:pPr>
            <a:r>
              <a:rPr b="1" lang="en">
                <a:latin typeface="Montserrat"/>
                <a:ea typeface="Montserrat"/>
                <a:cs typeface="Montserrat"/>
                <a:sym typeface="Montserrat"/>
              </a:rPr>
              <a:t>"hh:mm:ss"</a:t>
            </a:r>
            <a:r>
              <a:rPr lang="en">
                <a:latin typeface="Montserrat"/>
                <a:ea typeface="Montserrat"/>
                <a:cs typeface="Montserrat"/>
                <a:sym typeface="Montserrat"/>
              </a:rPr>
              <a:t>: 24-hour format with hours, minutes, and seconds (e.g., 14:30:00)</a:t>
            </a:r>
            <a:endParaRPr b="1">
              <a:latin typeface="Montserrat"/>
              <a:ea typeface="Montserrat"/>
              <a:cs typeface="Montserrat"/>
              <a:sym typeface="Montserrat"/>
            </a:endParaRPr>
          </a:p>
        </p:txBody>
      </p:sp>
      <p:pic>
        <p:nvPicPr>
          <p:cNvPr id="410" name="Google Shape;410;p62"/>
          <p:cNvPicPr preferRelativeResize="0"/>
          <p:nvPr/>
        </p:nvPicPr>
        <p:blipFill>
          <a:blip r:embed="rId3">
            <a:alphaModFix/>
          </a:blip>
          <a:stretch>
            <a:fillRect/>
          </a:stretch>
        </p:blipFill>
        <p:spPr>
          <a:xfrm>
            <a:off x="5592125" y="0"/>
            <a:ext cx="3551875" cy="514349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3"/>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416" name="Google Shape;416;p63"/>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Common Time Formats</a:t>
            </a:r>
            <a:endParaRPr b="1" sz="2500">
              <a:latin typeface="DM Sans"/>
              <a:ea typeface="DM Sans"/>
              <a:cs typeface="DM Sans"/>
              <a:sym typeface="DM Sans"/>
            </a:endParaRPr>
          </a:p>
        </p:txBody>
      </p:sp>
      <p:cxnSp>
        <p:nvCxnSpPr>
          <p:cNvPr id="417" name="Google Shape;417;p63"/>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418" name="Google Shape;418;p63"/>
          <p:cNvSpPr txBox="1"/>
          <p:nvPr/>
        </p:nvSpPr>
        <p:spPr>
          <a:xfrm>
            <a:off x="337100" y="1393825"/>
            <a:ext cx="85746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a:latin typeface="Montserrat"/>
                <a:ea typeface="Montserrat"/>
                <a:cs typeface="Montserrat"/>
                <a:sym typeface="Montserrat"/>
              </a:rPr>
              <a:t>Example Table</a:t>
            </a:r>
            <a:endParaRPr b="1">
              <a:latin typeface="Montserrat"/>
              <a:ea typeface="Montserrat"/>
              <a:cs typeface="Montserrat"/>
              <a:sym typeface="Montserrat"/>
            </a:endParaRPr>
          </a:p>
        </p:txBody>
      </p:sp>
      <p:graphicFrame>
        <p:nvGraphicFramePr>
          <p:cNvPr id="419" name="Google Shape;419;p63"/>
          <p:cNvGraphicFramePr/>
          <p:nvPr/>
        </p:nvGraphicFramePr>
        <p:xfrm>
          <a:off x="457200" y="1909600"/>
          <a:ext cx="3000000" cy="3000000"/>
        </p:xfrm>
        <a:graphic>
          <a:graphicData uri="http://schemas.openxmlformats.org/drawingml/2006/table">
            <a:tbl>
              <a:tblPr>
                <a:noFill/>
                <a:tableStyleId>{6190B458-1E71-4F2B-88B4-514E9524A88F}</a:tableStyleId>
              </a:tblPr>
              <a:tblGrid>
                <a:gridCol w="1152000"/>
                <a:gridCol w="1653400"/>
                <a:gridCol w="1376150"/>
                <a:gridCol w="1152000"/>
                <a:gridCol w="1152000"/>
                <a:gridCol w="1152000"/>
              </a:tblGrid>
              <a:tr h="381000">
                <a:tc>
                  <a:txBody>
                    <a:bodyPr/>
                    <a:lstStyle/>
                    <a:p>
                      <a:pPr indent="0" lvl="0" marL="0" rtl="0" algn="l">
                        <a:spcBef>
                          <a:spcPts val="0"/>
                        </a:spcBef>
                        <a:spcAft>
                          <a:spcPts val="0"/>
                        </a:spcAft>
                        <a:buNone/>
                      </a:pPr>
                      <a:r>
                        <a:rPr b="1" lang="en" sz="1000">
                          <a:latin typeface="Montserrat"/>
                          <a:ea typeface="Montserrat"/>
                          <a:cs typeface="Montserrat"/>
                          <a:sym typeface="Montserrat"/>
                        </a:rPr>
                        <a:t>Original Date &amp; Time</a:t>
                      </a:r>
                      <a:endParaRPr b="1" sz="1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000">
                          <a:latin typeface="Montserrat"/>
                          <a:ea typeface="Montserrat"/>
                          <a:cs typeface="Montserrat"/>
                          <a:sym typeface="Montserrat"/>
                        </a:rPr>
                        <a:t>Formatted Date (dd-mmm-yyyy)</a:t>
                      </a:r>
                      <a:endParaRPr b="1" sz="1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000">
                          <a:latin typeface="Montserrat"/>
                          <a:ea typeface="Montserrat"/>
                          <a:cs typeface="Montserrat"/>
                          <a:sym typeface="Montserrat"/>
                        </a:rPr>
                        <a:t>Formatted Date (mm/dd/yyyy)</a:t>
                      </a:r>
                      <a:endParaRPr b="1" sz="1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000">
                          <a:latin typeface="Montserrat"/>
                          <a:ea typeface="Montserrat"/>
                          <a:cs typeface="Montserrat"/>
                          <a:sym typeface="Montserrat"/>
                        </a:rPr>
                        <a:t>Formatted Date (dddd, mmmm dd, yyyy)</a:t>
                      </a:r>
                      <a:endParaRPr b="1" sz="1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000">
                          <a:latin typeface="Montserrat"/>
                          <a:ea typeface="Montserrat"/>
                          <a:cs typeface="Montserrat"/>
                          <a:sym typeface="Montserrat"/>
                        </a:rPr>
                        <a:t>Formatted Time (hh:mm AM/PM)</a:t>
                      </a:r>
                      <a:endParaRPr b="1" sz="1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000">
                          <a:latin typeface="Montserrat"/>
                          <a:ea typeface="Montserrat"/>
                          <a:cs typeface="Montserrat"/>
                          <a:sym typeface="Montserrat"/>
                        </a:rPr>
                        <a:t>Formatted Time (hh:mm:ss)</a:t>
                      </a:r>
                      <a:endParaRPr b="1" sz="10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lang="en" sz="1000">
                          <a:latin typeface="Montserrat"/>
                          <a:ea typeface="Montserrat"/>
                          <a:cs typeface="Montserrat"/>
                          <a:sym typeface="Montserrat"/>
                        </a:rPr>
                        <a:t>2025-01-22 14:30:00</a:t>
                      </a:r>
                      <a:endParaRPr sz="1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=TEXT(A2, "dd-mmm-yyyy")</a:t>
                      </a:r>
                      <a:endParaRPr b="1" sz="1000">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b="1" sz="1000">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=TEXT(A2, "mm/dd/yyyy")</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=TEXT(A2, "dddd, mmmm dd, yyyy")</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=TEXT(A2, "hh:mm AM/PM")</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=TEXT(A2, "hh:mm:ss")</a:t>
                      </a:r>
                      <a:endParaRPr b="1" sz="1000">
                        <a:solidFill>
                          <a:srgbClr val="188038"/>
                        </a:solidFill>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en" sz="1000">
                          <a:latin typeface="Montserrat"/>
                          <a:ea typeface="Montserrat"/>
                          <a:cs typeface="Montserrat"/>
                          <a:sym typeface="Montserrat"/>
                        </a:rPr>
                        <a:t>2021-12-31 08:15:00</a:t>
                      </a:r>
                      <a:endParaRPr sz="1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=TEXT(A3, "dd-mmm-yyyy")</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=TEXT(A3, "mm/dd/yyyy")</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=TEXT(A3, "dddd, mmmm dd, yyyy")</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=TEXT(A3, "hh:mm AM/PM")</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=TEXT(A3, "hh:mm:ss")</a:t>
                      </a:r>
                      <a:endParaRPr b="1" sz="1000">
                        <a:solidFill>
                          <a:srgbClr val="188038"/>
                        </a:solidFill>
                        <a:latin typeface="Roboto Mono"/>
                        <a:ea typeface="Roboto Mono"/>
                        <a:cs typeface="Roboto Mono"/>
                        <a:sym typeface="Roboto Mono"/>
                      </a:endParaRPr>
                    </a:p>
                  </a:txBody>
                  <a:tcPr marT="91425" marB="91425" marR="91425" marL="91425"/>
                </a:tc>
              </a:tr>
              <a:tr h="381000">
                <a:tc>
                  <a:txBody>
                    <a:bodyPr/>
                    <a:lstStyle/>
                    <a:p>
                      <a:pPr indent="0" lvl="0" marL="0" rtl="0" algn="l">
                        <a:spcBef>
                          <a:spcPts val="0"/>
                        </a:spcBef>
                        <a:spcAft>
                          <a:spcPts val="0"/>
                        </a:spcAft>
                        <a:buNone/>
                      </a:pPr>
                      <a:r>
                        <a:rPr lang="en" sz="1000">
                          <a:latin typeface="Montserrat"/>
                          <a:ea typeface="Montserrat"/>
                          <a:cs typeface="Montserrat"/>
                          <a:sym typeface="Montserrat"/>
                        </a:rPr>
                        <a:t>2023-05-10 18:45:30</a:t>
                      </a:r>
                      <a:endParaRPr sz="10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=TEXT(A4, "dd-mmm-yyyy")</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=TEXT(A4, "mm/dd/yyyy")</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=TEXT(A4, "dddd, mmmm dd, yyyy")</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=TEXT(A4, "hh:mm AM/PM")</a:t>
                      </a:r>
                      <a:endParaRPr b="1" sz="10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b="1" lang="en" sz="1000">
                          <a:solidFill>
                            <a:srgbClr val="188038"/>
                          </a:solidFill>
                          <a:latin typeface="Roboto Mono"/>
                          <a:ea typeface="Roboto Mono"/>
                          <a:cs typeface="Roboto Mono"/>
                          <a:sym typeface="Roboto Mono"/>
                        </a:rPr>
                        <a:t>=TEXT(A4, "hh:mm:ss")</a:t>
                      </a:r>
                      <a:endParaRPr b="1" sz="1000">
                        <a:solidFill>
                          <a:srgbClr val="188038"/>
                        </a:solidFill>
                        <a:latin typeface="Roboto Mono"/>
                        <a:ea typeface="Roboto Mono"/>
                        <a:cs typeface="Roboto Mono"/>
                        <a:sym typeface="Roboto Mono"/>
                      </a:endParaRPr>
                    </a:p>
                  </a:txBody>
                  <a:tcPr marT="91425" marB="91425" marR="91425" marL="91425"/>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4"/>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425" name="Google Shape;425;p64"/>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Common Time Formats</a:t>
            </a:r>
            <a:endParaRPr b="1" sz="2500">
              <a:latin typeface="DM Sans"/>
              <a:ea typeface="DM Sans"/>
              <a:cs typeface="DM Sans"/>
              <a:sym typeface="DM Sans"/>
            </a:endParaRPr>
          </a:p>
        </p:txBody>
      </p:sp>
      <p:cxnSp>
        <p:nvCxnSpPr>
          <p:cNvPr id="426" name="Google Shape;426;p64"/>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427" name="Google Shape;427;p64"/>
          <p:cNvSpPr txBox="1"/>
          <p:nvPr/>
        </p:nvSpPr>
        <p:spPr>
          <a:xfrm>
            <a:off x="413300" y="1393825"/>
            <a:ext cx="85746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a:latin typeface="Montserrat"/>
                <a:ea typeface="Montserrat"/>
                <a:cs typeface="Montserrat"/>
                <a:sym typeface="Montserrat"/>
              </a:rPr>
              <a:t>Output </a:t>
            </a:r>
            <a:endParaRPr b="1">
              <a:latin typeface="Montserrat"/>
              <a:ea typeface="Montserrat"/>
              <a:cs typeface="Montserrat"/>
              <a:sym typeface="Montserrat"/>
            </a:endParaRPr>
          </a:p>
        </p:txBody>
      </p:sp>
      <p:pic>
        <p:nvPicPr>
          <p:cNvPr id="428" name="Google Shape;428;p64"/>
          <p:cNvPicPr preferRelativeResize="0"/>
          <p:nvPr/>
        </p:nvPicPr>
        <p:blipFill>
          <a:blip r:embed="rId3">
            <a:alphaModFix/>
          </a:blip>
          <a:stretch>
            <a:fillRect/>
          </a:stretch>
        </p:blipFill>
        <p:spPr>
          <a:xfrm>
            <a:off x="489500" y="1931303"/>
            <a:ext cx="7235026" cy="270154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5"/>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Common Time Formats</a:t>
            </a:r>
            <a:endParaRPr b="1" sz="2500">
              <a:latin typeface="DM Sans"/>
              <a:ea typeface="DM Sans"/>
              <a:cs typeface="DM Sans"/>
              <a:sym typeface="DM Sans"/>
            </a:endParaRPr>
          </a:p>
        </p:txBody>
      </p:sp>
      <p:cxnSp>
        <p:nvCxnSpPr>
          <p:cNvPr id="434" name="Google Shape;434;p65"/>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435" name="Google Shape;435;p65"/>
          <p:cNvSpPr txBox="1"/>
          <p:nvPr/>
        </p:nvSpPr>
        <p:spPr>
          <a:xfrm>
            <a:off x="392450" y="1289500"/>
            <a:ext cx="8574600" cy="24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200">
                <a:latin typeface="DM Sans"/>
                <a:ea typeface="DM Sans"/>
                <a:cs typeface="DM Sans"/>
                <a:sym typeface="DM Sans"/>
              </a:rPr>
              <a:t>Explanation</a:t>
            </a:r>
            <a:endParaRPr b="1" sz="1200">
              <a:latin typeface="DM Sans"/>
              <a:ea typeface="DM Sans"/>
              <a:cs typeface="DM Sans"/>
              <a:sym typeface="DM Sans"/>
            </a:endParaRPr>
          </a:p>
          <a:p>
            <a:pPr indent="-304800" lvl="0" marL="457200" rtl="0" algn="l">
              <a:lnSpc>
                <a:spcPct val="115000"/>
              </a:lnSpc>
              <a:spcBef>
                <a:spcPts val="1000"/>
              </a:spcBef>
              <a:spcAft>
                <a:spcPts val="0"/>
              </a:spcAft>
              <a:buSzPts val="1200"/>
              <a:buFont typeface="Montserrat"/>
              <a:buChar char="●"/>
            </a:pPr>
            <a:r>
              <a:rPr b="1" lang="en" sz="1200">
                <a:latin typeface="DM Sans"/>
                <a:ea typeface="DM Sans"/>
                <a:cs typeface="DM Sans"/>
                <a:sym typeface="DM Sans"/>
              </a:rPr>
              <a:t>TEXT(A2, "dd-mmm-yyyy"):</a:t>
            </a:r>
            <a:r>
              <a:rPr lang="en" sz="1200">
                <a:latin typeface="DM Sans"/>
                <a:ea typeface="DM Sans"/>
                <a:cs typeface="DM Sans"/>
                <a:sym typeface="DM Sans"/>
              </a:rPr>
              <a:t> Converts the date in cell A2 into a day-month-year format (e.g., 22-Jan-2025).</a:t>
            </a:r>
            <a:endParaRPr sz="1200">
              <a:latin typeface="DM Sans"/>
              <a:ea typeface="DM Sans"/>
              <a:cs typeface="DM Sans"/>
              <a:sym typeface="DM Sans"/>
            </a:endParaRPr>
          </a:p>
          <a:p>
            <a:pPr indent="-304800" lvl="0" marL="457200" rtl="0" algn="l">
              <a:lnSpc>
                <a:spcPct val="115000"/>
              </a:lnSpc>
              <a:spcBef>
                <a:spcPts val="1000"/>
              </a:spcBef>
              <a:spcAft>
                <a:spcPts val="0"/>
              </a:spcAft>
              <a:buSzPts val="1200"/>
              <a:buFont typeface="Montserrat"/>
              <a:buChar char="●"/>
            </a:pPr>
            <a:r>
              <a:rPr b="1" lang="en" sz="1200">
                <a:latin typeface="DM Sans"/>
                <a:ea typeface="DM Sans"/>
                <a:cs typeface="DM Sans"/>
                <a:sym typeface="DM Sans"/>
              </a:rPr>
              <a:t>TEXT(A2, "mm/dd/yyyy"):</a:t>
            </a:r>
            <a:r>
              <a:rPr lang="en" sz="1200">
                <a:latin typeface="DM Sans"/>
                <a:ea typeface="DM Sans"/>
                <a:cs typeface="DM Sans"/>
                <a:sym typeface="DM Sans"/>
              </a:rPr>
              <a:t> Converts the date into a month/day/year format (e.g., 01/22/2025).</a:t>
            </a:r>
            <a:endParaRPr sz="1200">
              <a:latin typeface="DM Sans"/>
              <a:ea typeface="DM Sans"/>
              <a:cs typeface="DM Sans"/>
              <a:sym typeface="DM Sans"/>
            </a:endParaRPr>
          </a:p>
          <a:p>
            <a:pPr indent="-304800" lvl="0" marL="457200" rtl="0" algn="l">
              <a:lnSpc>
                <a:spcPct val="115000"/>
              </a:lnSpc>
              <a:spcBef>
                <a:spcPts val="1000"/>
              </a:spcBef>
              <a:spcAft>
                <a:spcPts val="0"/>
              </a:spcAft>
              <a:buSzPts val="1200"/>
              <a:buFont typeface="Montserrat"/>
              <a:buChar char="●"/>
            </a:pPr>
            <a:r>
              <a:rPr b="1" lang="en" sz="1200">
                <a:latin typeface="DM Sans"/>
                <a:ea typeface="DM Sans"/>
                <a:cs typeface="DM Sans"/>
                <a:sym typeface="DM Sans"/>
              </a:rPr>
              <a:t>TEXT(A2, "dddd, mmmm dd, yyyy"):</a:t>
            </a:r>
            <a:r>
              <a:rPr lang="en" sz="1200">
                <a:latin typeface="DM Sans"/>
                <a:ea typeface="DM Sans"/>
                <a:cs typeface="DM Sans"/>
                <a:sym typeface="DM Sans"/>
              </a:rPr>
              <a:t> Converts the date into a full weekday and month name format (e.g., Monday, January 22, 2025).</a:t>
            </a:r>
            <a:endParaRPr sz="1200">
              <a:latin typeface="DM Sans"/>
              <a:ea typeface="DM Sans"/>
              <a:cs typeface="DM Sans"/>
              <a:sym typeface="DM Sans"/>
            </a:endParaRPr>
          </a:p>
          <a:p>
            <a:pPr indent="-304800" lvl="0" marL="457200" rtl="0" algn="l">
              <a:lnSpc>
                <a:spcPct val="115000"/>
              </a:lnSpc>
              <a:spcBef>
                <a:spcPts val="1000"/>
              </a:spcBef>
              <a:spcAft>
                <a:spcPts val="0"/>
              </a:spcAft>
              <a:buSzPts val="1200"/>
              <a:buFont typeface="Montserrat"/>
              <a:buChar char="●"/>
            </a:pPr>
            <a:r>
              <a:rPr b="1" lang="en" sz="1200">
                <a:latin typeface="DM Sans"/>
                <a:ea typeface="DM Sans"/>
                <a:cs typeface="DM Sans"/>
                <a:sym typeface="DM Sans"/>
              </a:rPr>
              <a:t>TEXT(A2, "hh:mm AM/PM"):</a:t>
            </a:r>
            <a:r>
              <a:rPr lang="en" sz="1200">
                <a:latin typeface="DM Sans"/>
                <a:ea typeface="DM Sans"/>
                <a:cs typeface="DM Sans"/>
                <a:sym typeface="DM Sans"/>
              </a:rPr>
              <a:t> Converts the time into a 12-hour format with AM/PM (e.g., 02:30 PM).</a:t>
            </a:r>
            <a:endParaRPr sz="1200">
              <a:latin typeface="DM Sans"/>
              <a:ea typeface="DM Sans"/>
              <a:cs typeface="DM Sans"/>
              <a:sym typeface="DM Sans"/>
            </a:endParaRPr>
          </a:p>
          <a:p>
            <a:pPr indent="-304800" lvl="0" marL="457200" rtl="0" algn="l">
              <a:lnSpc>
                <a:spcPct val="115000"/>
              </a:lnSpc>
              <a:spcBef>
                <a:spcPts val="1000"/>
              </a:spcBef>
              <a:spcAft>
                <a:spcPts val="400"/>
              </a:spcAft>
              <a:buSzPts val="1200"/>
              <a:buFont typeface="Montserrat"/>
              <a:buChar char="●"/>
            </a:pPr>
            <a:r>
              <a:rPr b="1" lang="en" sz="1200">
                <a:latin typeface="DM Sans"/>
                <a:ea typeface="DM Sans"/>
                <a:cs typeface="DM Sans"/>
                <a:sym typeface="DM Sans"/>
              </a:rPr>
              <a:t>TEXT(A2, "hh:mm:ss"):</a:t>
            </a:r>
            <a:r>
              <a:rPr lang="en" sz="1200">
                <a:latin typeface="DM Sans"/>
                <a:ea typeface="DM Sans"/>
                <a:cs typeface="DM Sans"/>
                <a:sym typeface="DM Sans"/>
              </a:rPr>
              <a:t> Converts the time into a 24-hour format with hours, minutes, and seconds (e.g., 14:30:00)</a:t>
            </a:r>
            <a:endParaRPr sz="1200">
              <a:latin typeface="DM Sans"/>
              <a:ea typeface="DM Sans"/>
              <a:cs typeface="DM Sans"/>
              <a:sym typeface="DM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6"/>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441" name="Google Shape;441;p66"/>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WORKDAY Function</a:t>
            </a:r>
            <a:endParaRPr b="1" sz="2500">
              <a:latin typeface="DM Sans"/>
              <a:ea typeface="DM Sans"/>
              <a:cs typeface="DM Sans"/>
              <a:sym typeface="DM Sans"/>
            </a:endParaRPr>
          </a:p>
        </p:txBody>
      </p:sp>
      <p:cxnSp>
        <p:nvCxnSpPr>
          <p:cNvPr id="442" name="Google Shape;442;p66"/>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443" name="Google Shape;443;p66"/>
          <p:cNvSpPr txBox="1"/>
          <p:nvPr/>
        </p:nvSpPr>
        <p:spPr>
          <a:xfrm>
            <a:off x="337100" y="1393825"/>
            <a:ext cx="7387500" cy="12975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latin typeface="Montserrat"/>
                <a:ea typeface="Montserrat"/>
                <a:cs typeface="Montserrat"/>
                <a:sym typeface="Montserrat"/>
              </a:rPr>
              <a:t>The </a:t>
            </a:r>
            <a:r>
              <a:rPr lang="en">
                <a:solidFill>
                  <a:srgbClr val="188038"/>
                </a:solidFill>
                <a:latin typeface="Roboto Mono"/>
                <a:ea typeface="Roboto Mono"/>
                <a:cs typeface="Roboto Mono"/>
                <a:sym typeface="Roboto Mono"/>
              </a:rPr>
              <a:t>WORKDAY </a:t>
            </a:r>
            <a:r>
              <a:rPr lang="en">
                <a:latin typeface="Montserrat"/>
                <a:ea typeface="Montserrat"/>
                <a:cs typeface="Montserrat"/>
                <a:sym typeface="Montserrat"/>
              </a:rPr>
              <a:t>function is used to calculate a date that is a certain number of workdays before or after a given date.</a:t>
            </a:r>
            <a:endParaRPr>
              <a:latin typeface="Montserrat"/>
              <a:ea typeface="Montserrat"/>
              <a:cs typeface="Montserrat"/>
              <a:sym typeface="Montserrat"/>
            </a:endParaRPr>
          </a:p>
          <a:p>
            <a:pPr indent="0" lvl="0" marL="0" rtl="0" algn="l">
              <a:lnSpc>
                <a:spcPct val="115000"/>
              </a:lnSpc>
              <a:spcBef>
                <a:spcPts val="1200"/>
              </a:spcBef>
              <a:spcAft>
                <a:spcPts val="0"/>
              </a:spcAft>
              <a:buNone/>
            </a:pPr>
            <a:r>
              <a:rPr b="1" lang="en">
                <a:latin typeface="Montserrat"/>
                <a:ea typeface="Montserrat"/>
                <a:cs typeface="Montserrat"/>
                <a:sym typeface="Montserrat"/>
              </a:rPr>
              <a:t>Syntax:</a:t>
            </a:r>
            <a:br>
              <a:rPr lang="en">
                <a:latin typeface="Montserrat"/>
                <a:ea typeface="Montserrat"/>
                <a:cs typeface="Montserrat"/>
                <a:sym typeface="Montserrat"/>
              </a:rPr>
            </a:br>
            <a:r>
              <a:rPr b="1" lang="en">
                <a:solidFill>
                  <a:srgbClr val="188038"/>
                </a:solidFill>
                <a:latin typeface="Roboto Mono"/>
                <a:ea typeface="Roboto Mono"/>
                <a:cs typeface="Roboto Mono"/>
                <a:sym typeface="Roboto Mono"/>
              </a:rPr>
              <a:t>WORKDAY(start_date, days, [holidays])</a:t>
            </a:r>
            <a:endParaRPr b="1">
              <a:latin typeface="Roboto Mono"/>
              <a:ea typeface="Roboto Mono"/>
              <a:cs typeface="Roboto Mono"/>
              <a:sym typeface="Roboto Mon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7"/>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449" name="Google Shape;449;p67"/>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WORKDAY Function</a:t>
            </a:r>
            <a:endParaRPr b="1" sz="2500">
              <a:latin typeface="DM Sans"/>
              <a:ea typeface="DM Sans"/>
              <a:cs typeface="DM Sans"/>
              <a:sym typeface="DM Sans"/>
            </a:endParaRPr>
          </a:p>
        </p:txBody>
      </p:sp>
      <p:cxnSp>
        <p:nvCxnSpPr>
          <p:cNvPr id="450" name="Google Shape;450;p67"/>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451" name="Google Shape;451;p67"/>
          <p:cNvSpPr txBox="1"/>
          <p:nvPr/>
        </p:nvSpPr>
        <p:spPr>
          <a:xfrm>
            <a:off x="337100" y="1393825"/>
            <a:ext cx="7387500" cy="2194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DM Sans"/>
              <a:buChar char="●"/>
            </a:pPr>
            <a:r>
              <a:rPr b="1" lang="en">
                <a:latin typeface="DM Sans"/>
                <a:ea typeface="DM Sans"/>
                <a:cs typeface="DM Sans"/>
                <a:sym typeface="DM Sans"/>
              </a:rPr>
              <a:t>Where:</a:t>
            </a:r>
            <a:endParaRPr b="1">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latin typeface="DM Sans"/>
                <a:ea typeface="DM Sans"/>
                <a:cs typeface="DM Sans"/>
                <a:sym typeface="DM Sans"/>
              </a:rPr>
              <a:t>start_date</a:t>
            </a:r>
            <a:r>
              <a:rPr lang="en">
                <a:latin typeface="DM Sans"/>
                <a:ea typeface="DM Sans"/>
                <a:cs typeface="DM Sans"/>
                <a:sym typeface="DM Sans"/>
              </a:rPr>
              <a:t>: The starting date.</a:t>
            </a:r>
            <a:endParaRPr>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latin typeface="DM Sans"/>
                <a:ea typeface="DM Sans"/>
                <a:cs typeface="DM Sans"/>
                <a:sym typeface="DM Sans"/>
              </a:rPr>
              <a:t>days</a:t>
            </a:r>
            <a:r>
              <a:rPr lang="en">
                <a:latin typeface="DM Sans"/>
                <a:ea typeface="DM Sans"/>
                <a:cs typeface="DM Sans"/>
                <a:sym typeface="DM Sans"/>
              </a:rPr>
              <a:t>: The number of workdays to add (can be negative to subtract).</a:t>
            </a:r>
            <a:endParaRPr>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latin typeface="DM Sans"/>
                <a:ea typeface="DM Sans"/>
                <a:cs typeface="DM Sans"/>
                <a:sym typeface="DM Sans"/>
              </a:rPr>
              <a:t>[holidays]</a:t>
            </a:r>
            <a:r>
              <a:rPr lang="en">
                <a:latin typeface="DM Sans"/>
                <a:ea typeface="DM Sans"/>
                <a:cs typeface="DM Sans"/>
                <a:sym typeface="DM Sans"/>
              </a:rPr>
              <a:t>: An optional list of holidays to exclude from the calculation.</a:t>
            </a:r>
            <a:endParaRPr>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Example:</a:t>
            </a:r>
            <a:endParaRPr b="1">
              <a:latin typeface="DM Sans"/>
              <a:ea typeface="DM Sans"/>
              <a:cs typeface="DM Sans"/>
              <a:sym typeface="DM Sans"/>
            </a:endParaRPr>
          </a:p>
          <a:p>
            <a:pPr indent="-317500" lvl="0" marL="457200" rtl="0" algn="l">
              <a:lnSpc>
                <a:spcPct val="115000"/>
              </a:lnSpc>
              <a:spcBef>
                <a:spcPts val="1200"/>
              </a:spcBef>
              <a:spcAft>
                <a:spcPts val="0"/>
              </a:spcAft>
              <a:buSzPts val="1400"/>
              <a:buChar char="●"/>
            </a:pPr>
            <a:r>
              <a:rPr b="1" lang="en">
                <a:latin typeface="DM Sans"/>
                <a:ea typeface="DM Sans"/>
                <a:cs typeface="DM Sans"/>
                <a:sym typeface="DM Sans"/>
              </a:rPr>
              <a:t>=WORKDAY("2025-01-22", 10)</a:t>
            </a:r>
            <a:r>
              <a:rPr lang="en">
                <a:latin typeface="DM Sans"/>
                <a:ea typeface="DM Sans"/>
                <a:cs typeface="DM Sans"/>
                <a:sym typeface="DM Sans"/>
              </a:rPr>
              <a:t>: Returns the date 10 workdays after January 22, 2025.</a:t>
            </a:r>
            <a:endParaRPr b="1">
              <a:latin typeface="DM Sans"/>
              <a:ea typeface="DM Sans"/>
              <a:cs typeface="DM Sans"/>
              <a:sym typeface="DM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8"/>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NETWORKDAYS Function</a:t>
            </a:r>
            <a:endParaRPr b="1" sz="2500">
              <a:latin typeface="DM Sans"/>
              <a:ea typeface="DM Sans"/>
              <a:cs typeface="DM Sans"/>
              <a:sym typeface="DM Sans"/>
            </a:endParaRPr>
          </a:p>
        </p:txBody>
      </p:sp>
      <p:cxnSp>
        <p:nvCxnSpPr>
          <p:cNvPr id="457" name="Google Shape;457;p68"/>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458" name="Google Shape;458;p68"/>
          <p:cNvSpPr txBox="1"/>
          <p:nvPr/>
        </p:nvSpPr>
        <p:spPr>
          <a:xfrm>
            <a:off x="337100" y="1393825"/>
            <a:ext cx="7387500" cy="1297500"/>
          </a:xfrm>
          <a:prstGeom prst="rect">
            <a:avLst/>
          </a:prstGeom>
          <a:solidFill>
            <a:srgbClr val="FCE5CD"/>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latin typeface="DM Sans"/>
                <a:ea typeface="DM Sans"/>
                <a:cs typeface="DM Sans"/>
                <a:sym typeface="DM Sans"/>
              </a:rPr>
              <a:t>The </a:t>
            </a:r>
            <a:r>
              <a:rPr b="1" lang="en">
                <a:solidFill>
                  <a:srgbClr val="188038"/>
                </a:solidFill>
                <a:latin typeface="DM Sans"/>
                <a:ea typeface="DM Sans"/>
                <a:cs typeface="DM Sans"/>
                <a:sym typeface="DM Sans"/>
              </a:rPr>
              <a:t>NETWORKDAYS</a:t>
            </a:r>
            <a:r>
              <a:rPr b="1" lang="en">
                <a:latin typeface="DM Sans"/>
                <a:ea typeface="DM Sans"/>
                <a:cs typeface="DM Sans"/>
                <a:sym typeface="DM Sans"/>
              </a:rPr>
              <a:t> </a:t>
            </a:r>
            <a:r>
              <a:rPr lang="en">
                <a:latin typeface="DM Sans"/>
                <a:ea typeface="DM Sans"/>
                <a:cs typeface="DM Sans"/>
                <a:sym typeface="DM Sans"/>
              </a:rPr>
              <a:t>function calculates the number of workdays between two dates, excluding weekends and optionally, holidays.</a:t>
            </a:r>
            <a:endParaRPr>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Syntax:</a:t>
            </a:r>
            <a:br>
              <a:rPr lang="en">
                <a:latin typeface="DM Sans"/>
                <a:ea typeface="DM Sans"/>
                <a:cs typeface="DM Sans"/>
                <a:sym typeface="DM Sans"/>
              </a:rPr>
            </a:br>
            <a:r>
              <a:rPr b="1" lang="en">
                <a:solidFill>
                  <a:srgbClr val="188038"/>
                </a:solidFill>
                <a:latin typeface="DM Sans"/>
                <a:ea typeface="DM Sans"/>
                <a:cs typeface="DM Sans"/>
                <a:sym typeface="DM Sans"/>
              </a:rPr>
              <a:t>NETWORKDAYS(start_date, end_date, [holidays])</a:t>
            </a:r>
            <a:endParaRPr b="1">
              <a:latin typeface="DM Sans"/>
              <a:ea typeface="DM Sans"/>
              <a:cs typeface="DM Sans"/>
              <a:sym typeface="DM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9"/>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464" name="Google Shape;464;p69"/>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NETWORKDAYS Function</a:t>
            </a:r>
            <a:endParaRPr b="1" sz="2500">
              <a:latin typeface="DM Sans"/>
              <a:ea typeface="DM Sans"/>
              <a:cs typeface="DM Sans"/>
              <a:sym typeface="DM Sans"/>
            </a:endParaRPr>
          </a:p>
        </p:txBody>
      </p:sp>
      <p:cxnSp>
        <p:nvCxnSpPr>
          <p:cNvPr id="465" name="Google Shape;465;p69"/>
          <p:cNvCxnSpPr/>
          <p:nvPr/>
        </p:nvCxnSpPr>
        <p:spPr>
          <a:xfrm>
            <a:off x="565695" y="1004238"/>
            <a:ext cx="2638500" cy="0"/>
          </a:xfrm>
          <a:prstGeom prst="straightConnector1">
            <a:avLst/>
          </a:prstGeom>
          <a:noFill/>
          <a:ln cap="flat" cmpd="sng" w="19050">
            <a:solidFill>
              <a:schemeClr val="dk1"/>
            </a:solidFill>
            <a:prstDash val="solid"/>
            <a:round/>
            <a:headEnd len="sm" w="sm" type="none"/>
            <a:tailEnd len="sm" w="sm" type="none"/>
          </a:ln>
        </p:spPr>
      </p:cxnSp>
      <p:sp>
        <p:nvSpPr>
          <p:cNvPr id="466" name="Google Shape;466;p69"/>
          <p:cNvSpPr txBox="1"/>
          <p:nvPr/>
        </p:nvSpPr>
        <p:spPr>
          <a:xfrm>
            <a:off x="337100" y="1393825"/>
            <a:ext cx="7387500" cy="2194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DM Sans"/>
              <a:buChar char="●"/>
            </a:pPr>
            <a:r>
              <a:rPr b="1" lang="en">
                <a:latin typeface="DM Sans"/>
                <a:ea typeface="DM Sans"/>
                <a:cs typeface="DM Sans"/>
                <a:sym typeface="DM Sans"/>
              </a:rPr>
              <a:t>Where:</a:t>
            </a:r>
            <a:endParaRPr b="1">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latin typeface="DM Sans"/>
                <a:ea typeface="DM Sans"/>
                <a:cs typeface="DM Sans"/>
                <a:sym typeface="DM Sans"/>
              </a:rPr>
              <a:t>start_date</a:t>
            </a:r>
            <a:r>
              <a:rPr lang="en">
                <a:latin typeface="DM Sans"/>
                <a:ea typeface="DM Sans"/>
                <a:cs typeface="DM Sans"/>
                <a:sym typeface="DM Sans"/>
              </a:rPr>
              <a:t>: The start date.</a:t>
            </a:r>
            <a:endParaRPr>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latin typeface="DM Sans"/>
                <a:ea typeface="DM Sans"/>
                <a:cs typeface="DM Sans"/>
                <a:sym typeface="DM Sans"/>
              </a:rPr>
              <a:t>end_date</a:t>
            </a:r>
            <a:r>
              <a:rPr lang="en">
                <a:latin typeface="DM Sans"/>
                <a:ea typeface="DM Sans"/>
                <a:cs typeface="DM Sans"/>
                <a:sym typeface="DM Sans"/>
              </a:rPr>
              <a:t>: The end date.</a:t>
            </a:r>
            <a:endParaRPr>
              <a:latin typeface="DM Sans"/>
              <a:ea typeface="DM Sans"/>
              <a:cs typeface="DM Sans"/>
              <a:sym typeface="DM Sans"/>
            </a:endParaRPr>
          </a:p>
          <a:p>
            <a:pPr indent="-317500" lvl="1" marL="914400" rtl="0" algn="l">
              <a:lnSpc>
                <a:spcPct val="115000"/>
              </a:lnSpc>
              <a:spcBef>
                <a:spcPts val="0"/>
              </a:spcBef>
              <a:spcAft>
                <a:spcPts val="0"/>
              </a:spcAft>
              <a:buSzPts val="1400"/>
              <a:buChar char="○"/>
            </a:pPr>
            <a:r>
              <a:rPr b="1" lang="en">
                <a:latin typeface="DM Sans"/>
                <a:ea typeface="DM Sans"/>
                <a:cs typeface="DM Sans"/>
                <a:sym typeface="DM Sans"/>
              </a:rPr>
              <a:t>[holidays]</a:t>
            </a:r>
            <a:r>
              <a:rPr lang="en">
                <a:latin typeface="DM Sans"/>
                <a:ea typeface="DM Sans"/>
                <a:cs typeface="DM Sans"/>
                <a:sym typeface="DM Sans"/>
              </a:rPr>
              <a:t>: Optional list of holidays to exclude.</a:t>
            </a:r>
            <a:endParaRPr>
              <a:latin typeface="DM Sans"/>
              <a:ea typeface="DM Sans"/>
              <a:cs typeface="DM Sans"/>
              <a:sym typeface="DM Sans"/>
            </a:endParaRPr>
          </a:p>
          <a:p>
            <a:pPr indent="0" lvl="0" marL="0" rtl="0" algn="l">
              <a:lnSpc>
                <a:spcPct val="115000"/>
              </a:lnSpc>
              <a:spcBef>
                <a:spcPts val="1200"/>
              </a:spcBef>
              <a:spcAft>
                <a:spcPts val="0"/>
              </a:spcAft>
              <a:buNone/>
            </a:pPr>
            <a:r>
              <a:rPr b="1" lang="en">
                <a:latin typeface="DM Sans"/>
                <a:ea typeface="DM Sans"/>
                <a:cs typeface="DM Sans"/>
                <a:sym typeface="DM Sans"/>
              </a:rPr>
              <a:t>Example:</a:t>
            </a:r>
            <a:endParaRPr b="1">
              <a:latin typeface="DM Sans"/>
              <a:ea typeface="DM Sans"/>
              <a:cs typeface="DM Sans"/>
              <a:sym typeface="DM Sans"/>
            </a:endParaRPr>
          </a:p>
          <a:p>
            <a:pPr indent="-317500" lvl="0" marL="457200" rtl="0" algn="l">
              <a:lnSpc>
                <a:spcPct val="115000"/>
              </a:lnSpc>
              <a:spcBef>
                <a:spcPts val="1200"/>
              </a:spcBef>
              <a:spcAft>
                <a:spcPts val="0"/>
              </a:spcAft>
              <a:buSzPts val="1400"/>
              <a:buChar char="●"/>
            </a:pPr>
            <a:r>
              <a:rPr b="1" lang="en">
                <a:latin typeface="DM Sans"/>
                <a:ea typeface="DM Sans"/>
                <a:cs typeface="DM Sans"/>
                <a:sym typeface="DM Sans"/>
              </a:rPr>
              <a:t>=NETWORKDAYS("2025-01-01", "2025-01-22")</a:t>
            </a:r>
            <a:r>
              <a:rPr lang="en">
                <a:latin typeface="DM Sans"/>
                <a:ea typeface="DM Sans"/>
                <a:cs typeface="DM Sans"/>
                <a:sym typeface="DM Sans"/>
              </a:rPr>
              <a:t>: Calculates the number of workdays between January 1 and January 22, 2025.</a:t>
            </a:r>
            <a:endParaRPr b="1">
              <a:latin typeface="DM Sans"/>
              <a:ea typeface="DM Sans"/>
              <a:cs typeface="DM Sans"/>
              <a:sym typeface="DM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0"/>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472" name="Google Shape;472;p70"/>
          <p:cNvSpPr txBox="1"/>
          <p:nvPr>
            <p:ph type="title"/>
          </p:nvPr>
        </p:nvSpPr>
        <p:spPr>
          <a:xfrm>
            <a:off x="489500" y="459725"/>
            <a:ext cx="7032900" cy="10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Example Table: WORKDAY and NETWORKDAYS</a:t>
            </a:r>
            <a:endParaRPr b="1" sz="2500">
              <a:latin typeface="DM Sans"/>
              <a:ea typeface="DM Sans"/>
              <a:cs typeface="DM Sans"/>
              <a:sym typeface="DM Sans"/>
            </a:endParaRPr>
          </a:p>
        </p:txBody>
      </p:sp>
      <p:cxnSp>
        <p:nvCxnSpPr>
          <p:cNvPr id="473" name="Google Shape;473;p70"/>
          <p:cNvCxnSpPr/>
          <p:nvPr/>
        </p:nvCxnSpPr>
        <p:spPr>
          <a:xfrm>
            <a:off x="565695" y="1385238"/>
            <a:ext cx="2638500" cy="0"/>
          </a:xfrm>
          <a:prstGeom prst="straightConnector1">
            <a:avLst/>
          </a:prstGeom>
          <a:noFill/>
          <a:ln cap="flat" cmpd="sng" w="19050">
            <a:solidFill>
              <a:schemeClr val="dk1"/>
            </a:solidFill>
            <a:prstDash val="solid"/>
            <a:round/>
            <a:headEnd len="sm" w="sm" type="none"/>
            <a:tailEnd len="sm" w="sm" type="none"/>
          </a:ln>
        </p:spPr>
      </p:cxnSp>
      <p:graphicFrame>
        <p:nvGraphicFramePr>
          <p:cNvPr id="474" name="Google Shape;474;p70"/>
          <p:cNvGraphicFramePr/>
          <p:nvPr/>
        </p:nvGraphicFramePr>
        <p:xfrm>
          <a:off x="489500" y="1951300"/>
          <a:ext cx="3000000" cy="3000000"/>
        </p:xfrm>
        <a:graphic>
          <a:graphicData uri="http://schemas.openxmlformats.org/drawingml/2006/table">
            <a:tbl>
              <a:tblPr>
                <a:noFill/>
                <a:tableStyleId>{1763C044-64AD-4526-8368-3DBAC99FAD4E}</a:tableStyleId>
              </a:tblPr>
              <a:tblGrid>
                <a:gridCol w="1097250"/>
                <a:gridCol w="1097250"/>
                <a:gridCol w="2457625"/>
                <a:gridCol w="2882750"/>
              </a:tblGrid>
              <a:tr h="384600">
                <a:tc>
                  <a:txBody>
                    <a:bodyPr/>
                    <a:lstStyle/>
                    <a:p>
                      <a:pPr indent="0" lvl="0" marL="0" rtl="0" algn="ctr">
                        <a:lnSpc>
                          <a:spcPct val="115000"/>
                        </a:lnSpc>
                        <a:spcBef>
                          <a:spcPts val="0"/>
                        </a:spcBef>
                        <a:spcAft>
                          <a:spcPts val="0"/>
                        </a:spcAft>
                        <a:buNone/>
                      </a:pPr>
                      <a:r>
                        <a:rPr b="1" lang="en">
                          <a:latin typeface="Montserrat"/>
                          <a:ea typeface="Montserrat"/>
                          <a:cs typeface="Montserrat"/>
                          <a:sym typeface="Montserrat"/>
                        </a:rPr>
                        <a:t>Start Date</a:t>
                      </a:r>
                      <a:endParaRPr>
                        <a:latin typeface="Montserrat"/>
                        <a:ea typeface="Montserrat"/>
                        <a:cs typeface="Montserrat"/>
                        <a:sym typeface="Montserrat"/>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latin typeface="Montserrat"/>
                          <a:ea typeface="Montserrat"/>
                          <a:cs typeface="Montserrat"/>
                          <a:sym typeface="Montserrat"/>
                        </a:rPr>
                        <a:t>End Date</a:t>
                      </a:r>
                      <a:endParaRPr>
                        <a:latin typeface="Montserrat"/>
                        <a:ea typeface="Montserrat"/>
                        <a:cs typeface="Montserrat"/>
                        <a:sym typeface="Montserrat"/>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latin typeface="Montserrat"/>
                          <a:ea typeface="Montserrat"/>
                          <a:cs typeface="Montserrat"/>
                          <a:sym typeface="Montserrat"/>
                        </a:rPr>
                        <a:t>WORKDAY (Add 10 Days)</a:t>
                      </a:r>
                      <a:endParaRPr>
                        <a:latin typeface="Montserrat"/>
                        <a:ea typeface="Montserrat"/>
                        <a:cs typeface="Montserrat"/>
                        <a:sym typeface="Montserrat"/>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latin typeface="Montserrat"/>
                          <a:ea typeface="Montserrat"/>
                          <a:cs typeface="Montserrat"/>
                          <a:sym typeface="Montserrat"/>
                        </a:rPr>
                        <a:t>NETWORKDAYS (Count Days)</a:t>
                      </a:r>
                      <a:endParaRPr>
                        <a:latin typeface="Montserrat"/>
                        <a:ea typeface="Montserrat"/>
                        <a:cs typeface="Montserrat"/>
                        <a:sym typeface="Montserrat"/>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4600">
                <a:tc>
                  <a:txBody>
                    <a:bodyPr/>
                    <a:lstStyle/>
                    <a:p>
                      <a:pPr indent="0" lvl="0" marL="0" rtl="0" algn="l">
                        <a:lnSpc>
                          <a:spcPct val="115000"/>
                        </a:lnSpc>
                        <a:spcBef>
                          <a:spcPts val="0"/>
                        </a:spcBef>
                        <a:spcAft>
                          <a:spcPts val="0"/>
                        </a:spcAft>
                        <a:buNone/>
                      </a:pPr>
                      <a:r>
                        <a:rPr lang="en">
                          <a:latin typeface="Montserrat"/>
                          <a:ea typeface="Montserrat"/>
                          <a:cs typeface="Montserrat"/>
                          <a:sym typeface="Montserrat"/>
                        </a:rPr>
                        <a:t>2025-01-01</a:t>
                      </a:r>
                      <a:endParaRPr>
                        <a:latin typeface="Montserrat"/>
                        <a:ea typeface="Montserrat"/>
                        <a:cs typeface="Montserrat"/>
                        <a:sym typeface="Montserrat"/>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Montserrat"/>
                          <a:ea typeface="Montserrat"/>
                          <a:cs typeface="Montserrat"/>
                          <a:sym typeface="Montserrat"/>
                        </a:rPr>
                        <a:t>2025-01-22</a:t>
                      </a:r>
                      <a:endParaRPr>
                        <a:latin typeface="Montserrat"/>
                        <a:ea typeface="Montserrat"/>
                        <a:cs typeface="Montserrat"/>
                        <a:sym typeface="Montserrat"/>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Roboto Mono"/>
                          <a:ea typeface="Roboto Mono"/>
                          <a:cs typeface="Roboto Mono"/>
                          <a:sym typeface="Roboto Mono"/>
                        </a:rPr>
                        <a:t>=WORKDAY(A2, 10)</a:t>
                      </a:r>
                      <a:endParaRPr b="1">
                        <a:latin typeface="Roboto Mono"/>
                        <a:ea typeface="Roboto Mono"/>
                        <a:cs typeface="Roboto Mono"/>
                        <a:sym typeface="Roboto Mono"/>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Roboto Mono"/>
                          <a:ea typeface="Roboto Mono"/>
                          <a:cs typeface="Roboto Mono"/>
                          <a:sym typeface="Roboto Mono"/>
                        </a:rPr>
                        <a:t>=NETWORKDAYS(A2, B2)</a:t>
                      </a:r>
                      <a:endParaRPr b="1">
                        <a:latin typeface="Roboto Mono"/>
                        <a:ea typeface="Roboto Mono"/>
                        <a:cs typeface="Roboto Mono"/>
                        <a:sym typeface="Roboto Mono"/>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4600">
                <a:tc>
                  <a:txBody>
                    <a:bodyPr/>
                    <a:lstStyle/>
                    <a:p>
                      <a:pPr indent="0" lvl="0" marL="0" rtl="0" algn="l">
                        <a:lnSpc>
                          <a:spcPct val="115000"/>
                        </a:lnSpc>
                        <a:spcBef>
                          <a:spcPts val="0"/>
                        </a:spcBef>
                        <a:spcAft>
                          <a:spcPts val="0"/>
                        </a:spcAft>
                        <a:buNone/>
                      </a:pPr>
                      <a:r>
                        <a:rPr lang="en">
                          <a:latin typeface="Montserrat"/>
                          <a:ea typeface="Montserrat"/>
                          <a:cs typeface="Montserrat"/>
                          <a:sym typeface="Montserrat"/>
                        </a:rPr>
                        <a:t>2023-12-15</a:t>
                      </a:r>
                      <a:endParaRPr>
                        <a:latin typeface="Montserrat"/>
                        <a:ea typeface="Montserrat"/>
                        <a:cs typeface="Montserrat"/>
                        <a:sym typeface="Montserrat"/>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Montserrat"/>
                          <a:ea typeface="Montserrat"/>
                          <a:cs typeface="Montserrat"/>
                          <a:sym typeface="Montserrat"/>
                        </a:rPr>
                        <a:t>2024-01-10</a:t>
                      </a:r>
                      <a:endParaRPr>
                        <a:latin typeface="Montserrat"/>
                        <a:ea typeface="Montserrat"/>
                        <a:cs typeface="Montserrat"/>
                        <a:sym typeface="Montserrat"/>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Roboto Mono"/>
                          <a:ea typeface="Roboto Mono"/>
                          <a:cs typeface="Roboto Mono"/>
                          <a:sym typeface="Roboto Mono"/>
                        </a:rPr>
                        <a:t>=WORKDAY(A3, 10)</a:t>
                      </a:r>
                      <a:endParaRPr b="1">
                        <a:latin typeface="Roboto Mono"/>
                        <a:ea typeface="Roboto Mono"/>
                        <a:cs typeface="Roboto Mono"/>
                        <a:sym typeface="Roboto Mono"/>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Roboto Mono"/>
                          <a:ea typeface="Roboto Mono"/>
                          <a:cs typeface="Roboto Mono"/>
                          <a:sym typeface="Roboto Mono"/>
                        </a:rPr>
                        <a:t>=NETWORKDAYS(A3, B3)</a:t>
                      </a:r>
                      <a:endParaRPr b="1">
                        <a:latin typeface="Roboto Mono"/>
                        <a:ea typeface="Roboto Mono"/>
                        <a:cs typeface="Roboto Mono"/>
                        <a:sym typeface="Roboto Mono"/>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4600">
                <a:tc>
                  <a:txBody>
                    <a:bodyPr/>
                    <a:lstStyle/>
                    <a:p>
                      <a:pPr indent="0" lvl="0" marL="0" rtl="0" algn="l">
                        <a:lnSpc>
                          <a:spcPct val="115000"/>
                        </a:lnSpc>
                        <a:spcBef>
                          <a:spcPts val="0"/>
                        </a:spcBef>
                        <a:spcAft>
                          <a:spcPts val="0"/>
                        </a:spcAft>
                        <a:buNone/>
                      </a:pPr>
                      <a:r>
                        <a:rPr lang="en">
                          <a:latin typeface="Montserrat"/>
                          <a:ea typeface="Montserrat"/>
                          <a:cs typeface="Montserrat"/>
                          <a:sym typeface="Montserrat"/>
                        </a:rPr>
                        <a:t>2025-05-01</a:t>
                      </a:r>
                      <a:endParaRPr>
                        <a:latin typeface="Montserrat"/>
                        <a:ea typeface="Montserrat"/>
                        <a:cs typeface="Montserrat"/>
                        <a:sym typeface="Montserrat"/>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Montserrat"/>
                          <a:ea typeface="Montserrat"/>
                          <a:cs typeface="Montserrat"/>
                          <a:sym typeface="Montserrat"/>
                        </a:rPr>
                        <a:t>2025-05-15</a:t>
                      </a:r>
                      <a:endParaRPr>
                        <a:latin typeface="Montserrat"/>
                        <a:ea typeface="Montserrat"/>
                        <a:cs typeface="Montserrat"/>
                        <a:sym typeface="Montserrat"/>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Roboto Mono"/>
                          <a:ea typeface="Roboto Mono"/>
                          <a:cs typeface="Roboto Mono"/>
                          <a:sym typeface="Roboto Mono"/>
                        </a:rPr>
                        <a:t>=WORKDAY(A4, 10)</a:t>
                      </a:r>
                      <a:endParaRPr b="1">
                        <a:latin typeface="Roboto Mono"/>
                        <a:ea typeface="Roboto Mono"/>
                        <a:cs typeface="Roboto Mono"/>
                        <a:sym typeface="Roboto Mono"/>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Roboto Mono"/>
                          <a:ea typeface="Roboto Mono"/>
                          <a:cs typeface="Roboto Mono"/>
                          <a:sym typeface="Roboto Mono"/>
                        </a:rPr>
                        <a:t>=NETWORKDAYS(A4, B4)</a:t>
                      </a:r>
                      <a:endParaRPr b="1">
                        <a:latin typeface="Roboto Mono"/>
                        <a:ea typeface="Roboto Mono"/>
                        <a:cs typeface="Roboto Mono"/>
                        <a:sym typeface="Roboto Mono"/>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71"/>
          <p:cNvSpPr txBox="1"/>
          <p:nvPr>
            <p:ph type="title"/>
          </p:nvPr>
        </p:nvSpPr>
        <p:spPr>
          <a:xfrm>
            <a:off x="489500" y="459725"/>
            <a:ext cx="6872700" cy="10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Example Table: WORKDAY and NETWORKDAYS</a:t>
            </a:r>
            <a:endParaRPr b="1" sz="2500">
              <a:latin typeface="DM Sans"/>
              <a:ea typeface="DM Sans"/>
              <a:cs typeface="DM Sans"/>
              <a:sym typeface="DM Sans"/>
            </a:endParaRPr>
          </a:p>
        </p:txBody>
      </p:sp>
      <p:cxnSp>
        <p:nvCxnSpPr>
          <p:cNvPr id="480" name="Google Shape;480;p71"/>
          <p:cNvCxnSpPr/>
          <p:nvPr/>
        </p:nvCxnSpPr>
        <p:spPr>
          <a:xfrm>
            <a:off x="565695" y="1385238"/>
            <a:ext cx="2638500" cy="0"/>
          </a:xfrm>
          <a:prstGeom prst="straightConnector1">
            <a:avLst/>
          </a:prstGeom>
          <a:noFill/>
          <a:ln cap="flat" cmpd="sng" w="19050">
            <a:solidFill>
              <a:schemeClr val="dk1"/>
            </a:solidFill>
            <a:prstDash val="solid"/>
            <a:round/>
            <a:headEnd len="sm" w="sm" type="none"/>
            <a:tailEnd len="sm" w="sm" type="none"/>
          </a:ln>
        </p:spPr>
      </p:cxnSp>
      <p:sp>
        <p:nvSpPr>
          <p:cNvPr id="481" name="Google Shape;481;p71"/>
          <p:cNvSpPr txBox="1"/>
          <p:nvPr/>
        </p:nvSpPr>
        <p:spPr>
          <a:xfrm>
            <a:off x="337100" y="1393825"/>
            <a:ext cx="7387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a:latin typeface="Montserrat"/>
                <a:ea typeface="Montserrat"/>
                <a:cs typeface="Montserrat"/>
                <a:sym typeface="Montserrat"/>
              </a:rPr>
              <a:t>Explanation:</a:t>
            </a:r>
            <a:endParaRPr b="1">
              <a:latin typeface="Montserrat"/>
              <a:ea typeface="Montserrat"/>
              <a:cs typeface="Montserrat"/>
              <a:sym typeface="Montserrat"/>
            </a:endParaRPr>
          </a:p>
        </p:txBody>
      </p:sp>
      <p:pic>
        <p:nvPicPr>
          <p:cNvPr id="482" name="Google Shape;482;p71"/>
          <p:cNvPicPr preferRelativeResize="0"/>
          <p:nvPr/>
        </p:nvPicPr>
        <p:blipFill>
          <a:blip r:embed="rId3">
            <a:alphaModFix/>
          </a:blip>
          <a:stretch>
            <a:fillRect/>
          </a:stretch>
        </p:blipFill>
        <p:spPr>
          <a:xfrm>
            <a:off x="565700" y="1913875"/>
            <a:ext cx="6048050" cy="1715550"/>
          </a:xfrm>
          <a:prstGeom prst="rect">
            <a:avLst/>
          </a:prstGeom>
          <a:noFill/>
          <a:ln>
            <a:noFill/>
          </a:ln>
        </p:spPr>
      </p:pic>
      <p:sp>
        <p:nvSpPr>
          <p:cNvPr id="483" name="Google Shape;483;p71"/>
          <p:cNvSpPr txBox="1"/>
          <p:nvPr/>
        </p:nvSpPr>
        <p:spPr>
          <a:xfrm>
            <a:off x="420350" y="3741950"/>
            <a:ext cx="7304400" cy="9990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Font typeface="Montserrat"/>
              <a:buChar char="●"/>
            </a:pPr>
            <a:r>
              <a:rPr b="1" lang="en" sz="1300">
                <a:latin typeface="DM Sans"/>
                <a:ea typeface="DM Sans"/>
                <a:cs typeface="DM Sans"/>
                <a:sym typeface="DM Sans"/>
              </a:rPr>
              <a:t>WORKDAY(A2, 10):</a:t>
            </a:r>
            <a:r>
              <a:rPr lang="en" sz="1300">
                <a:latin typeface="DM Sans"/>
                <a:ea typeface="DM Sans"/>
                <a:cs typeface="DM Sans"/>
                <a:sym typeface="DM Sans"/>
              </a:rPr>
              <a:t> Adds 10 workdays to the start date in cell A2.</a:t>
            </a:r>
            <a:endParaRPr sz="1300">
              <a:latin typeface="DM Sans"/>
              <a:ea typeface="DM Sans"/>
              <a:cs typeface="DM Sans"/>
              <a:sym typeface="DM Sans"/>
            </a:endParaRPr>
          </a:p>
          <a:p>
            <a:pPr indent="-311150" lvl="0" marL="457200" rtl="0" algn="l">
              <a:lnSpc>
                <a:spcPct val="115000"/>
              </a:lnSpc>
              <a:spcBef>
                <a:spcPts val="1200"/>
              </a:spcBef>
              <a:spcAft>
                <a:spcPts val="1200"/>
              </a:spcAft>
              <a:buSzPts val="1300"/>
              <a:buFont typeface="Montserrat"/>
              <a:buChar char="●"/>
            </a:pPr>
            <a:r>
              <a:rPr b="1" lang="en" sz="1300">
                <a:latin typeface="DM Sans"/>
                <a:ea typeface="DM Sans"/>
                <a:cs typeface="DM Sans"/>
                <a:sym typeface="DM Sans"/>
              </a:rPr>
              <a:t>NETWORKDAYS(A2, B2): </a:t>
            </a:r>
            <a:r>
              <a:rPr lang="en" sz="1300">
                <a:latin typeface="DM Sans"/>
                <a:ea typeface="DM Sans"/>
                <a:cs typeface="DM Sans"/>
                <a:sym typeface="DM Sans"/>
              </a:rPr>
              <a:t>Counts the number of workdays between the start and end dates in A2 and B2.</a:t>
            </a:r>
            <a:endParaRPr sz="1300">
              <a:latin typeface="DM Sans"/>
              <a:ea typeface="DM Sans"/>
              <a:cs typeface="DM Sans"/>
              <a:sym typeface="DM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2"/>
          <p:cNvSpPr/>
          <p:nvPr/>
        </p:nvSpPr>
        <p:spPr>
          <a:xfrm>
            <a:off x="0" y="4913275"/>
            <a:ext cx="9144000" cy="2457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489" name="Google Shape;489;p72"/>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Example Table: Using Holidays</a:t>
            </a:r>
            <a:endParaRPr b="1" sz="2500">
              <a:latin typeface="DM Sans"/>
              <a:ea typeface="DM Sans"/>
              <a:cs typeface="DM Sans"/>
              <a:sym typeface="DM Sans"/>
            </a:endParaRPr>
          </a:p>
        </p:txBody>
      </p:sp>
      <p:cxnSp>
        <p:nvCxnSpPr>
          <p:cNvPr id="490" name="Google Shape;490;p72"/>
          <p:cNvCxnSpPr/>
          <p:nvPr/>
        </p:nvCxnSpPr>
        <p:spPr>
          <a:xfrm>
            <a:off x="565695" y="1080438"/>
            <a:ext cx="2638500" cy="0"/>
          </a:xfrm>
          <a:prstGeom prst="straightConnector1">
            <a:avLst/>
          </a:prstGeom>
          <a:noFill/>
          <a:ln cap="flat" cmpd="sng" w="19050">
            <a:solidFill>
              <a:schemeClr val="dk1"/>
            </a:solidFill>
            <a:prstDash val="solid"/>
            <a:round/>
            <a:headEnd len="sm" w="sm" type="none"/>
            <a:tailEnd len="sm" w="sm" type="none"/>
          </a:ln>
        </p:spPr>
      </p:cxnSp>
      <p:sp>
        <p:nvSpPr>
          <p:cNvPr id="491" name="Google Shape;491;p72"/>
          <p:cNvSpPr txBox="1"/>
          <p:nvPr/>
        </p:nvSpPr>
        <p:spPr>
          <a:xfrm>
            <a:off x="337100" y="1470025"/>
            <a:ext cx="7387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a:latin typeface="DM Sans"/>
                <a:ea typeface="DM Sans"/>
                <a:cs typeface="DM Sans"/>
                <a:sym typeface="DM Sans"/>
              </a:rPr>
              <a:t>WORKDAY and NETWORKDAYS with Holidays</a:t>
            </a:r>
            <a:endParaRPr b="1">
              <a:latin typeface="DM Sans"/>
              <a:ea typeface="DM Sans"/>
              <a:cs typeface="DM Sans"/>
              <a:sym typeface="DM Sans"/>
            </a:endParaRPr>
          </a:p>
        </p:txBody>
      </p:sp>
      <p:graphicFrame>
        <p:nvGraphicFramePr>
          <p:cNvPr id="492" name="Google Shape;492;p72"/>
          <p:cNvGraphicFramePr/>
          <p:nvPr/>
        </p:nvGraphicFramePr>
        <p:xfrm>
          <a:off x="489500" y="2162050"/>
          <a:ext cx="3000000" cy="3000000"/>
        </p:xfrm>
        <a:graphic>
          <a:graphicData uri="http://schemas.openxmlformats.org/drawingml/2006/table">
            <a:tbl>
              <a:tblPr>
                <a:noFill/>
                <a:tableStyleId>{1763C044-64AD-4526-8368-3DBAC99FAD4E}</a:tableStyleId>
              </a:tblPr>
              <a:tblGrid>
                <a:gridCol w="1209900"/>
                <a:gridCol w="1335125"/>
                <a:gridCol w="2661750"/>
                <a:gridCol w="2725225"/>
              </a:tblGrid>
              <a:tr h="611875">
                <a:tc>
                  <a:txBody>
                    <a:bodyPr/>
                    <a:lstStyle/>
                    <a:p>
                      <a:pPr indent="0" lvl="0" marL="0" rtl="0" algn="ctr">
                        <a:lnSpc>
                          <a:spcPct val="115000"/>
                        </a:lnSpc>
                        <a:spcBef>
                          <a:spcPts val="0"/>
                        </a:spcBef>
                        <a:spcAft>
                          <a:spcPts val="0"/>
                        </a:spcAft>
                        <a:buNone/>
                      </a:pPr>
                      <a:r>
                        <a:rPr b="1" lang="en">
                          <a:latin typeface="DM Sans"/>
                          <a:ea typeface="DM Sans"/>
                          <a:cs typeface="DM Sans"/>
                          <a:sym typeface="DM Sans"/>
                        </a:rPr>
                        <a:t>Start Date</a:t>
                      </a:r>
                      <a:endParaRPr>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latin typeface="DM Sans"/>
                          <a:ea typeface="DM Sans"/>
                          <a:cs typeface="DM Sans"/>
                          <a:sym typeface="DM Sans"/>
                        </a:rPr>
                        <a:t>End Date</a:t>
                      </a:r>
                      <a:endParaRPr>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latin typeface="DM Sans"/>
                          <a:ea typeface="DM Sans"/>
                          <a:cs typeface="DM Sans"/>
                          <a:sym typeface="DM Sans"/>
                        </a:rPr>
                        <a:t>WORKDAY (Add 10 Days, Exclude Holidays)</a:t>
                      </a:r>
                      <a:endParaRPr>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latin typeface="DM Sans"/>
                          <a:ea typeface="DM Sans"/>
                          <a:cs typeface="DM Sans"/>
                          <a:sym typeface="DM Sans"/>
                        </a:rPr>
                        <a:t>NETWORKDAYS (Count Days, Exclude Holidays)</a:t>
                      </a:r>
                      <a:endParaRPr>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98475">
                <a:tc>
                  <a:txBody>
                    <a:bodyPr/>
                    <a:lstStyle/>
                    <a:p>
                      <a:pPr indent="0" lvl="0" marL="0" rtl="0" algn="l">
                        <a:lnSpc>
                          <a:spcPct val="115000"/>
                        </a:lnSpc>
                        <a:spcBef>
                          <a:spcPts val="0"/>
                        </a:spcBef>
                        <a:spcAft>
                          <a:spcPts val="0"/>
                        </a:spcAft>
                        <a:buNone/>
                      </a:pPr>
                      <a:r>
                        <a:rPr lang="en">
                          <a:latin typeface="DM Sans"/>
                          <a:ea typeface="DM Sans"/>
                          <a:cs typeface="DM Sans"/>
                          <a:sym typeface="DM Sans"/>
                        </a:rPr>
                        <a:t>2025-01-01</a:t>
                      </a:r>
                      <a:endParaRPr>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DM Sans"/>
                          <a:ea typeface="DM Sans"/>
                          <a:cs typeface="DM Sans"/>
                          <a:sym typeface="DM Sans"/>
                        </a:rPr>
                        <a:t>2025-01-22</a:t>
                      </a:r>
                      <a:endParaRPr>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DM Sans"/>
                          <a:ea typeface="DM Sans"/>
                          <a:cs typeface="DM Sans"/>
                          <a:sym typeface="DM Sans"/>
                        </a:rPr>
                        <a:t>=WORKDAY(A2, 10, {"2025-01-10", "2025-01-15"})</a:t>
                      </a:r>
                      <a:endParaRPr b="1">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DM Sans"/>
                          <a:ea typeface="DM Sans"/>
                          <a:cs typeface="DM Sans"/>
                          <a:sym typeface="DM Sans"/>
                        </a:rPr>
                        <a:t>=NETWORKDAYS(A2, B2, {"2025-01-10", "2025-01-15"})</a:t>
                      </a:r>
                      <a:endParaRPr b="1">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73"/>
          <p:cNvSpPr txBox="1"/>
          <p:nvPr>
            <p:ph type="title"/>
          </p:nvPr>
        </p:nvSpPr>
        <p:spPr>
          <a:xfrm>
            <a:off x="489500" y="459725"/>
            <a:ext cx="68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DM Sans"/>
                <a:ea typeface="DM Sans"/>
                <a:cs typeface="DM Sans"/>
                <a:sym typeface="DM Sans"/>
              </a:rPr>
              <a:t>Example Table: Using Holidays</a:t>
            </a:r>
            <a:endParaRPr b="1" sz="2500">
              <a:latin typeface="DM Sans"/>
              <a:ea typeface="DM Sans"/>
              <a:cs typeface="DM Sans"/>
              <a:sym typeface="DM Sans"/>
            </a:endParaRPr>
          </a:p>
        </p:txBody>
      </p:sp>
      <p:cxnSp>
        <p:nvCxnSpPr>
          <p:cNvPr id="498" name="Google Shape;498;p73"/>
          <p:cNvCxnSpPr/>
          <p:nvPr/>
        </p:nvCxnSpPr>
        <p:spPr>
          <a:xfrm>
            <a:off x="565695" y="1080438"/>
            <a:ext cx="2638500" cy="0"/>
          </a:xfrm>
          <a:prstGeom prst="straightConnector1">
            <a:avLst/>
          </a:prstGeom>
          <a:noFill/>
          <a:ln cap="flat" cmpd="sng" w="19050">
            <a:solidFill>
              <a:schemeClr val="dk1"/>
            </a:solidFill>
            <a:prstDash val="solid"/>
            <a:round/>
            <a:headEnd len="sm" w="sm" type="none"/>
            <a:tailEnd len="sm" w="sm" type="none"/>
          </a:ln>
        </p:spPr>
      </p:cxnSp>
      <p:graphicFrame>
        <p:nvGraphicFramePr>
          <p:cNvPr id="499" name="Google Shape;499;p73"/>
          <p:cNvGraphicFramePr/>
          <p:nvPr/>
        </p:nvGraphicFramePr>
        <p:xfrm>
          <a:off x="363775" y="1667275"/>
          <a:ext cx="3000000" cy="3000000"/>
        </p:xfrm>
        <a:graphic>
          <a:graphicData uri="http://schemas.openxmlformats.org/drawingml/2006/table">
            <a:tbl>
              <a:tblPr>
                <a:noFill/>
                <a:tableStyleId>{1763C044-64AD-4526-8368-3DBAC99FAD4E}</a:tableStyleId>
              </a:tblPr>
              <a:tblGrid>
                <a:gridCol w="1259350"/>
                <a:gridCol w="1175875"/>
                <a:gridCol w="2332200"/>
                <a:gridCol w="2593550"/>
              </a:tblGrid>
              <a:tr h="865075">
                <a:tc>
                  <a:txBody>
                    <a:bodyPr/>
                    <a:lstStyle/>
                    <a:p>
                      <a:pPr indent="0" lvl="0" marL="0" rtl="0" algn="l">
                        <a:lnSpc>
                          <a:spcPct val="115000"/>
                        </a:lnSpc>
                        <a:spcBef>
                          <a:spcPts val="0"/>
                        </a:spcBef>
                        <a:spcAft>
                          <a:spcPts val="0"/>
                        </a:spcAft>
                        <a:buNone/>
                      </a:pPr>
                      <a:r>
                        <a:rPr lang="en">
                          <a:latin typeface="DM Sans"/>
                          <a:ea typeface="DM Sans"/>
                          <a:cs typeface="DM Sans"/>
                          <a:sym typeface="DM Sans"/>
                        </a:rPr>
                        <a:t>2023-12-15</a:t>
                      </a:r>
                      <a:endParaRPr>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DM Sans"/>
                          <a:ea typeface="DM Sans"/>
                          <a:cs typeface="DM Sans"/>
                          <a:sym typeface="DM Sans"/>
                        </a:rPr>
                        <a:t>2024-01-10</a:t>
                      </a:r>
                      <a:endParaRPr>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DM Sans"/>
                          <a:ea typeface="DM Sans"/>
                          <a:cs typeface="DM Sans"/>
                          <a:sym typeface="DM Sans"/>
                        </a:rPr>
                        <a:t>=WORKDAY(A3, 10, {"2023-12-25", "2024-01-01"})</a:t>
                      </a:r>
                      <a:endParaRPr b="1">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DM Sans"/>
                          <a:ea typeface="DM Sans"/>
                          <a:cs typeface="DM Sans"/>
                          <a:sym typeface="DM Sans"/>
                        </a:rPr>
                        <a:t>=NETWORKDAYS(A3, B3, {"2023-12-25", "2024-01-01"})</a:t>
                      </a:r>
                      <a:endParaRPr b="1">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65075">
                <a:tc>
                  <a:txBody>
                    <a:bodyPr/>
                    <a:lstStyle/>
                    <a:p>
                      <a:pPr indent="0" lvl="0" marL="0" rtl="0" algn="l">
                        <a:lnSpc>
                          <a:spcPct val="115000"/>
                        </a:lnSpc>
                        <a:spcBef>
                          <a:spcPts val="0"/>
                        </a:spcBef>
                        <a:spcAft>
                          <a:spcPts val="0"/>
                        </a:spcAft>
                        <a:buNone/>
                      </a:pPr>
                      <a:r>
                        <a:rPr lang="en">
                          <a:latin typeface="DM Sans"/>
                          <a:ea typeface="DM Sans"/>
                          <a:cs typeface="DM Sans"/>
                          <a:sym typeface="DM Sans"/>
                        </a:rPr>
                        <a:t>2025-05-01</a:t>
                      </a:r>
                      <a:endParaRPr>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latin typeface="DM Sans"/>
                          <a:ea typeface="DM Sans"/>
                          <a:cs typeface="DM Sans"/>
                          <a:sym typeface="DM Sans"/>
                        </a:rPr>
                        <a:t>2025-05-15</a:t>
                      </a:r>
                      <a:endParaRPr>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DM Sans"/>
                          <a:ea typeface="DM Sans"/>
                          <a:cs typeface="DM Sans"/>
                          <a:sym typeface="DM Sans"/>
                        </a:rPr>
                        <a:t>=WORKDAY(A4, 10, {"2025-05-05", "2025-05-10"})</a:t>
                      </a:r>
                      <a:endParaRPr b="1">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rgbClr val="188038"/>
                          </a:solidFill>
                          <a:latin typeface="DM Sans"/>
                          <a:ea typeface="DM Sans"/>
                          <a:cs typeface="DM Sans"/>
                          <a:sym typeface="DM Sans"/>
                        </a:rPr>
                        <a:t>=NETWORKDAYS(A4, B4, {"2025-05-05", "2025-05-10"})</a:t>
                      </a:r>
                      <a:endParaRPr b="1">
                        <a:solidFill>
                          <a:srgbClr val="188038"/>
                        </a:solidFill>
                        <a:latin typeface="DM Sans"/>
                        <a:ea typeface="DM Sans"/>
                        <a:cs typeface="DM Sans"/>
                        <a:sym typeface="DM Sans"/>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DM Sans"/>
                <a:ea typeface="DM Sans"/>
                <a:cs typeface="DM Sans"/>
                <a:sym typeface="DM Sans"/>
              </a:rPr>
              <a:t>Let’s Apply What You Learned! </a:t>
            </a:r>
            <a:endParaRPr b="1">
              <a:latin typeface="DM Sans"/>
              <a:ea typeface="DM Sans"/>
              <a:cs typeface="DM Sans"/>
              <a:sym typeface="DM Sans"/>
            </a:endParaRPr>
          </a:p>
        </p:txBody>
      </p:sp>
      <p:sp>
        <p:nvSpPr>
          <p:cNvPr id="505" name="Google Shape;505;p74"/>
          <p:cNvSpPr txBox="1"/>
          <p:nvPr>
            <p:ph idx="1" type="body"/>
          </p:nvPr>
        </p:nvSpPr>
        <p:spPr>
          <a:xfrm>
            <a:off x="311700" y="1100325"/>
            <a:ext cx="4936200" cy="3784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300">
                <a:solidFill>
                  <a:schemeClr val="dk1"/>
                </a:solidFill>
                <a:latin typeface="DM Sans"/>
                <a:ea typeface="DM Sans"/>
                <a:cs typeface="DM Sans"/>
                <a:sym typeface="DM Sans"/>
              </a:rPr>
              <a:t>You are working on a project tracker in Excel.</a:t>
            </a:r>
            <a:endParaRPr sz="1300">
              <a:solidFill>
                <a:schemeClr val="dk1"/>
              </a:solidFill>
              <a:latin typeface="DM Sans"/>
              <a:ea typeface="DM Sans"/>
              <a:cs typeface="DM Sans"/>
              <a:sym typeface="DM Sans"/>
            </a:endParaRPr>
          </a:p>
          <a:p>
            <a:pPr indent="-311150" lvl="0" marL="457200" rtl="0" algn="l">
              <a:spcBef>
                <a:spcPts val="1200"/>
              </a:spcBef>
              <a:spcAft>
                <a:spcPts val="0"/>
              </a:spcAft>
              <a:buClr>
                <a:schemeClr val="dk1"/>
              </a:buClr>
              <a:buSzPts val="1300"/>
              <a:buChar char="●"/>
            </a:pPr>
            <a:r>
              <a:rPr b="1" lang="en" sz="1300">
                <a:solidFill>
                  <a:schemeClr val="dk1"/>
                </a:solidFill>
                <a:latin typeface="DM Sans"/>
                <a:ea typeface="DM Sans"/>
                <a:cs typeface="DM Sans"/>
                <a:sym typeface="DM Sans"/>
              </a:rPr>
              <a:t>Start Date:</a:t>
            </a:r>
            <a:r>
              <a:rPr lang="en" sz="1300">
                <a:solidFill>
                  <a:schemeClr val="dk1"/>
                </a:solidFill>
                <a:latin typeface="DM Sans"/>
                <a:ea typeface="DM Sans"/>
                <a:cs typeface="DM Sans"/>
                <a:sym typeface="DM Sans"/>
              </a:rPr>
              <a:t> 1-Jan-2025</a:t>
            </a:r>
            <a:endParaRPr sz="1300">
              <a:solidFill>
                <a:schemeClr val="dk1"/>
              </a:solidFill>
              <a:latin typeface="DM Sans"/>
              <a:ea typeface="DM Sans"/>
              <a:cs typeface="DM Sans"/>
              <a:sym typeface="DM Sans"/>
            </a:endParaRPr>
          </a:p>
          <a:p>
            <a:pPr indent="-311150" lvl="0" marL="457200" rtl="0" algn="l">
              <a:spcBef>
                <a:spcPts val="0"/>
              </a:spcBef>
              <a:spcAft>
                <a:spcPts val="0"/>
              </a:spcAft>
              <a:buClr>
                <a:schemeClr val="dk1"/>
              </a:buClr>
              <a:buSzPts val="1300"/>
              <a:buChar char="●"/>
            </a:pPr>
            <a:r>
              <a:rPr b="1" lang="en" sz="1300">
                <a:solidFill>
                  <a:schemeClr val="dk1"/>
                </a:solidFill>
                <a:latin typeface="DM Sans"/>
                <a:ea typeface="DM Sans"/>
                <a:cs typeface="DM Sans"/>
                <a:sym typeface="DM Sans"/>
              </a:rPr>
              <a:t>Today’s Date:</a:t>
            </a:r>
            <a:r>
              <a:rPr lang="en" sz="1300">
                <a:solidFill>
                  <a:schemeClr val="dk1"/>
                </a:solidFill>
                <a:latin typeface="DM Sans"/>
                <a:ea typeface="DM Sans"/>
                <a:cs typeface="DM Sans"/>
                <a:sym typeface="DM Sans"/>
              </a:rPr>
              <a:t> (should update automatically)</a:t>
            </a:r>
            <a:endParaRPr sz="13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lang="en" sz="1300">
                <a:solidFill>
                  <a:schemeClr val="dk1"/>
                </a:solidFill>
                <a:latin typeface="DM Sans"/>
                <a:ea typeface="DM Sans"/>
                <a:cs typeface="DM Sans"/>
                <a:sym typeface="DM Sans"/>
              </a:rPr>
              <a:t>You want to calculate </a:t>
            </a:r>
            <a:r>
              <a:rPr b="1" lang="en" sz="1300">
                <a:solidFill>
                  <a:schemeClr val="dk1"/>
                </a:solidFill>
                <a:latin typeface="DM Sans"/>
                <a:ea typeface="DM Sans"/>
                <a:cs typeface="DM Sans"/>
                <a:sym typeface="DM Sans"/>
              </a:rPr>
              <a:t>how many days are left to complete the project</a:t>
            </a:r>
            <a:r>
              <a:rPr lang="en" sz="1300">
                <a:solidFill>
                  <a:schemeClr val="dk1"/>
                </a:solidFill>
                <a:latin typeface="DM Sans"/>
                <a:ea typeface="DM Sans"/>
                <a:cs typeface="DM Sans"/>
                <a:sym typeface="DM Sans"/>
              </a:rPr>
              <a:t>.</a:t>
            </a:r>
            <a:endParaRPr sz="13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b="1" lang="en" sz="1300">
                <a:solidFill>
                  <a:schemeClr val="dk1"/>
                </a:solidFill>
                <a:latin typeface="DM Sans"/>
                <a:ea typeface="DM Sans"/>
                <a:cs typeface="DM Sans"/>
                <a:sym typeface="DM Sans"/>
              </a:rPr>
              <a:t>Which formula would you use?</a:t>
            </a:r>
            <a:endParaRPr b="1" sz="13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lang="en" sz="1300">
                <a:solidFill>
                  <a:schemeClr val="dk1"/>
                </a:solidFill>
                <a:latin typeface="DM Sans"/>
                <a:ea typeface="DM Sans"/>
                <a:cs typeface="DM Sans"/>
                <a:sym typeface="DM Sans"/>
              </a:rPr>
              <a:t>A) =DATEDIF("1-Jan-2025", TODAY(), "D")</a:t>
            </a:r>
            <a:br>
              <a:rPr lang="en" sz="1300">
                <a:solidFill>
                  <a:schemeClr val="dk1"/>
                </a:solidFill>
                <a:latin typeface="DM Sans"/>
                <a:ea typeface="DM Sans"/>
                <a:cs typeface="DM Sans"/>
                <a:sym typeface="DM Sans"/>
              </a:rPr>
            </a:br>
            <a:r>
              <a:rPr lang="en" sz="1300">
                <a:solidFill>
                  <a:schemeClr val="dk1"/>
                </a:solidFill>
                <a:latin typeface="DM Sans"/>
                <a:ea typeface="DM Sans"/>
                <a:cs typeface="DM Sans"/>
                <a:sym typeface="DM Sans"/>
              </a:rPr>
              <a:t>B) =TODAY() - "1-Jan-2025"</a:t>
            </a:r>
            <a:br>
              <a:rPr lang="en" sz="1300">
                <a:solidFill>
                  <a:schemeClr val="dk1"/>
                </a:solidFill>
                <a:latin typeface="DM Sans"/>
                <a:ea typeface="DM Sans"/>
                <a:cs typeface="DM Sans"/>
                <a:sym typeface="DM Sans"/>
              </a:rPr>
            </a:br>
            <a:r>
              <a:rPr lang="en" sz="1300">
                <a:solidFill>
                  <a:schemeClr val="dk1"/>
                </a:solidFill>
                <a:latin typeface="DM Sans"/>
                <a:ea typeface="DM Sans"/>
                <a:cs typeface="DM Sans"/>
                <a:sym typeface="DM Sans"/>
              </a:rPr>
              <a:t>C) ="1-Jan-2025" - TODAY()</a:t>
            </a:r>
            <a:br>
              <a:rPr lang="en" sz="1300">
                <a:solidFill>
                  <a:schemeClr val="dk1"/>
                </a:solidFill>
                <a:latin typeface="DM Sans"/>
                <a:ea typeface="DM Sans"/>
                <a:cs typeface="DM Sans"/>
                <a:sym typeface="DM Sans"/>
              </a:rPr>
            </a:br>
            <a:r>
              <a:rPr lang="en" sz="1300">
                <a:solidFill>
                  <a:schemeClr val="dk1"/>
                </a:solidFill>
                <a:latin typeface="DM Sans"/>
                <a:ea typeface="DM Sans"/>
                <a:cs typeface="DM Sans"/>
                <a:sym typeface="DM Sans"/>
              </a:rPr>
              <a:t>D) =DATE() - TODAY()</a:t>
            </a:r>
            <a:endParaRPr sz="13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b="1" lang="en" sz="1300">
                <a:solidFill>
                  <a:schemeClr val="dk1"/>
                </a:solidFill>
                <a:latin typeface="DM Sans"/>
                <a:ea typeface="DM Sans"/>
                <a:cs typeface="DM Sans"/>
                <a:sym typeface="DM Sans"/>
              </a:rPr>
              <a:t>Challenge:</a:t>
            </a:r>
            <a:br>
              <a:rPr b="1" lang="en" sz="1300">
                <a:solidFill>
                  <a:schemeClr val="dk1"/>
                </a:solidFill>
                <a:latin typeface="DM Sans"/>
                <a:ea typeface="DM Sans"/>
                <a:cs typeface="DM Sans"/>
                <a:sym typeface="DM Sans"/>
              </a:rPr>
            </a:br>
            <a:r>
              <a:rPr lang="en" sz="1300">
                <a:solidFill>
                  <a:schemeClr val="dk1"/>
                </a:solidFill>
                <a:latin typeface="DM Sans"/>
                <a:ea typeface="DM Sans"/>
                <a:cs typeface="DM Sans"/>
                <a:sym typeface="DM Sans"/>
              </a:rPr>
              <a:t>How would you modify the formula to show </a:t>
            </a:r>
            <a:r>
              <a:rPr b="1" lang="en" sz="1300">
                <a:solidFill>
                  <a:schemeClr val="dk1"/>
                </a:solidFill>
                <a:latin typeface="DM Sans"/>
                <a:ea typeface="DM Sans"/>
                <a:cs typeface="DM Sans"/>
                <a:sym typeface="DM Sans"/>
              </a:rPr>
              <a:t>“Overdue”</a:t>
            </a:r>
            <a:r>
              <a:rPr lang="en" sz="1300">
                <a:solidFill>
                  <a:schemeClr val="dk1"/>
                </a:solidFill>
                <a:latin typeface="DM Sans"/>
                <a:ea typeface="DM Sans"/>
                <a:cs typeface="DM Sans"/>
                <a:sym typeface="DM Sans"/>
              </a:rPr>
              <a:t> if the deadline has passed?</a:t>
            </a:r>
            <a:endParaRPr sz="13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t/>
            </a:r>
            <a:endParaRPr i="1" sz="1300">
              <a:solidFill>
                <a:schemeClr val="dk1"/>
              </a:solidFill>
              <a:latin typeface="DM Sans"/>
              <a:ea typeface="DM Sans"/>
              <a:cs typeface="DM Sans"/>
              <a:sym typeface="DM Sans"/>
            </a:endParaRPr>
          </a:p>
          <a:p>
            <a:pPr indent="0" lvl="0" marL="0" rtl="0" algn="l">
              <a:spcBef>
                <a:spcPts val="1200"/>
              </a:spcBef>
              <a:spcAft>
                <a:spcPts val="1200"/>
              </a:spcAft>
              <a:buNone/>
            </a:pPr>
            <a:r>
              <a:t/>
            </a:r>
            <a:endParaRPr sz="1300">
              <a:latin typeface="DM Sans"/>
              <a:ea typeface="DM Sans"/>
              <a:cs typeface="DM Sans"/>
              <a:sym typeface="DM Sans"/>
            </a:endParaRPr>
          </a:p>
        </p:txBody>
      </p:sp>
      <p:pic>
        <p:nvPicPr>
          <p:cNvPr id="506" name="Google Shape;506;p74"/>
          <p:cNvPicPr preferRelativeResize="0"/>
          <p:nvPr/>
        </p:nvPicPr>
        <p:blipFill>
          <a:blip r:embed="rId3">
            <a:alphaModFix/>
          </a:blip>
          <a:stretch>
            <a:fillRect/>
          </a:stretch>
        </p:blipFill>
        <p:spPr>
          <a:xfrm>
            <a:off x="5631050" y="1341250"/>
            <a:ext cx="3201249" cy="320124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en" sz="2500">
                <a:latin typeface="DM Sans"/>
                <a:ea typeface="DM Sans"/>
                <a:cs typeface="DM Sans"/>
                <a:sym typeface="DM Sans"/>
              </a:rPr>
              <a:t>ANSWER &amp; EXPLANATION</a:t>
            </a:r>
            <a:endParaRPr sz="2500">
              <a:latin typeface="DM Sans"/>
              <a:ea typeface="DM Sans"/>
              <a:cs typeface="DM Sans"/>
              <a:sym typeface="DM Sans"/>
            </a:endParaRPr>
          </a:p>
        </p:txBody>
      </p:sp>
      <p:sp>
        <p:nvSpPr>
          <p:cNvPr id="512" name="Google Shape;512;p75"/>
          <p:cNvSpPr txBox="1"/>
          <p:nvPr>
            <p:ph idx="1" type="body"/>
          </p:nvPr>
        </p:nvSpPr>
        <p:spPr>
          <a:xfrm>
            <a:off x="311700" y="1152475"/>
            <a:ext cx="50301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solidFill>
                  <a:schemeClr val="dk1"/>
                </a:solidFill>
                <a:latin typeface="DM Sans"/>
                <a:ea typeface="DM Sans"/>
                <a:cs typeface="DM Sans"/>
                <a:sym typeface="DM Sans"/>
              </a:rPr>
              <a:t>✔️ </a:t>
            </a:r>
            <a:r>
              <a:rPr b="1" lang="en" sz="1400">
                <a:solidFill>
                  <a:schemeClr val="dk1"/>
                </a:solidFill>
                <a:latin typeface="DM Sans"/>
                <a:ea typeface="DM Sans"/>
                <a:cs typeface="DM Sans"/>
                <a:sym typeface="DM Sans"/>
              </a:rPr>
              <a:t>Correct Answer:  C) ="1-Jan-2025" - TODAY()</a:t>
            </a:r>
            <a:endParaRPr b="1" sz="14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b="1" lang="en" sz="1400">
                <a:solidFill>
                  <a:schemeClr val="dk1"/>
                </a:solidFill>
                <a:latin typeface="DM Sans"/>
                <a:ea typeface="DM Sans"/>
                <a:cs typeface="DM Sans"/>
                <a:sym typeface="DM Sans"/>
              </a:rPr>
              <a:t>Explanation:</a:t>
            </a:r>
            <a:endParaRPr b="1" sz="1400">
              <a:solidFill>
                <a:schemeClr val="dk1"/>
              </a:solidFill>
              <a:latin typeface="DM Sans"/>
              <a:ea typeface="DM Sans"/>
              <a:cs typeface="DM Sans"/>
              <a:sym typeface="DM Sans"/>
            </a:endParaRPr>
          </a:p>
          <a:p>
            <a:pPr indent="-317500" lvl="0" marL="457200" rtl="0" algn="l">
              <a:spcBef>
                <a:spcPts val="1200"/>
              </a:spcBef>
              <a:spcAft>
                <a:spcPts val="0"/>
              </a:spcAft>
              <a:buClr>
                <a:schemeClr val="dk1"/>
              </a:buClr>
              <a:buSzPts val="1400"/>
              <a:buChar char="●"/>
            </a:pPr>
            <a:r>
              <a:rPr lang="en" sz="1400">
                <a:solidFill>
                  <a:schemeClr val="dk1"/>
                </a:solidFill>
                <a:latin typeface="DM Sans"/>
                <a:ea typeface="DM Sans"/>
                <a:cs typeface="DM Sans"/>
                <a:sym typeface="DM Sans"/>
              </a:rPr>
              <a:t>This formula calculates the </a:t>
            </a:r>
            <a:r>
              <a:rPr b="1" lang="en" sz="1400">
                <a:solidFill>
                  <a:schemeClr val="dk1"/>
                </a:solidFill>
                <a:latin typeface="DM Sans"/>
                <a:ea typeface="DM Sans"/>
                <a:cs typeface="DM Sans"/>
                <a:sym typeface="DM Sans"/>
              </a:rPr>
              <a:t>remaining days</a:t>
            </a:r>
            <a:r>
              <a:rPr lang="en" sz="1400">
                <a:solidFill>
                  <a:schemeClr val="dk1"/>
                </a:solidFill>
                <a:latin typeface="DM Sans"/>
                <a:ea typeface="DM Sans"/>
                <a:cs typeface="DM Sans"/>
                <a:sym typeface="DM Sans"/>
              </a:rPr>
              <a:t> from today to the deadline.</a:t>
            </a:r>
            <a:endParaRPr sz="1400">
              <a:solidFill>
                <a:schemeClr val="dk1"/>
              </a:solidFill>
              <a:latin typeface="DM Sans"/>
              <a:ea typeface="DM Sans"/>
              <a:cs typeface="DM Sans"/>
              <a:sym typeface="DM Sans"/>
            </a:endParaRPr>
          </a:p>
          <a:p>
            <a:pPr indent="-317500" lvl="0" marL="457200" rtl="0" algn="l">
              <a:spcBef>
                <a:spcPts val="1200"/>
              </a:spcBef>
              <a:spcAft>
                <a:spcPts val="0"/>
              </a:spcAft>
              <a:buClr>
                <a:schemeClr val="dk1"/>
              </a:buClr>
              <a:buSzPts val="1400"/>
              <a:buChar char="●"/>
            </a:pPr>
            <a:r>
              <a:rPr lang="en" sz="1400">
                <a:solidFill>
                  <a:schemeClr val="dk1"/>
                </a:solidFill>
                <a:latin typeface="DM Sans"/>
                <a:ea typeface="DM Sans"/>
                <a:cs typeface="DM Sans"/>
                <a:sym typeface="DM Sans"/>
              </a:rPr>
              <a:t>If the result is </a:t>
            </a:r>
            <a:r>
              <a:rPr b="1" lang="en" sz="1400">
                <a:solidFill>
                  <a:schemeClr val="dk1"/>
                </a:solidFill>
                <a:latin typeface="DM Sans"/>
                <a:ea typeface="DM Sans"/>
                <a:cs typeface="DM Sans"/>
                <a:sym typeface="DM Sans"/>
              </a:rPr>
              <a:t>positive → days left</a:t>
            </a:r>
            <a:endParaRPr b="1" sz="1400">
              <a:solidFill>
                <a:schemeClr val="dk1"/>
              </a:solidFill>
              <a:latin typeface="DM Sans"/>
              <a:ea typeface="DM Sans"/>
              <a:cs typeface="DM Sans"/>
              <a:sym typeface="DM Sans"/>
            </a:endParaRPr>
          </a:p>
          <a:p>
            <a:pPr indent="-317500" lvl="0" marL="457200" rtl="0" algn="l">
              <a:spcBef>
                <a:spcPts val="1000"/>
              </a:spcBef>
              <a:spcAft>
                <a:spcPts val="0"/>
              </a:spcAft>
              <a:buClr>
                <a:schemeClr val="dk1"/>
              </a:buClr>
              <a:buSzPts val="1400"/>
              <a:buChar char="●"/>
            </a:pPr>
            <a:r>
              <a:rPr lang="en" sz="1400">
                <a:solidFill>
                  <a:schemeClr val="dk1"/>
                </a:solidFill>
                <a:latin typeface="DM Sans"/>
                <a:ea typeface="DM Sans"/>
                <a:cs typeface="DM Sans"/>
                <a:sym typeface="DM Sans"/>
              </a:rPr>
              <a:t>If the result is </a:t>
            </a:r>
            <a:r>
              <a:rPr b="1" lang="en" sz="1400">
                <a:solidFill>
                  <a:schemeClr val="dk1"/>
                </a:solidFill>
                <a:latin typeface="DM Sans"/>
                <a:ea typeface="DM Sans"/>
                <a:cs typeface="DM Sans"/>
                <a:sym typeface="DM Sans"/>
              </a:rPr>
              <a:t>negative → project is overdue</a:t>
            </a:r>
            <a:endParaRPr b="1" sz="1400">
              <a:solidFill>
                <a:schemeClr val="dk1"/>
              </a:solidFill>
              <a:latin typeface="DM Sans"/>
              <a:ea typeface="DM Sans"/>
              <a:cs typeface="DM Sans"/>
              <a:sym typeface="DM Sans"/>
            </a:endParaRPr>
          </a:p>
          <a:p>
            <a:pPr indent="0" lvl="0" marL="0" rtl="0" algn="l">
              <a:spcBef>
                <a:spcPts val="1200"/>
              </a:spcBef>
              <a:spcAft>
                <a:spcPts val="1200"/>
              </a:spcAft>
              <a:buNone/>
            </a:pPr>
            <a:r>
              <a:rPr b="1" lang="en" sz="1400">
                <a:solidFill>
                  <a:schemeClr val="dk1"/>
                </a:solidFill>
                <a:latin typeface="DM Sans"/>
                <a:ea typeface="DM Sans"/>
                <a:cs typeface="DM Sans"/>
                <a:sym typeface="DM Sans"/>
              </a:rPr>
              <a:t>Solution (Overdue Condition):</a:t>
            </a:r>
            <a:br>
              <a:rPr b="1" lang="en" sz="1400">
                <a:solidFill>
                  <a:schemeClr val="dk1"/>
                </a:solidFill>
                <a:latin typeface="DM Sans"/>
                <a:ea typeface="DM Sans"/>
                <a:cs typeface="DM Sans"/>
                <a:sym typeface="DM Sans"/>
              </a:rPr>
            </a:br>
            <a:r>
              <a:rPr lang="en" sz="1400">
                <a:solidFill>
                  <a:schemeClr val="dk1"/>
                </a:solidFill>
                <a:latin typeface="DM Sans"/>
                <a:ea typeface="DM Sans"/>
                <a:cs typeface="DM Sans"/>
                <a:sym typeface="DM Sans"/>
              </a:rPr>
              <a:t>=IF("1-Jan-2025" - TODAY() &lt; 0, "Overdue", "On Track")</a:t>
            </a:r>
            <a:endParaRPr sz="1400">
              <a:latin typeface="DM Sans"/>
              <a:ea typeface="DM Sans"/>
              <a:cs typeface="DM Sans"/>
              <a:sym typeface="DM Sans"/>
            </a:endParaRPr>
          </a:p>
        </p:txBody>
      </p:sp>
      <p:sp>
        <p:nvSpPr>
          <p:cNvPr id="513" name="Google Shape;513;p75"/>
          <p:cNvSpPr txBox="1"/>
          <p:nvPr/>
        </p:nvSpPr>
        <p:spPr>
          <a:xfrm>
            <a:off x="5519075" y="1382000"/>
            <a:ext cx="3313200" cy="274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DM Sans"/>
                <a:ea typeface="DM Sans"/>
                <a:cs typeface="DM Sans"/>
                <a:sym typeface="DM Sans"/>
              </a:rPr>
              <a:t>Key Learning:</a:t>
            </a:r>
            <a:endParaRPr b="1">
              <a:solidFill>
                <a:schemeClr val="dk1"/>
              </a:solidFill>
              <a:latin typeface="DM Sans"/>
              <a:ea typeface="DM Sans"/>
              <a:cs typeface="DM Sans"/>
              <a:sym typeface="DM Sans"/>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latin typeface="DM Sans"/>
                <a:ea typeface="DM Sans"/>
                <a:cs typeface="DM Sans"/>
                <a:sym typeface="DM Sans"/>
              </a:rPr>
              <a:t>Use </a:t>
            </a:r>
            <a:r>
              <a:rPr b="1" lang="en">
                <a:solidFill>
                  <a:schemeClr val="dk1"/>
                </a:solidFill>
                <a:latin typeface="DM Sans"/>
                <a:ea typeface="DM Sans"/>
                <a:cs typeface="DM Sans"/>
                <a:sym typeface="DM Sans"/>
              </a:rPr>
              <a:t>TODAY()</a:t>
            </a:r>
            <a:r>
              <a:rPr lang="en">
                <a:solidFill>
                  <a:schemeClr val="dk1"/>
                </a:solidFill>
                <a:latin typeface="DM Sans"/>
                <a:ea typeface="DM Sans"/>
                <a:cs typeface="DM Sans"/>
                <a:sym typeface="DM Sans"/>
              </a:rPr>
              <a:t> for dynamic date updates</a:t>
            </a:r>
            <a:endParaRPr>
              <a:solidFill>
                <a:schemeClr val="dk1"/>
              </a:solidFill>
              <a:latin typeface="DM Sans"/>
              <a:ea typeface="DM Sans"/>
              <a:cs typeface="DM Sans"/>
              <a:sym typeface="DM Sans"/>
            </a:endParaRPr>
          </a:p>
          <a:p>
            <a:pPr indent="-317500" lvl="0" marL="457200" rtl="0" algn="l">
              <a:lnSpc>
                <a:spcPct val="115000"/>
              </a:lnSpc>
              <a:spcBef>
                <a:spcPts val="1200"/>
              </a:spcBef>
              <a:spcAft>
                <a:spcPts val="0"/>
              </a:spcAft>
              <a:buClr>
                <a:schemeClr val="dk1"/>
              </a:buClr>
              <a:buSzPts val="1400"/>
              <a:buFont typeface="DM Sans"/>
              <a:buChar char="●"/>
            </a:pPr>
            <a:r>
              <a:rPr lang="en">
                <a:solidFill>
                  <a:schemeClr val="dk1"/>
                </a:solidFill>
                <a:latin typeface="DM Sans"/>
                <a:ea typeface="DM Sans"/>
                <a:cs typeface="DM Sans"/>
                <a:sym typeface="DM Sans"/>
              </a:rPr>
              <a:t>Subtract dates to calculate duration</a:t>
            </a:r>
            <a:endParaRPr>
              <a:solidFill>
                <a:schemeClr val="dk1"/>
              </a:solidFill>
              <a:latin typeface="DM Sans"/>
              <a:ea typeface="DM Sans"/>
              <a:cs typeface="DM Sans"/>
              <a:sym typeface="DM Sans"/>
            </a:endParaRPr>
          </a:p>
          <a:p>
            <a:pPr indent="-317500" lvl="0" marL="457200" rtl="0" algn="l">
              <a:lnSpc>
                <a:spcPct val="115000"/>
              </a:lnSpc>
              <a:spcBef>
                <a:spcPts val="1000"/>
              </a:spcBef>
              <a:spcAft>
                <a:spcPts val="1200"/>
              </a:spcAft>
              <a:buClr>
                <a:schemeClr val="dk1"/>
              </a:buClr>
              <a:buSzPts val="1400"/>
              <a:buChar char="●"/>
            </a:pPr>
            <a:r>
              <a:rPr lang="en">
                <a:solidFill>
                  <a:schemeClr val="dk1"/>
                </a:solidFill>
                <a:latin typeface="DM Sans"/>
                <a:ea typeface="DM Sans"/>
                <a:cs typeface="DM Sans"/>
                <a:sym typeface="DM Sans"/>
              </a:rPr>
              <a:t>Combine with </a:t>
            </a:r>
            <a:r>
              <a:rPr b="1" lang="en">
                <a:solidFill>
                  <a:schemeClr val="dk1"/>
                </a:solidFill>
                <a:latin typeface="DM Sans"/>
                <a:ea typeface="DM Sans"/>
                <a:cs typeface="DM Sans"/>
                <a:sym typeface="DM Sans"/>
              </a:rPr>
              <a:t>IF()</a:t>
            </a:r>
            <a:r>
              <a:rPr lang="en">
                <a:solidFill>
                  <a:schemeClr val="dk1"/>
                </a:solidFill>
                <a:latin typeface="DM Sans"/>
                <a:ea typeface="DM Sans"/>
                <a:cs typeface="DM Sans"/>
                <a:sym typeface="DM Sans"/>
              </a:rPr>
              <a:t> for real-world insights</a:t>
            </a:r>
            <a:endParaRPr>
              <a:solidFill>
                <a:schemeClr val="dk1"/>
              </a:solidFill>
              <a:latin typeface="DM Sans"/>
              <a:ea typeface="DM Sans"/>
              <a:cs typeface="DM Sans"/>
              <a:sym typeface="DM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7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en" sz="2500">
                <a:latin typeface="DM Sans"/>
                <a:ea typeface="DM Sans"/>
                <a:cs typeface="DM Sans"/>
                <a:sym typeface="DM Sans"/>
              </a:rPr>
              <a:t>SESSION SUMMARY </a:t>
            </a:r>
            <a:endParaRPr sz="2500">
              <a:latin typeface="DM Sans"/>
              <a:ea typeface="DM Sans"/>
              <a:cs typeface="DM Sans"/>
              <a:sym typeface="DM Sans"/>
            </a:endParaRPr>
          </a:p>
        </p:txBody>
      </p:sp>
      <p:sp>
        <p:nvSpPr>
          <p:cNvPr id="519" name="Google Shape;519;p76"/>
          <p:cNvSpPr txBox="1"/>
          <p:nvPr>
            <p:ph idx="1" type="body"/>
          </p:nvPr>
        </p:nvSpPr>
        <p:spPr>
          <a:xfrm>
            <a:off x="311700" y="1152475"/>
            <a:ext cx="54681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300">
                <a:solidFill>
                  <a:schemeClr val="dk1"/>
                </a:solidFill>
                <a:latin typeface="DM Sans"/>
                <a:ea typeface="DM Sans"/>
                <a:cs typeface="DM Sans"/>
                <a:sym typeface="DM Sans"/>
              </a:rPr>
              <a:t>In this session, we explored how Excel functions help us transform raw data into meaningful insights.</a:t>
            </a:r>
            <a:endParaRPr sz="13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b="1" lang="en" sz="1300">
                <a:solidFill>
                  <a:schemeClr val="dk1"/>
                </a:solidFill>
                <a:latin typeface="DM Sans"/>
                <a:ea typeface="DM Sans"/>
                <a:cs typeface="DM Sans"/>
                <a:sym typeface="DM Sans"/>
              </a:rPr>
              <a:t>Logical Functions</a:t>
            </a:r>
            <a:endParaRPr b="1" sz="1300">
              <a:solidFill>
                <a:schemeClr val="dk1"/>
              </a:solidFill>
              <a:latin typeface="DM Sans"/>
              <a:ea typeface="DM Sans"/>
              <a:cs typeface="DM Sans"/>
              <a:sym typeface="DM Sans"/>
            </a:endParaRPr>
          </a:p>
          <a:p>
            <a:pPr indent="-311150" lvl="0" marL="457200" rtl="0" algn="l">
              <a:spcBef>
                <a:spcPts val="12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IF, AND, OR for decision-making</a:t>
            </a:r>
            <a:endParaRPr sz="1300">
              <a:solidFill>
                <a:schemeClr val="dk1"/>
              </a:solidFill>
              <a:latin typeface="DM Sans"/>
              <a:ea typeface="DM Sans"/>
              <a:cs typeface="DM Sans"/>
              <a:sym typeface="DM Sans"/>
            </a:endParaRPr>
          </a:p>
          <a:p>
            <a:pPr indent="-311150" lvl="0" marL="457200" rtl="0" algn="l">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Nested functions for complex conditions</a:t>
            </a:r>
            <a:endParaRPr sz="13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lang="en" sz="1300">
                <a:solidFill>
                  <a:schemeClr val="dk1"/>
                </a:solidFill>
                <a:latin typeface="DM Sans"/>
                <a:ea typeface="DM Sans"/>
                <a:cs typeface="DM Sans"/>
                <a:sym typeface="DM Sans"/>
              </a:rPr>
              <a:t>T</a:t>
            </a:r>
            <a:r>
              <a:rPr b="1" lang="en" sz="1300">
                <a:solidFill>
                  <a:schemeClr val="dk1"/>
                </a:solidFill>
                <a:latin typeface="DM Sans"/>
                <a:ea typeface="DM Sans"/>
                <a:cs typeface="DM Sans"/>
                <a:sym typeface="DM Sans"/>
              </a:rPr>
              <a:t>ext Functions</a:t>
            </a:r>
            <a:endParaRPr b="1" sz="1300">
              <a:solidFill>
                <a:schemeClr val="dk1"/>
              </a:solidFill>
              <a:latin typeface="DM Sans"/>
              <a:ea typeface="DM Sans"/>
              <a:cs typeface="DM Sans"/>
              <a:sym typeface="DM Sans"/>
            </a:endParaRPr>
          </a:p>
          <a:p>
            <a:pPr indent="-311150" lvl="0" marL="457200" rtl="0" algn="l">
              <a:spcBef>
                <a:spcPts val="12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CONCAT, LEFT, RIGHT, MID, LEN, TRIM</a:t>
            </a:r>
            <a:endParaRPr sz="1300">
              <a:solidFill>
                <a:schemeClr val="dk1"/>
              </a:solidFill>
              <a:latin typeface="DM Sans"/>
              <a:ea typeface="DM Sans"/>
              <a:cs typeface="DM Sans"/>
              <a:sym typeface="DM Sans"/>
            </a:endParaRPr>
          </a:p>
          <a:p>
            <a:pPr indent="-311150" lvl="0" marL="457200" rtl="0" algn="l">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Cleaning and transforming textual data</a:t>
            </a:r>
            <a:endParaRPr sz="1300">
              <a:solidFill>
                <a:schemeClr val="dk1"/>
              </a:solidFill>
              <a:latin typeface="DM Sans"/>
              <a:ea typeface="DM Sans"/>
              <a:cs typeface="DM Sans"/>
              <a:sym typeface="DM Sans"/>
            </a:endParaRPr>
          </a:p>
          <a:p>
            <a:pPr indent="0" lvl="0" marL="0" rtl="0" algn="l">
              <a:spcBef>
                <a:spcPts val="1200"/>
              </a:spcBef>
              <a:spcAft>
                <a:spcPts val="0"/>
              </a:spcAft>
              <a:buClr>
                <a:schemeClr val="dk1"/>
              </a:buClr>
              <a:buSzPts val="1100"/>
              <a:buFont typeface="Arial"/>
              <a:buNone/>
            </a:pPr>
            <a:r>
              <a:rPr b="1" lang="en" sz="1300">
                <a:solidFill>
                  <a:schemeClr val="dk1"/>
                </a:solidFill>
                <a:latin typeface="DM Sans"/>
                <a:ea typeface="DM Sans"/>
                <a:cs typeface="DM Sans"/>
                <a:sym typeface="DM Sans"/>
              </a:rPr>
              <a:t>Date &amp; Time Functions</a:t>
            </a:r>
            <a:endParaRPr b="1" sz="1300">
              <a:solidFill>
                <a:schemeClr val="dk1"/>
              </a:solidFill>
              <a:latin typeface="DM Sans"/>
              <a:ea typeface="DM Sans"/>
              <a:cs typeface="DM Sans"/>
              <a:sym typeface="DM Sans"/>
            </a:endParaRPr>
          </a:p>
          <a:p>
            <a:pPr indent="-311150" lvl="0" marL="457200" rtl="0" algn="l">
              <a:spcBef>
                <a:spcPts val="12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TODAY(), NOW(), DATE(), DATEDIF()</a:t>
            </a:r>
            <a:endParaRPr sz="1300">
              <a:solidFill>
                <a:schemeClr val="dk1"/>
              </a:solidFill>
              <a:latin typeface="DM Sans"/>
              <a:ea typeface="DM Sans"/>
              <a:cs typeface="DM Sans"/>
              <a:sym typeface="DM Sans"/>
            </a:endParaRPr>
          </a:p>
          <a:p>
            <a:pPr indent="-311150" lvl="0" marL="457200" rtl="0" algn="l">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Managing and analyzing time-based data</a:t>
            </a:r>
            <a:endParaRPr sz="2000">
              <a:latin typeface="DM Sans"/>
              <a:ea typeface="DM Sans"/>
              <a:cs typeface="DM Sans"/>
              <a:sym typeface="DM Sans"/>
            </a:endParaRPr>
          </a:p>
        </p:txBody>
      </p:sp>
      <p:sp>
        <p:nvSpPr>
          <p:cNvPr id="520" name="Google Shape;520;p76"/>
          <p:cNvSpPr txBox="1"/>
          <p:nvPr/>
        </p:nvSpPr>
        <p:spPr>
          <a:xfrm>
            <a:off x="5779800" y="1152475"/>
            <a:ext cx="2942400" cy="355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300">
                <a:solidFill>
                  <a:schemeClr val="dk1"/>
                </a:solidFill>
                <a:latin typeface="DM Sans"/>
                <a:ea typeface="DM Sans"/>
                <a:cs typeface="DM Sans"/>
                <a:sym typeface="DM Sans"/>
              </a:rPr>
              <a:t>Key Takeaways:</a:t>
            </a:r>
            <a:endParaRPr b="1" sz="1300">
              <a:solidFill>
                <a:schemeClr val="dk1"/>
              </a:solidFill>
              <a:latin typeface="DM Sans"/>
              <a:ea typeface="DM Sans"/>
              <a:cs typeface="DM Sans"/>
              <a:sym typeface="DM Sans"/>
            </a:endParaRPr>
          </a:p>
          <a:p>
            <a:pPr indent="-311150" lvl="0" marL="457200" rtl="0" algn="l">
              <a:lnSpc>
                <a:spcPct val="115000"/>
              </a:lnSpc>
              <a:spcBef>
                <a:spcPts val="12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Automate calculations using functions</a:t>
            </a:r>
            <a:endParaRPr sz="1300">
              <a:solidFill>
                <a:schemeClr val="dk1"/>
              </a:solidFill>
              <a:latin typeface="DM Sans"/>
              <a:ea typeface="DM Sans"/>
              <a:cs typeface="DM Sans"/>
              <a:sym typeface="DM Sans"/>
            </a:endParaRPr>
          </a:p>
          <a:p>
            <a:pPr indent="-311150" lvl="0" marL="457200" rtl="0" algn="l">
              <a:lnSpc>
                <a:spcPct val="115000"/>
              </a:lnSpc>
              <a:spcBef>
                <a:spcPts val="12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Build smarter and dynamic formulas</a:t>
            </a:r>
            <a:endParaRPr sz="1300">
              <a:solidFill>
                <a:schemeClr val="dk1"/>
              </a:solidFill>
              <a:latin typeface="DM Sans"/>
              <a:ea typeface="DM Sans"/>
              <a:cs typeface="DM Sans"/>
              <a:sym typeface="DM Sans"/>
            </a:endParaRPr>
          </a:p>
          <a:p>
            <a:pPr indent="-311150" lvl="0" marL="457200" rtl="0" algn="l">
              <a:lnSpc>
                <a:spcPct val="115000"/>
              </a:lnSpc>
              <a:spcBef>
                <a:spcPts val="10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Clean, transform, and analyze data efficiently</a:t>
            </a:r>
            <a:endParaRPr sz="1300">
              <a:solidFill>
                <a:schemeClr val="dk1"/>
              </a:solidFill>
              <a:latin typeface="DM Sans"/>
              <a:ea typeface="DM Sans"/>
              <a:cs typeface="DM Sans"/>
              <a:sym typeface="DM Sans"/>
            </a:endParaRPr>
          </a:p>
          <a:p>
            <a:pPr indent="-311150" lvl="0" marL="457200" rtl="0" algn="l">
              <a:lnSpc>
                <a:spcPct val="115000"/>
              </a:lnSpc>
              <a:spcBef>
                <a:spcPts val="10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Apply functions in real-world scenarios</a:t>
            </a:r>
            <a:endParaRPr sz="13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t/>
            </a:r>
            <a:endParaRPr sz="1300">
              <a:solidFill>
                <a:schemeClr val="dk1"/>
              </a:solidFill>
              <a:latin typeface="DM Sans"/>
              <a:ea typeface="DM Sans"/>
              <a:cs typeface="DM Sans"/>
              <a:sym typeface="DM Sans"/>
            </a:endParaRPr>
          </a:p>
          <a:p>
            <a:pPr indent="0" lvl="0" marL="0" rtl="0" algn="l">
              <a:lnSpc>
                <a:spcPct val="115000"/>
              </a:lnSpc>
              <a:spcBef>
                <a:spcPts val="1200"/>
              </a:spcBef>
              <a:spcAft>
                <a:spcPts val="1200"/>
              </a:spcAft>
              <a:buNone/>
            </a:pPr>
            <a:r>
              <a:t/>
            </a:r>
            <a:endParaRPr sz="1300">
              <a:latin typeface="DM Sans"/>
              <a:ea typeface="DM Sans"/>
              <a:cs typeface="DM Sans"/>
              <a:sym typeface="DM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77"/>
          <p:cNvSpPr txBox="1"/>
          <p:nvPr>
            <p:ph type="title"/>
          </p:nvPr>
        </p:nvSpPr>
        <p:spPr>
          <a:xfrm>
            <a:off x="311700" y="739375"/>
            <a:ext cx="8520600" cy="2357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a:latin typeface="DM Sans"/>
                <a:ea typeface="DM Sans"/>
                <a:cs typeface="DM Sans"/>
                <a:sym typeface="DM Sans"/>
              </a:rPr>
              <a:t>Thank You for Attending the Session</a:t>
            </a:r>
            <a:endParaRPr b="1">
              <a:latin typeface="DM Sans"/>
              <a:ea typeface="DM Sans"/>
              <a:cs typeface="DM Sans"/>
              <a:sym typeface="DM Sans"/>
            </a:endParaRPr>
          </a:p>
          <a:p>
            <a:pPr indent="0" lvl="0" marL="0" rtl="0" algn="ctr">
              <a:spcBef>
                <a:spcPts val="0"/>
              </a:spcBef>
              <a:spcAft>
                <a:spcPts val="0"/>
              </a:spcAft>
              <a:buNone/>
            </a:pPr>
            <a:r>
              <a:t/>
            </a:r>
            <a:endParaRPr b="1">
              <a:latin typeface="DM Sans"/>
              <a:ea typeface="DM Sans"/>
              <a:cs typeface="DM Sans"/>
              <a:sym typeface="DM Sans"/>
            </a:endParaRPr>
          </a:p>
          <a:p>
            <a:pPr indent="0" lvl="0" marL="457200" rtl="0" algn="l">
              <a:lnSpc>
                <a:spcPct val="115000"/>
              </a:lnSpc>
              <a:spcBef>
                <a:spcPts val="1200"/>
              </a:spcBef>
              <a:spcAft>
                <a:spcPts val="0"/>
              </a:spcAft>
              <a:buNone/>
            </a:pPr>
            <a:r>
              <a:rPr i="1" lang="en" sz="1761">
                <a:solidFill>
                  <a:srgbClr val="666666"/>
                </a:solidFill>
                <a:latin typeface="DM Sans"/>
                <a:ea typeface="DM Sans"/>
                <a:cs typeface="DM Sans"/>
                <a:sym typeface="DM Sans"/>
              </a:rPr>
              <a:t>“</a:t>
            </a:r>
            <a:r>
              <a:rPr i="1" lang="en" sz="1544">
                <a:solidFill>
                  <a:srgbClr val="666666"/>
                </a:solidFill>
                <a:latin typeface="DM Sans"/>
                <a:ea typeface="DM Sans"/>
                <a:cs typeface="DM Sans"/>
                <a:sym typeface="DM Sans"/>
              </a:rPr>
              <a:t>Mastering Excel functions is the first step toward becoming a great Data Analyst!</a:t>
            </a:r>
            <a:r>
              <a:rPr i="1" lang="en" sz="1761">
                <a:solidFill>
                  <a:srgbClr val="666666"/>
                </a:solidFill>
                <a:latin typeface="DM Sans"/>
                <a:ea typeface="DM Sans"/>
                <a:cs typeface="DM Sans"/>
                <a:sym typeface="DM Sans"/>
              </a:rPr>
              <a:t>”</a:t>
            </a:r>
            <a:br>
              <a:rPr i="1" lang="en" sz="1317">
                <a:solidFill>
                  <a:schemeClr val="dk2"/>
                </a:solidFill>
                <a:latin typeface="DM Sans"/>
                <a:ea typeface="DM Sans"/>
                <a:cs typeface="DM Sans"/>
                <a:sym typeface="DM Sans"/>
              </a:rPr>
            </a:br>
            <a:endParaRPr i="1" sz="1317">
              <a:solidFill>
                <a:schemeClr val="dk2"/>
              </a:solidFill>
              <a:latin typeface="DM Sans"/>
              <a:ea typeface="DM Sans"/>
              <a:cs typeface="DM Sans"/>
              <a:sym typeface="DM Sans"/>
            </a:endParaRPr>
          </a:p>
          <a:p>
            <a:pPr indent="0" lvl="0" marL="0" rtl="0" algn="ctr">
              <a:spcBef>
                <a:spcPts val="1200"/>
              </a:spcBef>
              <a:spcAft>
                <a:spcPts val="0"/>
              </a:spcAft>
              <a:buNone/>
            </a:pPr>
            <a:r>
              <a:t/>
            </a:r>
            <a:endParaRPr b="1">
              <a:latin typeface="DM Sans"/>
              <a:ea typeface="DM Sans"/>
              <a:cs typeface="DM Sans"/>
              <a:sym typeface="DM Sans"/>
            </a:endParaRPr>
          </a:p>
        </p:txBody>
      </p:sp>
      <p:sp>
        <p:nvSpPr>
          <p:cNvPr id="526" name="Google Shape;526;p77"/>
          <p:cNvSpPr txBox="1"/>
          <p:nvPr/>
        </p:nvSpPr>
        <p:spPr>
          <a:xfrm>
            <a:off x="4620400" y="3215225"/>
            <a:ext cx="3893100" cy="461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1200"/>
              </a:spcAft>
              <a:buNone/>
            </a:pPr>
            <a:r>
              <a:rPr b="1" lang="en" sz="1800">
                <a:solidFill>
                  <a:srgbClr val="980000"/>
                </a:solidFill>
              </a:rPr>
              <a:t>Keep Learning, Keep Upskilling!</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32" name="Google Shape;532;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